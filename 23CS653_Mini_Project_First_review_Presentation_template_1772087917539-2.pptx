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5"/>
  </p:notesMasterIdLst>
  <p:sldIdLst>
    <p:sldId id="256" r:id="rId2"/>
    <p:sldId id="260" r:id="rId3"/>
    <p:sldId id="257" r:id="rId4"/>
    <p:sldId id="258" r:id="rId5"/>
    <p:sldId id="259" r:id="rId6"/>
    <p:sldId id="261" r:id="rId7"/>
    <p:sldId id="262" r:id="rId8"/>
    <p:sldId id="273" r:id="rId9"/>
    <p:sldId id="274" r:id="rId10"/>
    <p:sldId id="275" r:id="rId11"/>
    <p:sldId id="276" r:id="rId12"/>
    <p:sldId id="277" r:id="rId13"/>
    <p:sldId id="278" r:id="rId14"/>
    <p:sldId id="279" r:id="rId15"/>
    <p:sldId id="280" r:id="rId16"/>
    <p:sldId id="281" r:id="rId17"/>
    <p:sldId id="282" r:id="rId18"/>
    <p:sldId id="285" r:id="rId19"/>
    <p:sldId id="284" r:id="rId20"/>
    <p:sldId id="283" r:id="rId21"/>
    <p:sldId id="286" r:id="rId22"/>
    <p:sldId id="289" r:id="rId23"/>
    <p:sldId id="290" r:id="rId24"/>
    <p:sldId id="291" r:id="rId25"/>
    <p:sldId id="292" r:id="rId26"/>
    <p:sldId id="263" r:id="rId27"/>
    <p:sldId id="287" r:id="rId28"/>
    <p:sldId id="288" r:id="rId29"/>
    <p:sldId id="264" r:id="rId30"/>
    <p:sldId id="272" r:id="rId31"/>
    <p:sldId id="271" r:id="rId32"/>
    <p:sldId id="269" r:id="rId33"/>
    <p:sldId id="270" r:id="rId34"/>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12" roundtripDataSignature="AMtx7mhhhuhGjdxSZihv3VWfUV2Jn9QCR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437" autoAdjust="0"/>
    <p:restoredTop sz="94694"/>
  </p:normalViewPr>
  <p:slideViewPr>
    <p:cSldViewPr snapToGrid="0">
      <p:cViewPr varScale="1">
        <p:scale>
          <a:sx n="65" d="100"/>
          <a:sy n="65" d="100"/>
        </p:scale>
        <p:origin x="48" y="41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112"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11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11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14"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11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2pPr>
            <a:lvl3pPr marR="0" lvl="2"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3pPr>
            <a:lvl4pPr marR="0" lvl="3"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4pPr>
            <a:lvl5pPr marR="0" lvl="4"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5pPr>
            <a:lvl6pPr marR="0" lvl="5"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6pPr>
            <a:lvl7pPr marR="0" lvl="6"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7pPr>
            <a:lvl8pPr marR="0" lvl="7"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8pPr>
            <a:lvl9pPr marR="0" lvl="8"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2pPr>
            <a:lvl3pPr marR="0" lvl="2"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3pPr>
            <a:lvl4pPr marR="0" lvl="3"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4pPr>
            <a:lvl5pPr marR="0" lvl="4"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5pPr>
            <a:lvl6pPr marR="0" lvl="5"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6pPr>
            <a:lvl7pPr marR="0" lvl="6"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7pPr>
            <a:lvl8pPr marR="0" lvl="7"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8pPr>
            <a:lvl9pPr marR="0" lvl="8"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2pPr>
            <a:lvl3pPr marR="0" lvl="2"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3pPr>
            <a:lvl4pPr marR="0" lvl="3"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4pPr>
            <a:lvl5pPr marR="0" lvl="4"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5pPr>
            <a:lvl6pPr marR="0" lvl="5"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6pPr>
            <a:lvl7pPr marR="0" lvl="6"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7pPr>
            <a:lvl8pPr marR="0" lvl="7"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8pPr>
            <a:lvl9pPr marR="0" lvl="8"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marR="0" lvl="0" indent="0" algn="r" rtl="0">
                <a:lnSpc>
                  <a:spcPct val="100000"/>
                </a:lnSpc>
                <a:spcBef>
                  <a:spcPts val="0"/>
                </a:spcBef>
                <a:spcAft>
                  <a:spcPts val="0"/>
                </a:spcAft>
                <a:buClr>
                  <a:srgbClr val="000000"/>
                </a:buClr>
                <a:buSzPts val="1200"/>
                <a:buFont typeface="Arial"/>
                <a:buNone/>
              </a:pPr>
              <a:t>‹#›</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538676225"/>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IN"/>
          </a:p>
        </p:txBody>
      </p:sp>
      <p:sp>
        <p:nvSpPr>
          <p:cNvPr id="85" name="Google Shape;8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 name="Google Shape;86;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1</a:t>
            </a:fld>
            <a:endParaRPr sz="1200" b="0" i="0" u="none" strike="noStrike" cap="none">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1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IN"/>
          </a:p>
        </p:txBody>
      </p:sp>
      <p:sp>
        <p:nvSpPr>
          <p:cNvPr id="146" name="Google Shape;146;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7" name="Google Shape;147;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2</a:t>
            </a:fld>
            <a:endParaRPr sz="1200" b="0" i="0" u="none" strike="noStrike" cap="none">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13e7f44d304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IN"/>
          </a:p>
        </p:txBody>
      </p:sp>
      <p:sp>
        <p:nvSpPr>
          <p:cNvPr id="101" name="Google Shape;101;g13e7f44d304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g13e7f44d304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3</a:t>
            </a:fld>
            <a:endParaRPr sz="1200" b="0" i="0" u="none" strike="noStrike" cap="none">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IN"/>
          </a:p>
        </p:txBody>
      </p:sp>
      <p:sp>
        <p:nvSpPr>
          <p:cNvPr id="116" name="Google Shape;116;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7" name="Google Shape;117;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4</a:t>
            </a:fld>
            <a:endParaRPr sz="1200" b="0" i="0" u="none" strike="noStrike" cap="none">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IN"/>
          </a:p>
        </p:txBody>
      </p:sp>
      <p:sp>
        <p:nvSpPr>
          <p:cNvPr id="131" name="Google Shape;131;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5</a:t>
            </a:fld>
            <a:endParaRPr sz="1200" b="0" i="0" u="none" strike="noStrike" cap="none">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IN"/>
          </a:p>
        </p:txBody>
      </p:sp>
      <p:sp>
        <p:nvSpPr>
          <p:cNvPr id="131" name="Google Shape;131;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6</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7507466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IN"/>
          </a:p>
        </p:txBody>
      </p:sp>
      <p:sp>
        <p:nvSpPr>
          <p:cNvPr id="131" name="Google Shape;131;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7</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6791234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3629AE49-52E7-3194-4012-FBEBE54B5DEA}"/>
            </a:ext>
          </a:extLst>
        </p:cNvPr>
        <p:cNvGrpSpPr/>
        <p:nvPr/>
      </p:nvGrpSpPr>
      <p:grpSpPr>
        <a:xfrm>
          <a:off x="0" y="0"/>
          <a:ext cx="0" cy="0"/>
          <a:chOff x="0" y="0"/>
          <a:chExt cx="0" cy="0"/>
        </a:xfrm>
      </p:grpSpPr>
      <p:sp>
        <p:nvSpPr>
          <p:cNvPr id="130" name="Google Shape;130;p2:notes">
            <a:extLst>
              <a:ext uri="{FF2B5EF4-FFF2-40B4-BE49-F238E27FC236}">
                <a16:creationId xmlns:a16="http://schemas.microsoft.com/office/drawing/2014/main" id="{E05381B9-46FB-98C5-123C-8F918376AC7A}"/>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IN"/>
          </a:p>
        </p:txBody>
      </p:sp>
      <p:sp>
        <p:nvSpPr>
          <p:cNvPr id="131" name="Google Shape;131;p2:notes">
            <a:extLst>
              <a:ext uri="{FF2B5EF4-FFF2-40B4-BE49-F238E27FC236}">
                <a16:creationId xmlns:a16="http://schemas.microsoft.com/office/drawing/2014/main" id="{91189FC5-153E-7F1F-9386-FA9C02D7DB3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a:extLst>
              <a:ext uri="{FF2B5EF4-FFF2-40B4-BE49-F238E27FC236}">
                <a16:creationId xmlns:a16="http://schemas.microsoft.com/office/drawing/2014/main" id="{5771B75C-A29F-7E5A-F506-511208EEE75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8</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094138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FCA8C009-CEF0-CDCB-F6B1-F95D7D7B8407}"/>
            </a:ext>
          </a:extLst>
        </p:cNvPr>
        <p:cNvGrpSpPr/>
        <p:nvPr/>
      </p:nvGrpSpPr>
      <p:grpSpPr>
        <a:xfrm>
          <a:off x="0" y="0"/>
          <a:ext cx="0" cy="0"/>
          <a:chOff x="0" y="0"/>
          <a:chExt cx="0" cy="0"/>
        </a:xfrm>
      </p:grpSpPr>
      <p:sp>
        <p:nvSpPr>
          <p:cNvPr id="130" name="Google Shape;130;p2:notes">
            <a:extLst>
              <a:ext uri="{FF2B5EF4-FFF2-40B4-BE49-F238E27FC236}">
                <a16:creationId xmlns:a16="http://schemas.microsoft.com/office/drawing/2014/main" id="{D9FABE42-FF67-2806-9675-F45E3B8AA73B}"/>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IN"/>
          </a:p>
        </p:txBody>
      </p:sp>
      <p:sp>
        <p:nvSpPr>
          <p:cNvPr id="131" name="Google Shape;131;p2:notes">
            <a:extLst>
              <a:ext uri="{FF2B5EF4-FFF2-40B4-BE49-F238E27FC236}">
                <a16:creationId xmlns:a16="http://schemas.microsoft.com/office/drawing/2014/main" id="{2BD0BF45-B4BB-A6DF-C60A-E3F7B3F3CB3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a:extLst>
              <a:ext uri="{FF2B5EF4-FFF2-40B4-BE49-F238E27FC236}">
                <a16:creationId xmlns:a16="http://schemas.microsoft.com/office/drawing/2014/main" id="{F738F0AA-3780-05CF-BECF-AED91B161106}"/>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9</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9484876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60B5B350-8F64-BBAC-49B5-9A15EFF2166D}"/>
            </a:ext>
          </a:extLst>
        </p:cNvPr>
        <p:cNvGrpSpPr/>
        <p:nvPr/>
      </p:nvGrpSpPr>
      <p:grpSpPr>
        <a:xfrm>
          <a:off x="0" y="0"/>
          <a:ext cx="0" cy="0"/>
          <a:chOff x="0" y="0"/>
          <a:chExt cx="0" cy="0"/>
        </a:xfrm>
      </p:grpSpPr>
      <p:sp>
        <p:nvSpPr>
          <p:cNvPr id="130" name="Google Shape;130;p2:notes">
            <a:extLst>
              <a:ext uri="{FF2B5EF4-FFF2-40B4-BE49-F238E27FC236}">
                <a16:creationId xmlns:a16="http://schemas.microsoft.com/office/drawing/2014/main" id="{E84C10C7-0250-F93C-14BB-8CD723AAA2D2}"/>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IN"/>
          </a:p>
        </p:txBody>
      </p:sp>
      <p:sp>
        <p:nvSpPr>
          <p:cNvPr id="131" name="Google Shape;131;p2:notes">
            <a:extLst>
              <a:ext uri="{FF2B5EF4-FFF2-40B4-BE49-F238E27FC236}">
                <a16:creationId xmlns:a16="http://schemas.microsoft.com/office/drawing/2014/main" id="{638C582F-4DFA-7099-C8CE-ECA636D6503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a:extLst>
              <a:ext uri="{FF2B5EF4-FFF2-40B4-BE49-F238E27FC236}">
                <a16:creationId xmlns:a16="http://schemas.microsoft.com/office/drawing/2014/main" id="{5DF77EE0-3DF4-1753-8BBD-ABF014031C40}"/>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10</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6780928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F7C32F04-7B9C-758E-1BF8-3B67736A343E}"/>
            </a:ext>
          </a:extLst>
        </p:cNvPr>
        <p:cNvGrpSpPr/>
        <p:nvPr/>
      </p:nvGrpSpPr>
      <p:grpSpPr>
        <a:xfrm>
          <a:off x="0" y="0"/>
          <a:ext cx="0" cy="0"/>
          <a:chOff x="0" y="0"/>
          <a:chExt cx="0" cy="0"/>
        </a:xfrm>
      </p:grpSpPr>
      <p:sp>
        <p:nvSpPr>
          <p:cNvPr id="130" name="Google Shape;130;p2:notes">
            <a:extLst>
              <a:ext uri="{FF2B5EF4-FFF2-40B4-BE49-F238E27FC236}">
                <a16:creationId xmlns:a16="http://schemas.microsoft.com/office/drawing/2014/main" id="{2B16FBC5-D245-E4CF-31E6-B11224818465}"/>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IN"/>
          </a:p>
        </p:txBody>
      </p:sp>
      <p:sp>
        <p:nvSpPr>
          <p:cNvPr id="131" name="Google Shape;131;p2:notes">
            <a:extLst>
              <a:ext uri="{FF2B5EF4-FFF2-40B4-BE49-F238E27FC236}">
                <a16:creationId xmlns:a16="http://schemas.microsoft.com/office/drawing/2014/main" id="{F359F14D-33E3-4C9A-05C6-8FE5FB39EF9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a:extLst>
              <a:ext uri="{FF2B5EF4-FFF2-40B4-BE49-F238E27FC236}">
                <a16:creationId xmlns:a16="http://schemas.microsoft.com/office/drawing/2014/main" id="{A469824B-8877-AAA3-3997-6A3EEB61C535}"/>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11</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6524753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3EEC6360-E02F-CE3D-92D1-1CA1B60BFA0B}"/>
            </a:ext>
          </a:extLst>
        </p:cNvPr>
        <p:cNvGrpSpPr/>
        <p:nvPr/>
      </p:nvGrpSpPr>
      <p:grpSpPr>
        <a:xfrm>
          <a:off x="0" y="0"/>
          <a:ext cx="0" cy="0"/>
          <a:chOff x="0" y="0"/>
          <a:chExt cx="0" cy="0"/>
        </a:xfrm>
      </p:grpSpPr>
      <p:sp>
        <p:nvSpPr>
          <p:cNvPr id="130" name="Google Shape;130;p2:notes">
            <a:extLst>
              <a:ext uri="{FF2B5EF4-FFF2-40B4-BE49-F238E27FC236}">
                <a16:creationId xmlns:a16="http://schemas.microsoft.com/office/drawing/2014/main" id="{2EE9BCFC-7335-C1A4-02C7-46B5709A16BF}"/>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IN"/>
          </a:p>
        </p:txBody>
      </p:sp>
      <p:sp>
        <p:nvSpPr>
          <p:cNvPr id="131" name="Google Shape;131;p2:notes">
            <a:extLst>
              <a:ext uri="{FF2B5EF4-FFF2-40B4-BE49-F238E27FC236}">
                <a16:creationId xmlns:a16="http://schemas.microsoft.com/office/drawing/2014/main" id="{778F8CC0-6AC2-E3E8-E882-640D81F6AE1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a:extLst>
              <a:ext uri="{FF2B5EF4-FFF2-40B4-BE49-F238E27FC236}">
                <a16:creationId xmlns:a16="http://schemas.microsoft.com/office/drawing/2014/main" id="{8A5B698B-AAC0-2311-26A0-2C922F1EF6E4}"/>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12</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5505010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2CCFE7F6-BD46-1483-5268-C86076033AA3}"/>
            </a:ext>
          </a:extLst>
        </p:cNvPr>
        <p:cNvGrpSpPr/>
        <p:nvPr/>
      </p:nvGrpSpPr>
      <p:grpSpPr>
        <a:xfrm>
          <a:off x="0" y="0"/>
          <a:ext cx="0" cy="0"/>
          <a:chOff x="0" y="0"/>
          <a:chExt cx="0" cy="0"/>
        </a:xfrm>
      </p:grpSpPr>
      <p:sp>
        <p:nvSpPr>
          <p:cNvPr id="130" name="Google Shape;130;p2:notes">
            <a:extLst>
              <a:ext uri="{FF2B5EF4-FFF2-40B4-BE49-F238E27FC236}">
                <a16:creationId xmlns:a16="http://schemas.microsoft.com/office/drawing/2014/main" id="{84EB1DBD-AD94-E800-9DE2-8339C48BA1AC}"/>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IN"/>
          </a:p>
        </p:txBody>
      </p:sp>
      <p:sp>
        <p:nvSpPr>
          <p:cNvPr id="131" name="Google Shape;131;p2:notes">
            <a:extLst>
              <a:ext uri="{FF2B5EF4-FFF2-40B4-BE49-F238E27FC236}">
                <a16:creationId xmlns:a16="http://schemas.microsoft.com/office/drawing/2014/main" id="{95AE88B2-F59D-8122-9B3B-C91DFC49F48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a:extLst>
              <a:ext uri="{FF2B5EF4-FFF2-40B4-BE49-F238E27FC236}">
                <a16:creationId xmlns:a16="http://schemas.microsoft.com/office/drawing/2014/main" id="{2D6CE8A5-6635-1F3C-378A-ABE0532E2EC7}"/>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13</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3310695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BF4EA1D8-9CCA-ABAF-81E2-5325F05A11A3}"/>
            </a:ext>
          </a:extLst>
        </p:cNvPr>
        <p:cNvGrpSpPr/>
        <p:nvPr/>
      </p:nvGrpSpPr>
      <p:grpSpPr>
        <a:xfrm>
          <a:off x="0" y="0"/>
          <a:ext cx="0" cy="0"/>
          <a:chOff x="0" y="0"/>
          <a:chExt cx="0" cy="0"/>
        </a:xfrm>
      </p:grpSpPr>
      <p:sp>
        <p:nvSpPr>
          <p:cNvPr id="130" name="Google Shape;130;p2:notes">
            <a:extLst>
              <a:ext uri="{FF2B5EF4-FFF2-40B4-BE49-F238E27FC236}">
                <a16:creationId xmlns:a16="http://schemas.microsoft.com/office/drawing/2014/main" id="{FE6221C7-2248-F756-5A02-6838A3EAECD0}"/>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IN"/>
          </a:p>
        </p:txBody>
      </p:sp>
      <p:sp>
        <p:nvSpPr>
          <p:cNvPr id="131" name="Google Shape;131;p2:notes">
            <a:extLst>
              <a:ext uri="{FF2B5EF4-FFF2-40B4-BE49-F238E27FC236}">
                <a16:creationId xmlns:a16="http://schemas.microsoft.com/office/drawing/2014/main" id="{F8C9A314-67BF-E351-3B96-EB93A0EB492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a:extLst>
              <a:ext uri="{FF2B5EF4-FFF2-40B4-BE49-F238E27FC236}">
                <a16:creationId xmlns:a16="http://schemas.microsoft.com/office/drawing/2014/main" id="{531C0C6B-5B0B-6AF0-688E-CB715B0E819F}"/>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14</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1668820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FF76EADE-CB05-9534-44C4-32165CD60459}"/>
            </a:ext>
          </a:extLst>
        </p:cNvPr>
        <p:cNvGrpSpPr/>
        <p:nvPr/>
      </p:nvGrpSpPr>
      <p:grpSpPr>
        <a:xfrm>
          <a:off x="0" y="0"/>
          <a:ext cx="0" cy="0"/>
          <a:chOff x="0" y="0"/>
          <a:chExt cx="0" cy="0"/>
        </a:xfrm>
      </p:grpSpPr>
      <p:sp>
        <p:nvSpPr>
          <p:cNvPr id="130" name="Google Shape;130;p2:notes">
            <a:extLst>
              <a:ext uri="{FF2B5EF4-FFF2-40B4-BE49-F238E27FC236}">
                <a16:creationId xmlns:a16="http://schemas.microsoft.com/office/drawing/2014/main" id="{1FEC4151-C88E-627C-1459-8995ABCCA466}"/>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IN"/>
          </a:p>
        </p:txBody>
      </p:sp>
      <p:sp>
        <p:nvSpPr>
          <p:cNvPr id="131" name="Google Shape;131;p2:notes">
            <a:extLst>
              <a:ext uri="{FF2B5EF4-FFF2-40B4-BE49-F238E27FC236}">
                <a16:creationId xmlns:a16="http://schemas.microsoft.com/office/drawing/2014/main" id="{5E92C22E-7961-46F2-011C-74EED7471BD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a:extLst>
              <a:ext uri="{FF2B5EF4-FFF2-40B4-BE49-F238E27FC236}">
                <a16:creationId xmlns:a16="http://schemas.microsoft.com/office/drawing/2014/main" id="{338EEA99-C0FD-29EA-17CB-5DD4C3A7E9B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15</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12015433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237483DF-894E-D48A-8E37-404E5E85EE68}"/>
            </a:ext>
          </a:extLst>
        </p:cNvPr>
        <p:cNvGrpSpPr/>
        <p:nvPr/>
      </p:nvGrpSpPr>
      <p:grpSpPr>
        <a:xfrm>
          <a:off x="0" y="0"/>
          <a:ext cx="0" cy="0"/>
          <a:chOff x="0" y="0"/>
          <a:chExt cx="0" cy="0"/>
        </a:xfrm>
      </p:grpSpPr>
      <p:sp>
        <p:nvSpPr>
          <p:cNvPr id="130" name="Google Shape;130;p2:notes">
            <a:extLst>
              <a:ext uri="{FF2B5EF4-FFF2-40B4-BE49-F238E27FC236}">
                <a16:creationId xmlns:a16="http://schemas.microsoft.com/office/drawing/2014/main" id="{27771130-11A8-6B9D-A992-C3D65838F289}"/>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IN"/>
          </a:p>
        </p:txBody>
      </p:sp>
      <p:sp>
        <p:nvSpPr>
          <p:cNvPr id="131" name="Google Shape;131;p2:notes">
            <a:extLst>
              <a:ext uri="{FF2B5EF4-FFF2-40B4-BE49-F238E27FC236}">
                <a16:creationId xmlns:a16="http://schemas.microsoft.com/office/drawing/2014/main" id="{4548728D-A9B9-3F77-2910-C0DE4AECC6E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a:extLst>
              <a:ext uri="{FF2B5EF4-FFF2-40B4-BE49-F238E27FC236}">
                <a16:creationId xmlns:a16="http://schemas.microsoft.com/office/drawing/2014/main" id="{254F16A8-F9FD-E3F2-75D6-686B5398F3FE}"/>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16</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1667156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FCE30B23-60FB-173C-0325-B1B3428AA15A}"/>
            </a:ext>
          </a:extLst>
        </p:cNvPr>
        <p:cNvGrpSpPr/>
        <p:nvPr/>
      </p:nvGrpSpPr>
      <p:grpSpPr>
        <a:xfrm>
          <a:off x="0" y="0"/>
          <a:ext cx="0" cy="0"/>
          <a:chOff x="0" y="0"/>
          <a:chExt cx="0" cy="0"/>
        </a:xfrm>
      </p:grpSpPr>
      <p:sp>
        <p:nvSpPr>
          <p:cNvPr id="130" name="Google Shape;130;p2:notes">
            <a:extLst>
              <a:ext uri="{FF2B5EF4-FFF2-40B4-BE49-F238E27FC236}">
                <a16:creationId xmlns:a16="http://schemas.microsoft.com/office/drawing/2014/main" id="{A1FEF143-82C8-ECFD-0574-EDA7AC1FE210}"/>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IN"/>
          </a:p>
        </p:txBody>
      </p:sp>
      <p:sp>
        <p:nvSpPr>
          <p:cNvPr id="131" name="Google Shape;131;p2:notes">
            <a:extLst>
              <a:ext uri="{FF2B5EF4-FFF2-40B4-BE49-F238E27FC236}">
                <a16:creationId xmlns:a16="http://schemas.microsoft.com/office/drawing/2014/main" id="{DBA593F9-CCC1-9468-0A9D-100193AC63D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a:extLst>
              <a:ext uri="{FF2B5EF4-FFF2-40B4-BE49-F238E27FC236}">
                <a16:creationId xmlns:a16="http://schemas.microsoft.com/office/drawing/2014/main" id="{C8A89B7C-83C6-AEF7-A255-C829C241C30B}"/>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17</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89216922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76D275BA-1970-3C9D-1FA3-CB5719BAD745}"/>
            </a:ext>
          </a:extLst>
        </p:cNvPr>
        <p:cNvGrpSpPr/>
        <p:nvPr/>
      </p:nvGrpSpPr>
      <p:grpSpPr>
        <a:xfrm>
          <a:off x="0" y="0"/>
          <a:ext cx="0" cy="0"/>
          <a:chOff x="0" y="0"/>
          <a:chExt cx="0" cy="0"/>
        </a:xfrm>
      </p:grpSpPr>
      <p:sp>
        <p:nvSpPr>
          <p:cNvPr id="130" name="Google Shape;130;p2:notes">
            <a:extLst>
              <a:ext uri="{FF2B5EF4-FFF2-40B4-BE49-F238E27FC236}">
                <a16:creationId xmlns:a16="http://schemas.microsoft.com/office/drawing/2014/main" id="{CD1D6630-551D-DB4A-82BC-8F202964A1EA}"/>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IN"/>
          </a:p>
        </p:txBody>
      </p:sp>
      <p:sp>
        <p:nvSpPr>
          <p:cNvPr id="131" name="Google Shape;131;p2:notes">
            <a:extLst>
              <a:ext uri="{FF2B5EF4-FFF2-40B4-BE49-F238E27FC236}">
                <a16:creationId xmlns:a16="http://schemas.microsoft.com/office/drawing/2014/main" id="{574E7434-9B38-BB9A-DB8F-C35A98033FD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a:extLst>
              <a:ext uri="{FF2B5EF4-FFF2-40B4-BE49-F238E27FC236}">
                <a16:creationId xmlns:a16="http://schemas.microsoft.com/office/drawing/2014/main" id="{B0FED230-5725-3F95-7862-F72B2539A939}"/>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18</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35910396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037FD9D8-2FCE-90D1-0B05-9264C3684C40}"/>
            </a:ext>
          </a:extLst>
        </p:cNvPr>
        <p:cNvGrpSpPr/>
        <p:nvPr/>
      </p:nvGrpSpPr>
      <p:grpSpPr>
        <a:xfrm>
          <a:off x="0" y="0"/>
          <a:ext cx="0" cy="0"/>
          <a:chOff x="0" y="0"/>
          <a:chExt cx="0" cy="0"/>
        </a:xfrm>
      </p:grpSpPr>
      <p:sp>
        <p:nvSpPr>
          <p:cNvPr id="130" name="Google Shape;130;p2:notes">
            <a:extLst>
              <a:ext uri="{FF2B5EF4-FFF2-40B4-BE49-F238E27FC236}">
                <a16:creationId xmlns:a16="http://schemas.microsoft.com/office/drawing/2014/main" id="{6199324A-FA6B-6996-E667-8DBD8B6387C4}"/>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IN"/>
          </a:p>
        </p:txBody>
      </p:sp>
      <p:sp>
        <p:nvSpPr>
          <p:cNvPr id="131" name="Google Shape;131;p2:notes">
            <a:extLst>
              <a:ext uri="{FF2B5EF4-FFF2-40B4-BE49-F238E27FC236}">
                <a16:creationId xmlns:a16="http://schemas.microsoft.com/office/drawing/2014/main" id="{589AEC49-D79F-28D6-E427-7BCED12980D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a:extLst>
              <a:ext uri="{FF2B5EF4-FFF2-40B4-BE49-F238E27FC236}">
                <a16:creationId xmlns:a16="http://schemas.microsoft.com/office/drawing/2014/main" id="{0FD8DBB6-6CB6-DBD0-3701-8C1532B321AB}"/>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19</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21942216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8EC0C0DF-22AC-85F1-2E93-B0627B026B42}"/>
            </a:ext>
          </a:extLst>
        </p:cNvPr>
        <p:cNvGrpSpPr/>
        <p:nvPr/>
      </p:nvGrpSpPr>
      <p:grpSpPr>
        <a:xfrm>
          <a:off x="0" y="0"/>
          <a:ext cx="0" cy="0"/>
          <a:chOff x="0" y="0"/>
          <a:chExt cx="0" cy="0"/>
        </a:xfrm>
      </p:grpSpPr>
      <p:sp>
        <p:nvSpPr>
          <p:cNvPr id="130" name="Google Shape;130;p2:notes">
            <a:extLst>
              <a:ext uri="{FF2B5EF4-FFF2-40B4-BE49-F238E27FC236}">
                <a16:creationId xmlns:a16="http://schemas.microsoft.com/office/drawing/2014/main" id="{A279D336-4344-B9F8-14F1-7C0D166F945A}"/>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IN"/>
          </a:p>
        </p:txBody>
      </p:sp>
      <p:sp>
        <p:nvSpPr>
          <p:cNvPr id="131" name="Google Shape;131;p2:notes">
            <a:extLst>
              <a:ext uri="{FF2B5EF4-FFF2-40B4-BE49-F238E27FC236}">
                <a16:creationId xmlns:a16="http://schemas.microsoft.com/office/drawing/2014/main" id="{E588B7C3-C011-43D7-E2E5-4F656158E15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a:extLst>
              <a:ext uri="{FF2B5EF4-FFF2-40B4-BE49-F238E27FC236}">
                <a16:creationId xmlns:a16="http://schemas.microsoft.com/office/drawing/2014/main" id="{B62790EE-6495-B876-BA04-268B0A9E0DC6}"/>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20</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50492944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C9A4AC02-2704-C38F-9718-5C2FCE83E7D9}"/>
            </a:ext>
          </a:extLst>
        </p:cNvPr>
        <p:cNvGrpSpPr/>
        <p:nvPr/>
      </p:nvGrpSpPr>
      <p:grpSpPr>
        <a:xfrm>
          <a:off x="0" y="0"/>
          <a:ext cx="0" cy="0"/>
          <a:chOff x="0" y="0"/>
          <a:chExt cx="0" cy="0"/>
        </a:xfrm>
      </p:grpSpPr>
      <p:sp>
        <p:nvSpPr>
          <p:cNvPr id="130" name="Google Shape;130;p2:notes">
            <a:extLst>
              <a:ext uri="{FF2B5EF4-FFF2-40B4-BE49-F238E27FC236}">
                <a16:creationId xmlns:a16="http://schemas.microsoft.com/office/drawing/2014/main" id="{56A88AC1-A4A9-35A4-BDE9-21147960CAC9}"/>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IN"/>
          </a:p>
        </p:txBody>
      </p:sp>
      <p:sp>
        <p:nvSpPr>
          <p:cNvPr id="131" name="Google Shape;131;p2:notes">
            <a:extLst>
              <a:ext uri="{FF2B5EF4-FFF2-40B4-BE49-F238E27FC236}">
                <a16:creationId xmlns:a16="http://schemas.microsoft.com/office/drawing/2014/main" id="{E191FB8D-2BBB-7497-99D6-C35AF86346E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a:extLst>
              <a:ext uri="{FF2B5EF4-FFF2-40B4-BE49-F238E27FC236}">
                <a16:creationId xmlns:a16="http://schemas.microsoft.com/office/drawing/2014/main" id="{A65C1881-7B9D-9D8A-1650-12D2728B399F}"/>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21</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77060704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F9AA136C-9B93-4BF3-C262-339AFCF12A47}"/>
            </a:ext>
          </a:extLst>
        </p:cNvPr>
        <p:cNvGrpSpPr/>
        <p:nvPr/>
      </p:nvGrpSpPr>
      <p:grpSpPr>
        <a:xfrm>
          <a:off x="0" y="0"/>
          <a:ext cx="0" cy="0"/>
          <a:chOff x="0" y="0"/>
          <a:chExt cx="0" cy="0"/>
        </a:xfrm>
      </p:grpSpPr>
      <p:sp>
        <p:nvSpPr>
          <p:cNvPr id="130" name="Google Shape;130;p2:notes">
            <a:extLst>
              <a:ext uri="{FF2B5EF4-FFF2-40B4-BE49-F238E27FC236}">
                <a16:creationId xmlns:a16="http://schemas.microsoft.com/office/drawing/2014/main" id="{47B60174-3E25-9E1D-D077-A3859ABD0116}"/>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IN"/>
          </a:p>
        </p:txBody>
      </p:sp>
      <p:sp>
        <p:nvSpPr>
          <p:cNvPr id="131" name="Google Shape;131;p2:notes">
            <a:extLst>
              <a:ext uri="{FF2B5EF4-FFF2-40B4-BE49-F238E27FC236}">
                <a16:creationId xmlns:a16="http://schemas.microsoft.com/office/drawing/2014/main" id="{FB6C691B-07CF-7610-96DC-E15EF457321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a:extLst>
              <a:ext uri="{FF2B5EF4-FFF2-40B4-BE49-F238E27FC236}">
                <a16:creationId xmlns:a16="http://schemas.microsoft.com/office/drawing/2014/main" id="{A9CC5BA6-C136-1A82-8A5D-8513BFD9B7F8}"/>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22</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11181078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9FACA9B3-5D44-AA0B-7CE6-6D4B408E92CE}"/>
            </a:ext>
          </a:extLst>
        </p:cNvPr>
        <p:cNvGrpSpPr/>
        <p:nvPr/>
      </p:nvGrpSpPr>
      <p:grpSpPr>
        <a:xfrm>
          <a:off x="0" y="0"/>
          <a:ext cx="0" cy="0"/>
          <a:chOff x="0" y="0"/>
          <a:chExt cx="0" cy="0"/>
        </a:xfrm>
      </p:grpSpPr>
      <p:sp>
        <p:nvSpPr>
          <p:cNvPr id="130" name="Google Shape;130;p2:notes">
            <a:extLst>
              <a:ext uri="{FF2B5EF4-FFF2-40B4-BE49-F238E27FC236}">
                <a16:creationId xmlns:a16="http://schemas.microsoft.com/office/drawing/2014/main" id="{E871BBAF-CE3D-98A7-B1AD-F30F37F9C0BB}"/>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IN"/>
          </a:p>
        </p:txBody>
      </p:sp>
      <p:sp>
        <p:nvSpPr>
          <p:cNvPr id="131" name="Google Shape;131;p2:notes">
            <a:extLst>
              <a:ext uri="{FF2B5EF4-FFF2-40B4-BE49-F238E27FC236}">
                <a16:creationId xmlns:a16="http://schemas.microsoft.com/office/drawing/2014/main" id="{AC359F08-11D6-6E1D-87A4-F33ED33FF91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a:extLst>
              <a:ext uri="{FF2B5EF4-FFF2-40B4-BE49-F238E27FC236}">
                <a16:creationId xmlns:a16="http://schemas.microsoft.com/office/drawing/2014/main" id="{677E4D7D-7E02-C020-DF3A-2E8E544DE7DC}"/>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23</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57498455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AB9035BF-4324-68C5-AD65-A00F7206312F}"/>
            </a:ext>
          </a:extLst>
        </p:cNvPr>
        <p:cNvGrpSpPr/>
        <p:nvPr/>
      </p:nvGrpSpPr>
      <p:grpSpPr>
        <a:xfrm>
          <a:off x="0" y="0"/>
          <a:ext cx="0" cy="0"/>
          <a:chOff x="0" y="0"/>
          <a:chExt cx="0" cy="0"/>
        </a:xfrm>
      </p:grpSpPr>
      <p:sp>
        <p:nvSpPr>
          <p:cNvPr id="130" name="Google Shape;130;p2:notes">
            <a:extLst>
              <a:ext uri="{FF2B5EF4-FFF2-40B4-BE49-F238E27FC236}">
                <a16:creationId xmlns:a16="http://schemas.microsoft.com/office/drawing/2014/main" id="{B5904302-C150-ACFF-0908-212C4ED0D963}"/>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IN"/>
          </a:p>
        </p:txBody>
      </p:sp>
      <p:sp>
        <p:nvSpPr>
          <p:cNvPr id="131" name="Google Shape;131;p2:notes">
            <a:extLst>
              <a:ext uri="{FF2B5EF4-FFF2-40B4-BE49-F238E27FC236}">
                <a16:creationId xmlns:a16="http://schemas.microsoft.com/office/drawing/2014/main" id="{7D62C906-9714-AC09-8730-D99C7DD161F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a:extLst>
              <a:ext uri="{FF2B5EF4-FFF2-40B4-BE49-F238E27FC236}">
                <a16:creationId xmlns:a16="http://schemas.microsoft.com/office/drawing/2014/main" id="{363D485A-D150-F085-0054-F214002E4343}"/>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24</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86600672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DED57D06-2F62-AE70-1C06-3895341A74E7}"/>
            </a:ext>
          </a:extLst>
        </p:cNvPr>
        <p:cNvGrpSpPr/>
        <p:nvPr/>
      </p:nvGrpSpPr>
      <p:grpSpPr>
        <a:xfrm>
          <a:off x="0" y="0"/>
          <a:ext cx="0" cy="0"/>
          <a:chOff x="0" y="0"/>
          <a:chExt cx="0" cy="0"/>
        </a:xfrm>
      </p:grpSpPr>
      <p:sp>
        <p:nvSpPr>
          <p:cNvPr id="130" name="Google Shape;130;p2:notes">
            <a:extLst>
              <a:ext uri="{FF2B5EF4-FFF2-40B4-BE49-F238E27FC236}">
                <a16:creationId xmlns:a16="http://schemas.microsoft.com/office/drawing/2014/main" id="{62B3FCC4-7713-998C-2CDD-F473DCA3B6DE}"/>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IN"/>
          </a:p>
        </p:txBody>
      </p:sp>
      <p:sp>
        <p:nvSpPr>
          <p:cNvPr id="131" name="Google Shape;131;p2:notes">
            <a:extLst>
              <a:ext uri="{FF2B5EF4-FFF2-40B4-BE49-F238E27FC236}">
                <a16:creationId xmlns:a16="http://schemas.microsoft.com/office/drawing/2014/main" id="{AC60AEC6-2E45-0F62-1E01-63ECD1798E7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a:extLst>
              <a:ext uri="{FF2B5EF4-FFF2-40B4-BE49-F238E27FC236}">
                <a16:creationId xmlns:a16="http://schemas.microsoft.com/office/drawing/2014/main" id="{EFD0C051-89C7-A5A0-68DA-B8638F156B49}"/>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25</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68912698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IN"/>
          </a:p>
        </p:txBody>
      </p:sp>
      <p:sp>
        <p:nvSpPr>
          <p:cNvPr id="131" name="Google Shape;131;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26</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55606192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D6B22AEF-C96A-F6C1-AF98-611970689B6D}"/>
            </a:ext>
          </a:extLst>
        </p:cNvPr>
        <p:cNvGrpSpPr/>
        <p:nvPr/>
      </p:nvGrpSpPr>
      <p:grpSpPr>
        <a:xfrm>
          <a:off x="0" y="0"/>
          <a:ext cx="0" cy="0"/>
          <a:chOff x="0" y="0"/>
          <a:chExt cx="0" cy="0"/>
        </a:xfrm>
      </p:grpSpPr>
      <p:sp>
        <p:nvSpPr>
          <p:cNvPr id="130" name="Google Shape;130;p2:notes">
            <a:extLst>
              <a:ext uri="{FF2B5EF4-FFF2-40B4-BE49-F238E27FC236}">
                <a16:creationId xmlns:a16="http://schemas.microsoft.com/office/drawing/2014/main" id="{0DC277FF-7E08-5618-F106-CDECDB62EEDB}"/>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IN"/>
          </a:p>
        </p:txBody>
      </p:sp>
      <p:sp>
        <p:nvSpPr>
          <p:cNvPr id="131" name="Google Shape;131;p2:notes">
            <a:extLst>
              <a:ext uri="{FF2B5EF4-FFF2-40B4-BE49-F238E27FC236}">
                <a16:creationId xmlns:a16="http://schemas.microsoft.com/office/drawing/2014/main" id="{F028DDA5-2F40-B92F-FE7E-837D9D95EFC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a:extLst>
              <a:ext uri="{FF2B5EF4-FFF2-40B4-BE49-F238E27FC236}">
                <a16:creationId xmlns:a16="http://schemas.microsoft.com/office/drawing/2014/main" id="{351855ED-F0D7-CF32-ECDF-7D6F4E5C0EF3}"/>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27</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77602325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2B959FA5-D457-A6B0-6410-0773BD0CD7A6}"/>
            </a:ext>
          </a:extLst>
        </p:cNvPr>
        <p:cNvGrpSpPr/>
        <p:nvPr/>
      </p:nvGrpSpPr>
      <p:grpSpPr>
        <a:xfrm>
          <a:off x="0" y="0"/>
          <a:ext cx="0" cy="0"/>
          <a:chOff x="0" y="0"/>
          <a:chExt cx="0" cy="0"/>
        </a:xfrm>
      </p:grpSpPr>
      <p:sp>
        <p:nvSpPr>
          <p:cNvPr id="130" name="Google Shape;130;p2:notes">
            <a:extLst>
              <a:ext uri="{FF2B5EF4-FFF2-40B4-BE49-F238E27FC236}">
                <a16:creationId xmlns:a16="http://schemas.microsoft.com/office/drawing/2014/main" id="{7E98535C-C2AC-B778-A25B-6E734C3DB064}"/>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IN"/>
          </a:p>
        </p:txBody>
      </p:sp>
      <p:sp>
        <p:nvSpPr>
          <p:cNvPr id="131" name="Google Shape;131;p2:notes">
            <a:extLst>
              <a:ext uri="{FF2B5EF4-FFF2-40B4-BE49-F238E27FC236}">
                <a16:creationId xmlns:a16="http://schemas.microsoft.com/office/drawing/2014/main" id="{96D435B9-3059-B817-3597-F5FA483A92B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a:extLst>
              <a:ext uri="{FF2B5EF4-FFF2-40B4-BE49-F238E27FC236}">
                <a16:creationId xmlns:a16="http://schemas.microsoft.com/office/drawing/2014/main" id="{1D5F868E-A9ED-959F-00F9-3FDB0663070C}"/>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28</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64100580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IN"/>
          </a:p>
        </p:txBody>
      </p:sp>
      <p:sp>
        <p:nvSpPr>
          <p:cNvPr id="131" name="Google Shape;131;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29</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5364555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EF4A2118-67B3-5418-3426-5B507DA0F5D6}"/>
            </a:ext>
          </a:extLst>
        </p:cNvPr>
        <p:cNvGrpSpPr/>
        <p:nvPr/>
      </p:nvGrpSpPr>
      <p:grpSpPr>
        <a:xfrm>
          <a:off x="0" y="0"/>
          <a:ext cx="0" cy="0"/>
          <a:chOff x="0" y="0"/>
          <a:chExt cx="0" cy="0"/>
        </a:xfrm>
      </p:grpSpPr>
      <p:sp>
        <p:nvSpPr>
          <p:cNvPr id="130" name="Google Shape;130;p2:notes">
            <a:extLst>
              <a:ext uri="{FF2B5EF4-FFF2-40B4-BE49-F238E27FC236}">
                <a16:creationId xmlns:a16="http://schemas.microsoft.com/office/drawing/2014/main" id="{AE54CAB2-E64E-F7CA-7971-B844E1711B49}"/>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IN"/>
          </a:p>
        </p:txBody>
      </p:sp>
      <p:sp>
        <p:nvSpPr>
          <p:cNvPr id="131" name="Google Shape;131;p2:notes">
            <a:extLst>
              <a:ext uri="{FF2B5EF4-FFF2-40B4-BE49-F238E27FC236}">
                <a16:creationId xmlns:a16="http://schemas.microsoft.com/office/drawing/2014/main" id="{8A91D25E-E345-16FE-5612-0C228C6BE37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a:extLst>
              <a:ext uri="{FF2B5EF4-FFF2-40B4-BE49-F238E27FC236}">
                <a16:creationId xmlns:a16="http://schemas.microsoft.com/office/drawing/2014/main" id="{A6063046-CC36-C0D4-F152-9DF29D55723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30</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52877934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IN"/>
          </a:p>
        </p:txBody>
      </p:sp>
      <p:sp>
        <p:nvSpPr>
          <p:cNvPr id="131" name="Google Shape;131;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31</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61314704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IN"/>
          </a:p>
        </p:txBody>
      </p:sp>
      <p:sp>
        <p:nvSpPr>
          <p:cNvPr id="131" name="Google Shape;131;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32</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24441866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IN"/>
          </a:p>
        </p:txBody>
      </p:sp>
      <p:sp>
        <p:nvSpPr>
          <p:cNvPr id="131" name="Google Shape;131;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33</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7994971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29"/>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fld id="{7F70A785-156C-425F-A2D8-966122E547E5}" type="datetime3">
              <a:rPr lang="en-US" smtClean="0"/>
              <a:pPr/>
              <a:t>2 March 2026</a:t>
            </a:fld>
            <a:endParaRPr/>
          </a:p>
        </p:txBody>
      </p:sp>
      <p:sp>
        <p:nvSpPr>
          <p:cNvPr id="17" name="Google Shape;17;p29"/>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8"/>
        <p:cNvGrpSpPr/>
        <p:nvPr/>
      </p:nvGrpSpPr>
      <p:grpSpPr>
        <a:xfrm>
          <a:off x="0" y="0"/>
          <a:ext cx="0" cy="0"/>
          <a:chOff x="0" y="0"/>
          <a:chExt cx="0" cy="0"/>
        </a:xfrm>
      </p:grpSpPr>
      <p:sp>
        <p:nvSpPr>
          <p:cNvPr id="19" name="Google Shape;19;p31"/>
          <p:cNvSpPr txBox="1">
            <a:spLocks noGrp="1"/>
          </p:cNvSpPr>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20" name="Google Shape;20;p31"/>
          <p:cNvSpPr txBox="1">
            <a:spLocks noGrp="1"/>
          </p:cNvSpPr>
          <p:nvPr>
            <p:ph type="body" idx="1"/>
          </p:nvPr>
        </p:nvSpPr>
        <p:spPr>
          <a:xfrm>
            <a:off x="685800" y="1981200"/>
            <a:ext cx="7772400" cy="41148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1" name="Google Shape;21;p31"/>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fld id="{97742EA7-CD33-43EC-8EA7-47D30631274E}" type="datetime3">
              <a:rPr lang="en-US" smtClean="0"/>
              <a:pPr/>
              <a:t>2 March 2026</a:t>
            </a:fld>
            <a:endParaRPr/>
          </a:p>
        </p:txBody>
      </p:sp>
      <p:sp>
        <p:nvSpPr>
          <p:cNvPr id="22" name="Google Shape;22;p31"/>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31"/>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9"/>
        <p:cNvGrpSpPr/>
        <p:nvPr/>
      </p:nvGrpSpPr>
      <p:grpSpPr>
        <a:xfrm>
          <a:off x="0" y="0"/>
          <a:ext cx="0" cy="0"/>
          <a:chOff x="0" y="0"/>
          <a:chExt cx="0" cy="0"/>
        </a:xfrm>
      </p:grpSpPr>
      <p:sp>
        <p:nvSpPr>
          <p:cNvPr id="30" name="Google Shape;30;p32"/>
          <p:cNvSpPr txBox="1">
            <a:spLocks noGrp="1"/>
          </p:cNvSpPr>
          <p:nvPr>
            <p:ph type="ctrTitle"/>
          </p:nvPr>
        </p:nvSpPr>
        <p:spPr>
          <a:xfrm>
            <a:off x="1143000" y="1122363"/>
            <a:ext cx="6858000" cy="2387600"/>
          </a:xfrm>
          <a:prstGeom prst="rect">
            <a:avLst/>
          </a:prstGeom>
          <a:noFill/>
          <a:ln>
            <a:noFill/>
          </a:ln>
        </p:spPr>
        <p:txBody>
          <a:bodyPr spcFirstLastPara="1" wrap="square" lIns="91425" tIns="45700" rIns="91425" bIns="45700" anchor="b" anchorCtr="0">
            <a:noAutofit/>
          </a:bodyPr>
          <a:lstStyle>
            <a:lvl1pPr lvl="0" algn="ctr">
              <a:lnSpc>
                <a:spcPct val="100000"/>
              </a:lnSpc>
              <a:spcBef>
                <a:spcPts val="0"/>
              </a:spcBef>
              <a:spcAft>
                <a:spcPts val="0"/>
              </a:spcAft>
              <a:buSzPts val="1400"/>
              <a:buNone/>
              <a:defRPr sz="60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1" name="Google Shape;31;p32"/>
          <p:cNvSpPr txBox="1">
            <a:spLocks noGrp="1"/>
          </p:cNvSpPr>
          <p:nvPr>
            <p:ph type="subTitle" idx="1"/>
          </p:nvPr>
        </p:nvSpPr>
        <p:spPr>
          <a:xfrm>
            <a:off x="1143000" y="3602038"/>
            <a:ext cx="6858000" cy="1655762"/>
          </a:xfrm>
          <a:prstGeom prst="rect">
            <a:avLst/>
          </a:prstGeom>
          <a:noFill/>
          <a:ln>
            <a:noFill/>
          </a:ln>
        </p:spPr>
        <p:txBody>
          <a:bodyPr spcFirstLastPara="1" wrap="square" lIns="91425" tIns="45700" rIns="91425" bIns="45700" anchor="t" anchorCtr="0">
            <a:noAutofit/>
          </a:bodyPr>
          <a:lstStyle>
            <a:lvl1pPr lvl="0" algn="ctr">
              <a:lnSpc>
                <a:spcPct val="100000"/>
              </a:lnSpc>
              <a:spcBef>
                <a:spcPts val="480"/>
              </a:spcBef>
              <a:spcAft>
                <a:spcPts val="0"/>
              </a:spcAft>
              <a:buClr>
                <a:schemeClr val="dk1"/>
              </a:buClr>
              <a:buSzPts val="2400"/>
              <a:buFont typeface="Times New Roman"/>
              <a:buNone/>
              <a:defRPr sz="2400"/>
            </a:lvl1pPr>
            <a:lvl2pPr lvl="1" algn="ctr">
              <a:lnSpc>
                <a:spcPct val="100000"/>
              </a:lnSpc>
              <a:spcBef>
                <a:spcPts val="400"/>
              </a:spcBef>
              <a:spcAft>
                <a:spcPts val="0"/>
              </a:spcAft>
              <a:buClr>
                <a:schemeClr val="dk1"/>
              </a:buClr>
              <a:buSzPts val="2000"/>
              <a:buFont typeface="Times New Roman"/>
              <a:buNone/>
              <a:defRPr sz="2000"/>
            </a:lvl2pPr>
            <a:lvl3pPr lvl="2" algn="ctr">
              <a:lnSpc>
                <a:spcPct val="100000"/>
              </a:lnSpc>
              <a:spcBef>
                <a:spcPts val="360"/>
              </a:spcBef>
              <a:spcAft>
                <a:spcPts val="0"/>
              </a:spcAft>
              <a:buClr>
                <a:schemeClr val="dk1"/>
              </a:buClr>
              <a:buSzPts val="1800"/>
              <a:buFont typeface="Times New Roman"/>
              <a:buNone/>
              <a:defRPr sz="1800"/>
            </a:lvl3pPr>
            <a:lvl4pPr lvl="3" algn="ctr">
              <a:lnSpc>
                <a:spcPct val="100000"/>
              </a:lnSpc>
              <a:spcBef>
                <a:spcPts val="320"/>
              </a:spcBef>
              <a:spcAft>
                <a:spcPts val="0"/>
              </a:spcAft>
              <a:buClr>
                <a:schemeClr val="dk1"/>
              </a:buClr>
              <a:buSzPts val="1600"/>
              <a:buFont typeface="Times New Roman"/>
              <a:buNone/>
              <a:defRPr sz="1600"/>
            </a:lvl4pPr>
            <a:lvl5pPr lvl="4" algn="ctr">
              <a:lnSpc>
                <a:spcPct val="100000"/>
              </a:lnSpc>
              <a:spcBef>
                <a:spcPts val="320"/>
              </a:spcBef>
              <a:spcAft>
                <a:spcPts val="0"/>
              </a:spcAft>
              <a:buClr>
                <a:schemeClr val="dk1"/>
              </a:buClr>
              <a:buSzPts val="1600"/>
              <a:buFont typeface="Times New Roman"/>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2" name="Google Shape;32;p32"/>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fld id="{F484804C-E2C2-44BE-BCFD-8053EB60501D}" type="datetime3">
              <a:rPr lang="en-US" smtClean="0"/>
              <a:pPr/>
              <a:t>2 March 2026</a:t>
            </a:fld>
            <a:endParaRPr/>
          </a:p>
        </p:txBody>
      </p:sp>
      <p:sp>
        <p:nvSpPr>
          <p:cNvPr id="33" name="Google Shape;33;p32"/>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32"/>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5"/>
        <p:cNvGrpSpPr/>
        <p:nvPr/>
      </p:nvGrpSpPr>
      <p:grpSpPr>
        <a:xfrm>
          <a:off x="0" y="0"/>
          <a:ext cx="0" cy="0"/>
          <a:chOff x="0" y="0"/>
          <a:chExt cx="0" cy="0"/>
        </a:xfrm>
      </p:grpSpPr>
      <p:sp>
        <p:nvSpPr>
          <p:cNvPr id="36" name="Google Shape;36;p33"/>
          <p:cNvSpPr txBox="1">
            <a:spLocks noGrp="1"/>
          </p:cNvSpPr>
          <p:nvPr>
            <p:ph type="title"/>
          </p:nvPr>
        </p:nvSpPr>
        <p:spPr>
          <a:xfrm>
            <a:off x="623888" y="1709738"/>
            <a:ext cx="7886700" cy="2852737"/>
          </a:xfrm>
          <a:prstGeom prst="rect">
            <a:avLst/>
          </a:prstGeom>
          <a:noFill/>
          <a:ln>
            <a:noFill/>
          </a:ln>
        </p:spPr>
        <p:txBody>
          <a:bodyPr spcFirstLastPara="1" wrap="square" lIns="91425" tIns="45700" rIns="91425" bIns="45700" anchor="b" anchorCtr="0">
            <a:noAutofit/>
          </a:bodyPr>
          <a:lstStyle>
            <a:lvl1pPr lvl="0" algn="ctr">
              <a:lnSpc>
                <a:spcPct val="100000"/>
              </a:lnSpc>
              <a:spcBef>
                <a:spcPts val="0"/>
              </a:spcBef>
              <a:spcAft>
                <a:spcPts val="0"/>
              </a:spcAft>
              <a:buSzPts val="1400"/>
              <a:buNone/>
              <a:defRPr sz="60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7" name="Google Shape;37;p33"/>
          <p:cNvSpPr txBox="1">
            <a:spLocks noGrp="1"/>
          </p:cNvSpPr>
          <p:nvPr>
            <p:ph type="body" idx="1"/>
          </p:nvPr>
        </p:nvSpPr>
        <p:spPr>
          <a:xfrm>
            <a:off x="623888" y="4589463"/>
            <a:ext cx="7886700" cy="150018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480"/>
              </a:spcBef>
              <a:spcAft>
                <a:spcPts val="0"/>
              </a:spcAft>
              <a:buClr>
                <a:schemeClr val="dk1"/>
              </a:buClr>
              <a:buSzPts val="2400"/>
              <a:buFont typeface="Times New Roman"/>
              <a:buNone/>
              <a:defRPr sz="2400"/>
            </a:lvl1pPr>
            <a:lvl2pPr marL="914400" lvl="1" indent="-228600" algn="l">
              <a:lnSpc>
                <a:spcPct val="100000"/>
              </a:lnSpc>
              <a:spcBef>
                <a:spcPts val="400"/>
              </a:spcBef>
              <a:spcAft>
                <a:spcPts val="0"/>
              </a:spcAft>
              <a:buClr>
                <a:schemeClr val="dk1"/>
              </a:buClr>
              <a:buSzPts val="2000"/>
              <a:buFont typeface="Times New Roman"/>
              <a:buNone/>
              <a:defRPr sz="2000"/>
            </a:lvl2pPr>
            <a:lvl3pPr marL="1371600" lvl="2" indent="-228600" algn="l">
              <a:lnSpc>
                <a:spcPct val="100000"/>
              </a:lnSpc>
              <a:spcBef>
                <a:spcPts val="360"/>
              </a:spcBef>
              <a:spcAft>
                <a:spcPts val="0"/>
              </a:spcAft>
              <a:buClr>
                <a:schemeClr val="dk1"/>
              </a:buClr>
              <a:buSzPts val="1800"/>
              <a:buFont typeface="Times New Roman"/>
              <a:buNone/>
              <a:defRPr sz="1800"/>
            </a:lvl3pPr>
            <a:lvl4pPr marL="1828800" lvl="3" indent="-228600" algn="l">
              <a:lnSpc>
                <a:spcPct val="100000"/>
              </a:lnSpc>
              <a:spcBef>
                <a:spcPts val="320"/>
              </a:spcBef>
              <a:spcAft>
                <a:spcPts val="0"/>
              </a:spcAft>
              <a:buClr>
                <a:schemeClr val="dk1"/>
              </a:buClr>
              <a:buSzPts val="1600"/>
              <a:buFont typeface="Times New Roman"/>
              <a:buNone/>
              <a:defRPr sz="1600"/>
            </a:lvl4pPr>
            <a:lvl5pPr marL="2286000" lvl="4" indent="-228600" algn="l">
              <a:lnSpc>
                <a:spcPct val="100000"/>
              </a:lnSpc>
              <a:spcBef>
                <a:spcPts val="320"/>
              </a:spcBef>
              <a:spcAft>
                <a:spcPts val="0"/>
              </a:spcAft>
              <a:buClr>
                <a:schemeClr val="dk1"/>
              </a:buClr>
              <a:buSzPts val="1600"/>
              <a:buFont typeface="Times New Roman"/>
              <a:buNone/>
              <a:defRPr sz="1600"/>
            </a:lvl5pPr>
            <a:lvl6pPr marL="2743200" lvl="5" indent="-228600" algn="l">
              <a:lnSpc>
                <a:spcPct val="90000"/>
              </a:lnSpc>
              <a:spcBef>
                <a:spcPts val="500"/>
              </a:spcBef>
              <a:spcAft>
                <a:spcPts val="0"/>
              </a:spcAft>
              <a:buClr>
                <a:schemeClr val="dk1"/>
              </a:buClr>
              <a:buSzPts val="1600"/>
              <a:buNone/>
              <a:defRPr sz="1600"/>
            </a:lvl6pPr>
            <a:lvl7pPr marL="3200400" lvl="6" indent="-228600" algn="l">
              <a:lnSpc>
                <a:spcPct val="90000"/>
              </a:lnSpc>
              <a:spcBef>
                <a:spcPts val="500"/>
              </a:spcBef>
              <a:spcAft>
                <a:spcPts val="0"/>
              </a:spcAft>
              <a:buClr>
                <a:schemeClr val="dk1"/>
              </a:buClr>
              <a:buSzPts val="1600"/>
              <a:buNone/>
              <a:defRPr sz="1600"/>
            </a:lvl7pPr>
            <a:lvl8pPr marL="3657600" lvl="7" indent="-228600" algn="l">
              <a:lnSpc>
                <a:spcPct val="90000"/>
              </a:lnSpc>
              <a:spcBef>
                <a:spcPts val="500"/>
              </a:spcBef>
              <a:spcAft>
                <a:spcPts val="0"/>
              </a:spcAft>
              <a:buClr>
                <a:schemeClr val="dk1"/>
              </a:buClr>
              <a:buSzPts val="1600"/>
              <a:buNone/>
              <a:defRPr sz="1600"/>
            </a:lvl8pPr>
            <a:lvl9pPr marL="4114800" lvl="8" indent="-228600" algn="l">
              <a:lnSpc>
                <a:spcPct val="90000"/>
              </a:lnSpc>
              <a:spcBef>
                <a:spcPts val="500"/>
              </a:spcBef>
              <a:spcAft>
                <a:spcPts val="0"/>
              </a:spcAft>
              <a:buClr>
                <a:schemeClr val="dk1"/>
              </a:buClr>
              <a:buSzPts val="1600"/>
              <a:buNone/>
              <a:defRPr sz="1600"/>
            </a:lvl9pPr>
          </a:lstStyle>
          <a:p>
            <a:endParaRPr/>
          </a:p>
        </p:txBody>
      </p:sp>
      <p:sp>
        <p:nvSpPr>
          <p:cNvPr id="38" name="Google Shape;38;p33"/>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fld id="{F693C889-72BB-4A3F-88FF-DB5D79B46C9F}" type="datetime3">
              <a:rPr lang="en-US" smtClean="0"/>
              <a:pPr/>
              <a:t>2 March 2026</a:t>
            </a:fld>
            <a:endParaRPr/>
          </a:p>
        </p:txBody>
      </p:sp>
      <p:sp>
        <p:nvSpPr>
          <p:cNvPr id="39" name="Google Shape;39;p33"/>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33"/>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1"/>
        <p:cNvGrpSpPr/>
        <p:nvPr/>
      </p:nvGrpSpPr>
      <p:grpSpPr>
        <a:xfrm>
          <a:off x="0" y="0"/>
          <a:ext cx="0" cy="0"/>
          <a:chOff x="0" y="0"/>
          <a:chExt cx="0" cy="0"/>
        </a:xfrm>
      </p:grpSpPr>
      <p:sp>
        <p:nvSpPr>
          <p:cNvPr id="42" name="Google Shape;42;p34"/>
          <p:cNvSpPr txBox="1">
            <a:spLocks noGrp="1"/>
          </p:cNvSpPr>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43" name="Google Shape;43;p34"/>
          <p:cNvSpPr txBox="1">
            <a:spLocks noGrp="1"/>
          </p:cNvSpPr>
          <p:nvPr>
            <p:ph type="body" idx="1"/>
          </p:nvPr>
        </p:nvSpPr>
        <p:spPr>
          <a:xfrm>
            <a:off x="685800" y="1981200"/>
            <a:ext cx="3810000" cy="41148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34"/>
          <p:cNvSpPr txBox="1">
            <a:spLocks noGrp="1"/>
          </p:cNvSpPr>
          <p:nvPr>
            <p:ph type="body" idx="2"/>
          </p:nvPr>
        </p:nvSpPr>
        <p:spPr>
          <a:xfrm>
            <a:off x="4648200" y="1981200"/>
            <a:ext cx="3810000" cy="41148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5" name="Google Shape;45;p34"/>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fld id="{68438443-5994-46C8-AEEF-2D59BC6E7C9E}" type="datetime3">
              <a:rPr lang="en-US" smtClean="0"/>
              <a:pPr/>
              <a:t>2 March 2026</a:t>
            </a:fld>
            <a:endParaRPr/>
          </a:p>
        </p:txBody>
      </p:sp>
      <p:sp>
        <p:nvSpPr>
          <p:cNvPr id="46" name="Google Shape;46;p34"/>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34"/>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8"/>
        <p:cNvGrpSpPr/>
        <p:nvPr/>
      </p:nvGrpSpPr>
      <p:grpSpPr>
        <a:xfrm>
          <a:off x="0" y="0"/>
          <a:ext cx="0" cy="0"/>
          <a:chOff x="0" y="0"/>
          <a:chExt cx="0" cy="0"/>
        </a:xfrm>
      </p:grpSpPr>
      <p:sp>
        <p:nvSpPr>
          <p:cNvPr id="49" name="Google Shape;49;p35"/>
          <p:cNvSpPr txBox="1">
            <a:spLocks noGrp="1"/>
          </p:cNvSpPr>
          <p:nvPr>
            <p:ph type="title"/>
          </p:nvPr>
        </p:nvSpPr>
        <p:spPr>
          <a:xfrm>
            <a:off x="630238" y="365125"/>
            <a:ext cx="7886700" cy="1325563"/>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50" name="Google Shape;50;p35"/>
          <p:cNvSpPr txBox="1">
            <a:spLocks noGrp="1"/>
          </p:cNvSpPr>
          <p:nvPr>
            <p:ph type="body" idx="1"/>
          </p:nvPr>
        </p:nvSpPr>
        <p:spPr>
          <a:xfrm>
            <a:off x="630238" y="1681163"/>
            <a:ext cx="3868737" cy="823912"/>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80"/>
              </a:spcBef>
              <a:spcAft>
                <a:spcPts val="0"/>
              </a:spcAft>
              <a:buClr>
                <a:schemeClr val="dk1"/>
              </a:buClr>
              <a:buSzPts val="2400"/>
              <a:buFont typeface="Times New Roman"/>
              <a:buNone/>
              <a:defRPr sz="2400" b="1"/>
            </a:lvl1pPr>
            <a:lvl2pPr marL="914400" lvl="1" indent="-228600" algn="l">
              <a:lnSpc>
                <a:spcPct val="100000"/>
              </a:lnSpc>
              <a:spcBef>
                <a:spcPts val="400"/>
              </a:spcBef>
              <a:spcAft>
                <a:spcPts val="0"/>
              </a:spcAft>
              <a:buClr>
                <a:schemeClr val="dk1"/>
              </a:buClr>
              <a:buSzPts val="2000"/>
              <a:buFont typeface="Times New Roman"/>
              <a:buNone/>
              <a:defRPr sz="2000" b="1"/>
            </a:lvl2pPr>
            <a:lvl3pPr marL="1371600" lvl="2" indent="-228600" algn="l">
              <a:lnSpc>
                <a:spcPct val="100000"/>
              </a:lnSpc>
              <a:spcBef>
                <a:spcPts val="360"/>
              </a:spcBef>
              <a:spcAft>
                <a:spcPts val="0"/>
              </a:spcAft>
              <a:buClr>
                <a:schemeClr val="dk1"/>
              </a:buClr>
              <a:buSzPts val="1800"/>
              <a:buFont typeface="Times New Roman"/>
              <a:buNone/>
              <a:defRPr sz="1800" b="1"/>
            </a:lvl3pPr>
            <a:lvl4pPr marL="1828800" lvl="3" indent="-228600" algn="l">
              <a:lnSpc>
                <a:spcPct val="100000"/>
              </a:lnSpc>
              <a:spcBef>
                <a:spcPts val="320"/>
              </a:spcBef>
              <a:spcAft>
                <a:spcPts val="0"/>
              </a:spcAft>
              <a:buClr>
                <a:schemeClr val="dk1"/>
              </a:buClr>
              <a:buSzPts val="1600"/>
              <a:buFont typeface="Times New Roman"/>
              <a:buNone/>
              <a:defRPr sz="1600" b="1"/>
            </a:lvl4pPr>
            <a:lvl5pPr marL="2286000" lvl="4" indent="-228600" algn="l">
              <a:lnSpc>
                <a:spcPct val="100000"/>
              </a:lnSpc>
              <a:spcBef>
                <a:spcPts val="320"/>
              </a:spcBef>
              <a:spcAft>
                <a:spcPts val="0"/>
              </a:spcAft>
              <a:buClr>
                <a:schemeClr val="dk1"/>
              </a:buClr>
              <a:buSzPts val="1600"/>
              <a:buFont typeface="Times New Roman"/>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1" name="Google Shape;51;p35"/>
          <p:cNvSpPr txBox="1">
            <a:spLocks noGrp="1"/>
          </p:cNvSpPr>
          <p:nvPr>
            <p:ph type="body" idx="2"/>
          </p:nvPr>
        </p:nvSpPr>
        <p:spPr>
          <a:xfrm>
            <a:off x="630238" y="2505075"/>
            <a:ext cx="3868737" cy="3684588"/>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2" name="Google Shape;52;p35"/>
          <p:cNvSpPr txBox="1">
            <a:spLocks noGrp="1"/>
          </p:cNvSpPr>
          <p:nvPr>
            <p:ph type="body" idx="3"/>
          </p:nvPr>
        </p:nvSpPr>
        <p:spPr>
          <a:xfrm>
            <a:off x="4629150" y="1681163"/>
            <a:ext cx="3887788" cy="823912"/>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80"/>
              </a:spcBef>
              <a:spcAft>
                <a:spcPts val="0"/>
              </a:spcAft>
              <a:buClr>
                <a:schemeClr val="dk1"/>
              </a:buClr>
              <a:buSzPts val="2400"/>
              <a:buFont typeface="Times New Roman"/>
              <a:buNone/>
              <a:defRPr sz="2400" b="1"/>
            </a:lvl1pPr>
            <a:lvl2pPr marL="914400" lvl="1" indent="-228600" algn="l">
              <a:lnSpc>
                <a:spcPct val="100000"/>
              </a:lnSpc>
              <a:spcBef>
                <a:spcPts val="400"/>
              </a:spcBef>
              <a:spcAft>
                <a:spcPts val="0"/>
              </a:spcAft>
              <a:buClr>
                <a:schemeClr val="dk1"/>
              </a:buClr>
              <a:buSzPts val="2000"/>
              <a:buFont typeface="Times New Roman"/>
              <a:buNone/>
              <a:defRPr sz="2000" b="1"/>
            </a:lvl2pPr>
            <a:lvl3pPr marL="1371600" lvl="2" indent="-228600" algn="l">
              <a:lnSpc>
                <a:spcPct val="100000"/>
              </a:lnSpc>
              <a:spcBef>
                <a:spcPts val="360"/>
              </a:spcBef>
              <a:spcAft>
                <a:spcPts val="0"/>
              </a:spcAft>
              <a:buClr>
                <a:schemeClr val="dk1"/>
              </a:buClr>
              <a:buSzPts val="1800"/>
              <a:buFont typeface="Times New Roman"/>
              <a:buNone/>
              <a:defRPr sz="1800" b="1"/>
            </a:lvl3pPr>
            <a:lvl4pPr marL="1828800" lvl="3" indent="-228600" algn="l">
              <a:lnSpc>
                <a:spcPct val="100000"/>
              </a:lnSpc>
              <a:spcBef>
                <a:spcPts val="320"/>
              </a:spcBef>
              <a:spcAft>
                <a:spcPts val="0"/>
              </a:spcAft>
              <a:buClr>
                <a:schemeClr val="dk1"/>
              </a:buClr>
              <a:buSzPts val="1600"/>
              <a:buFont typeface="Times New Roman"/>
              <a:buNone/>
              <a:defRPr sz="1600" b="1"/>
            </a:lvl4pPr>
            <a:lvl5pPr marL="2286000" lvl="4" indent="-228600" algn="l">
              <a:lnSpc>
                <a:spcPct val="100000"/>
              </a:lnSpc>
              <a:spcBef>
                <a:spcPts val="320"/>
              </a:spcBef>
              <a:spcAft>
                <a:spcPts val="0"/>
              </a:spcAft>
              <a:buClr>
                <a:schemeClr val="dk1"/>
              </a:buClr>
              <a:buSzPts val="1600"/>
              <a:buFont typeface="Times New Roman"/>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3" name="Google Shape;53;p35"/>
          <p:cNvSpPr txBox="1">
            <a:spLocks noGrp="1"/>
          </p:cNvSpPr>
          <p:nvPr>
            <p:ph type="body" idx="4"/>
          </p:nvPr>
        </p:nvSpPr>
        <p:spPr>
          <a:xfrm>
            <a:off x="4629150" y="2505075"/>
            <a:ext cx="3887788" cy="3684588"/>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4" name="Google Shape;54;p35"/>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fld id="{28E5C271-FA14-4B19-BFBF-3563F3BF711E}" type="datetime3">
              <a:rPr lang="en-US" smtClean="0"/>
              <a:pPr/>
              <a:t>2 March 2026</a:t>
            </a:fld>
            <a:endParaRPr/>
          </a:p>
        </p:txBody>
      </p:sp>
      <p:sp>
        <p:nvSpPr>
          <p:cNvPr id="55" name="Google Shape;55;p35"/>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35"/>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36"/>
          <p:cNvSpPr txBox="1">
            <a:spLocks noGrp="1"/>
          </p:cNvSpPr>
          <p:nvPr>
            <p:ph type="title"/>
          </p:nvPr>
        </p:nvSpPr>
        <p:spPr>
          <a:xfrm>
            <a:off x="630238" y="457200"/>
            <a:ext cx="2949575" cy="1600200"/>
          </a:xfrm>
          <a:prstGeom prst="rect">
            <a:avLst/>
          </a:prstGeom>
          <a:noFill/>
          <a:ln>
            <a:noFill/>
          </a:ln>
        </p:spPr>
        <p:txBody>
          <a:bodyPr spcFirstLastPara="1" wrap="square" lIns="91425" tIns="45700" rIns="91425" bIns="45700" anchor="b" anchorCtr="0">
            <a:noAutofit/>
          </a:bodyPr>
          <a:lstStyle>
            <a:lvl1pPr lvl="0" algn="ctr">
              <a:lnSpc>
                <a:spcPct val="100000"/>
              </a:lnSpc>
              <a:spcBef>
                <a:spcPts val="0"/>
              </a:spcBef>
              <a:spcAft>
                <a:spcPts val="0"/>
              </a:spcAft>
              <a:buSzPts val="1400"/>
              <a:buNone/>
              <a:defRPr sz="32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59" name="Google Shape;59;p36"/>
          <p:cNvSpPr txBox="1">
            <a:spLocks noGrp="1"/>
          </p:cNvSpPr>
          <p:nvPr>
            <p:ph type="body" idx="1"/>
          </p:nvPr>
        </p:nvSpPr>
        <p:spPr>
          <a:xfrm>
            <a:off x="3887788" y="987425"/>
            <a:ext cx="4629150" cy="4873625"/>
          </a:xfrm>
          <a:prstGeom prst="rect">
            <a:avLst/>
          </a:prstGeom>
          <a:noFill/>
          <a:ln>
            <a:noFill/>
          </a:ln>
        </p:spPr>
        <p:txBody>
          <a:bodyPr spcFirstLastPara="1" wrap="square" lIns="91425" tIns="45700" rIns="91425" bIns="45700" anchor="t" anchorCtr="0">
            <a:noAutofit/>
          </a:bodyPr>
          <a:lstStyle>
            <a:lvl1pPr marL="457200" lvl="0" indent="-431800" algn="l">
              <a:lnSpc>
                <a:spcPct val="100000"/>
              </a:lnSpc>
              <a:spcBef>
                <a:spcPts val="640"/>
              </a:spcBef>
              <a:spcAft>
                <a:spcPts val="0"/>
              </a:spcAft>
              <a:buClr>
                <a:schemeClr val="dk1"/>
              </a:buClr>
              <a:buSzPts val="3200"/>
              <a:buFont typeface="Times New Roman"/>
              <a:buChar char="•"/>
              <a:defRPr sz="3200"/>
            </a:lvl1pPr>
            <a:lvl2pPr marL="914400" lvl="1" indent="-406400" algn="l">
              <a:lnSpc>
                <a:spcPct val="100000"/>
              </a:lnSpc>
              <a:spcBef>
                <a:spcPts val="560"/>
              </a:spcBef>
              <a:spcAft>
                <a:spcPts val="0"/>
              </a:spcAft>
              <a:buClr>
                <a:schemeClr val="dk1"/>
              </a:buClr>
              <a:buSzPts val="2800"/>
              <a:buFont typeface="Times New Roman"/>
              <a:buChar char="–"/>
              <a:defRPr sz="2800"/>
            </a:lvl2pPr>
            <a:lvl3pPr marL="1371600" lvl="2" indent="-381000" algn="l">
              <a:lnSpc>
                <a:spcPct val="100000"/>
              </a:lnSpc>
              <a:spcBef>
                <a:spcPts val="480"/>
              </a:spcBef>
              <a:spcAft>
                <a:spcPts val="0"/>
              </a:spcAft>
              <a:buClr>
                <a:schemeClr val="dk1"/>
              </a:buClr>
              <a:buSzPts val="2400"/>
              <a:buFont typeface="Times New Roman"/>
              <a:buChar char="•"/>
              <a:defRPr sz="2400"/>
            </a:lvl3pPr>
            <a:lvl4pPr marL="1828800" lvl="3" indent="-355600" algn="l">
              <a:lnSpc>
                <a:spcPct val="100000"/>
              </a:lnSpc>
              <a:spcBef>
                <a:spcPts val="400"/>
              </a:spcBef>
              <a:spcAft>
                <a:spcPts val="0"/>
              </a:spcAft>
              <a:buClr>
                <a:schemeClr val="dk1"/>
              </a:buClr>
              <a:buSzPts val="2000"/>
              <a:buFont typeface="Times New Roman"/>
              <a:buChar char="–"/>
              <a:defRPr sz="2000"/>
            </a:lvl4pPr>
            <a:lvl5pPr marL="2286000" lvl="4" indent="-355600" algn="l">
              <a:lnSpc>
                <a:spcPct val="100000"/>
              </a:lnSpc>
              <a:spcBef>
                <a:spcPts val="400"/>
              </a:spcBef>
              <a:spcAft>
                <a:spcPts val="0"/>
              </a:spcAft>
              <a:buClr>
                <a:schemeClr val="dk1"/>
              </a:buClr>
              <a:buSzPts val="2000"/>
              <a:buFont typeface="Times New Roman"/>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0" name="Google Shape;60;p36"/>
          <p:cNvSpPr txBox="1">
            <a:spLocks noGrp="1"/>
          </p:cNvSpPr>
          <p:nvPr>
            <p:ph type="body" idx="2"/>
          </p:nvPr>
        </p:nvSpPr>
        <p:spPr>
          <a:xfrm>
            <a:off x="630238" y="2057400"/>
            <a:ext cx="2949575" cy="3811588"/>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320"/>
              </a:spcBef>
              <a:spcAft>
                <a:spcPts val="0"/>
              </a:spcAft>
              <a:buClr>
                <a:schemeClr val="dk1"/>
              </a:buClr>
              <a:buSzPts val="1600"/>
              <a:buFont typeface="Times New Roman"/>
              <a:buNone/>
              <a:defRPr sz="1600"/>
            </a:lvl1pPr>
            <a:lvl2pPr marL="914400" lvl="1" indent="-228600" algn="l">
              <a:lnSpc>
                <a:spcPct val="100000"/>
              </a:lnSpc>
              <a:spcBef>
                <a:spcPts val="280"/>
              </a:spcBef>
              <a:spcAft>
                <a:spcPts val="0"/>
              </a:spcAft>
              <a:buClr>
                <a:schemeClr val="dk1"/>
              </a:buClr>
              <a:buSzPts val="1400"/>
              <a:buFont typeface="Times New Roman"/>
              <a:buNone/>
              <a:defRPr sz="1400"/>
            </a:lvl2pPr>
            <a:lvl3pPr marL="1371600" lvl="2" indent="-228600" algn="l">
              <a:lnSpc>
                <a:spcPct val="100000"/>
              </a:lnSpc>
              <a:spcBef>
                <a:spcPts val="240"/>
              </a:spcBef>
              <a:spcAft>
                <a:spcPts val="0"/>
              </a:spcAft>
              <a:buClr>
                <a:schemeClr val="dk1"/>
              </a:buClr>
              <a:buSzPts val="1200"/>
              <a:buFont typeface="Times New Roman"/>
              <a:buNone/>
              <a:defRPr sz="1200"/>
            </a:lvl3pPr>
            <a:lvl4pPr marL="1828800" lvl="3" indent="-228600" algn="l">
              <a:lnSpc>
                <a:spcPct val="100000"/>
              </a:lnSpc>
              <a:spcBef>
                <a:spcPts val="200"/>
              </a:spcBef>
              <a:spcAft>
                <a:spcPts val="0"/>
              </a:spcAft>
              <a:buClr>
                <a:schemeClr val="dk1"/>
              </a:buClr>
              <a:buSzPts val="1000"/>
              <a:buFont typeface="Times New Roman"/>
              <a:buNone/>
              <a:defRPr sz="1000"/>
            </a:lvl4pPr>
            <a:lvl5pPr marL="2286000" lvl="4" indent="-228600" algn="l">
              <a:lnSpc>
                <a:spcPct val="100000"/>
              </a:lnSpc>
              <a:spcBef>
                <a:spcPts val="200"/>
              </a:spcBef>
              <a:spcAft>
                <a:spcPts val="0"/>
              </a:spcAft>
              <a:buClr>
                <a:schemeClr val="dk1"/>
              </a:buClr>
              <a:buSzPts val="1000"/>
              <a:buFont typeface="Times New Roman"/>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1" name="Google Shape;61;p36"/>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fld id="{8A449154-40C0-463B-9870-DE851E5650F2}" type="datetime3">
              <a:rPr lang="en-US" smtClean="0"/>
              <a:pPr/>
              <a:t>2 March 2026</a:t>
            </a:fld>
            <a:endParaRPr/>
          </a:p>
        </p:txBody>
      </p:sp>
      <p:sp>
        <p:nvSpPr>
          <p:cNvPr id="62" name="Google Shape;62;p36"/>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36"/>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37"/>
          <p:cNvSpPr txBox="1">
            <a:spLocks noGrp="1"/>
          </p:cNvSpPr>
          <p:nvPr>
            <p:ph type="title"/>
          </p:nvPr>
        </p:nvSpPr>
        <p:spPr>
          <a:xfrm>
            <a:off x="630238" y="457200"/>
            <a:ext cx="2949575" cy="1600200"/>
          </a:xfrm>
          <a:prstGeom prst="rect">
            <a:avLst/>
          </a:prstGeom>
          <a:noFill/>
          <a:ln>
            <a:noFill/>
          </a:ln>
        </p:spPr>
        <p:txBody>
          <a:bodyPr spcFirstLastPara="1" wrap="square" lIns="91425" tIns="45700" rIns="91425" bIns="45700" anchor="b" anchorCtr="0">
            <a:noAutofit/>
          </a:bodyPr>
          <a:lstStyle>
            <a:lvl1pPr lvl="0" algn="ctr">
              <a:lnSpc>
                <a:spcPct val="100000"/>
              </a:lnSpc>
              <a:spcBef>
                <a:spcPts val="0"/>
              </a:spcBef>
              <a:spcAft>
                <a:spcPts val="0"/>
              </a:spcAft>
              <a:buSzPts val="1400"/>
              <a:buNone/>
              <a:defRPr sz="32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66" name="Google Shape;66;p37"/>
          <p:cNvSpPr>
            <a:spLocks noGrp="1"/>
          </p:cNvSpPr>
          <p:nvPr>
            <p:ph type="pic" idx="2"/>
          </p:nvPr>
        </p:nvSpPr>
        <p:spPr>
          <a:xfrm>
            <a:off x="3887788" y="987425"/>
            <a:ext cx="4629150" cy="4873625"/>
          </a:xfrm>
          <a:prstGeom prst="rect">
            <a:avLst/>
          </a:prstGeom>
          <a:noFill/>
          <a:ln>
            <a:noFill/>
          </a:ln>
        </p:spPr>
        <p:txBody>
          <a:bodyPr/>
          <a:lstStyle/>
          <a:p>
            <a:endParaRPr lang="en-IN"/>
          </a:p>
        </p:txBody>
      </p:sp>
      <p:sp>
        <p:nvSpPr>
          <p:cNvPr id="67" name="Google Shape;67;p37"/>
          <p:cNvSpPr txBox="1">
            <a:spLocks noGrp="1"/>
          </p:cNvSpPr>
          <p:nvPr>
            <p:ph type="body" idx="1"/>
          </p:nvPr>
        </p:nvSpPr>
        <p:spPr>
          <a:xfrm>
            <a:off x="630238" y="2057400"/>
            <a:ext cx="2949575" cy="3811588"/>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320"/>
              </a:spcBef>
              <a:spcAft>
                <a:spcPts val="0"/>
              </a:spcAft>
              <a:buClr>
                <a:schemeClr val="dk1"/>
              </a:buClr>
              <a:buSzPts val="1600"/>
              <a:buFont typeface="Times New Roman"/>
              <a:buNone/>
              <a:defRPr sz="1600"/>
            </a:lvl1pPr>
            <a:lvl2pPr marL="914400" lvl="1" indent="-228600" algn="l">
              <a:lnSpc>
                <a:spcPct val="100000"/>
              </a:lnSpc>
              <a:spcBef>
                <a:spcPts val="280"/>
              </a:spcBef>
              <a:spcAft>
                <a:spcPts val="0"/>
              </a:spcAft>
              <a:buClr>
                <a:schemeClr val="dk1"/>
              </a:buClr>
              <a:buSzPts val="1400"/>
              <a:buFont typeface="Times New Roman"/>
              <a:buNone/>
              <a:defRPr sz="1400"/>
            </a:lvl2pPr>
            <a:lvl3pPr marL="1371600" lvl="2" indent="-228600" algn="l">
              <a:lnSpc>
                <a:spcPct val="100000"/>
              </a:lnSpc>
              <a:spcBef>
                <a:spcPts val="240"/>
              </a:spcBef>
              <a:spcAft>
                <a:spcPts val="0"/>
              </a:spcAft>
              <a:buClr>
                <a:schemeClr val="dk1"/>
              </a:buClr>
              <a:buSzPts val="1200"/>
              <a:buFont typeface="Times New Roman"/>
              <a:buNone/>
              <a:defRPr sz="1200"/>
            </a:lvl3pPr>
            <a:lvl4pPr marL="1828800" lvl="3" indent="-228600" algn="l">
              <a:lnSpc>
                <a:spcPct val="100000"/>
              </a:lnSpc>
              <a:spcBef>
                <a:spcPts val="200"/>
              </a:spcBef>
              <a:spcAft>
                <a:spcPts val="0"/>
              </a:spcAft>
              <a:buClr>
                <a:schemeClr val="dk1"/>
              </a:buClr>
              <a:buSzPts val="1000"/>
              <a:buFont typeface="Times New Roman"/>
              <a:buNone/>
              <a:defRPr sz="1000"/>
            </a:lvl4pPr>
            <a:lvl5pPr marL="2286000" lvl="4" indent="-228600" algn="l">
              <a:lnSpc>
                <a:spcPct val="100000"/>
              </a:lnSpc>
              <a:spcBef>
                <a:spcPts val="200"/>
              </a:spcBef>
              <a:spcAft>
                <a:spcPts val="0"/>
              </a:spcAft>
              <a:buClr>
                <a:schemeClr val="dk1"/>
              </a:buClr>
              <a:buSzPts val="1000"/>
              <a:buFont typeface="Times New Roman"/>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8" name="Google Shape;68;p37"/>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fld id="{4E899386-CBAA-4D39-AF2D-8EC1DE21406A}" type="datetime3">
              <a:rPr lang="en-US" smtClean="0"/>
              <a:pPr/>
              <a:t>2 March 2026</a:t>
            </a:fld>
            <a:endParaRPr/>
          </a:p>
        </p:txBody>
      </p:sp>
      <p:sp>
        <p:nvSpPr>
          <p:cNvPr id="69" name="Google Shape;69;p37"/>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37"/>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38"/>
          <p:cNvSpPr txBox="1">
            <a:spLocks noGrp="1"/>
          </p:cNvSpPr>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73" name="Google Shape;73;p38"/>
          <p:cNvSpPr txBox="1">
            <a:spLocks noGrp="1"/>
          </p:cNvSpPr>
          <p:nvPr>
            <p:ph type="body" idx="1"/>
          </p:nvPr>
        </p:nvSpPr>
        <p:spPr>
          <a:xfrm rot="5400000">
            <a:off x="2514600" y="152400"/>
            <a:ext cx="4114800" cy="77724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4" name="Google Shape;74;p38"/>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fld id="{48094A4C-1916-4AF1-A1C2-EDC0C0EC293E}" type="datetime3">
              <a:rPr lang="en-US" smtClean="0"/>
              <a:pPr/>
              <a:t>2 March 2026</a:t>
            </a:fld>
            <a:endParaRPr/>
          </a:p>
        </p:txBody>
      </p:sp>
      <p:sp>
        <p:nvSpPr>
          <p:cNvPr id="75" name="Google Shape;75;p38"/>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38"/>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39"/>
          <p:cNvSpPr txBox="1">
            <a:spLocks noGrp="1"/>
          </p:cNvSpPr>
          <p:nvPr>
            <p:ph type="title"/>
          </p:nvPr>
        </p:nvSpPr>
        <p:spPr>
          <a:xfrm rot="5400000">
            <a:off x="4743450" y="2381250"/>
            <a:ext cx="5486400" cy="1943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79" name="Google Shape;79;p39"/>
          <p:cNvSpPr txBox="1">
            <a:spLocks noGrp="1"/>
          </p:cNvSpPr>
          <p:nvPr>
            <p:ph type="body" idx="1"/>
          </p:nvPr>
        </p:nvSpPr>
        <p:spPr>
          <a:xfrm rot="5400000">
            <a:off x="781050" y="514350"/>
            <a:ext cx="5486400" cy="56769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0" name="Google Shape;80;p39"/>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fld id="{386948D6-0002-44A7-B245-A5E38AE83685}" type="datetime3">
              <a:rPr lang="en-US" smtClean="0"/>
              <a:pPr/>
              <a:t>2 March 2026</a:t>
            </a:fld>
            <a:endParaRPr/>
          </a:p>
        </p:txBody>
      </p:sp>
      <p:sp>
        <p:nvSpPr>
          <p:cNvPr id="81" name="Google Shape;81;p39"/>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39"/>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D6D6F5">
            <a:alpha val="54117"/>
          </a:srgbClr>
        </a:solidFill>
        <a:effectLst/>
      </p:bgPr>
    </p:bg>
    <p:spTree>
      <p:nvGrpSpPr>
        <p:cNvPr id="1" name="Shape 9"/>
        <p:cNvGrpSpPr/>
        <p:nvPr/>
      </p:nvGrpSpPr>
      <p:grpSpPr>
        <a:xfrm>
          <a:off x="0" y="0"/>
          <a:ext cx="0" cy="0"/>
          <a:chOff x="0" y="0"/>
          <a:chExt cx="0" cy="0"/>
        </a:xfrm>
      </p:grpSpPr>
      <p:sp>
        <p:nvSpPr>
          <p:cNvPr id="10" name="Google Shape;10;p28"/>
          <p:cNvSpPr txBox="1">
            <a:spLocks noGrp="1"/>
          </p:cNvSpPr>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1pPr>
            <a:lvl2pPr marR="0" lvl="1"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2pPr>
            <a:lvl3pPr marR="0" lvl="2"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3pPr>
            <a:lvl4pPr marR="0" lvl="3"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4pPr>
            <a:lvl5pPr marR="0" lvl="4"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5pPr>
            <a:lvl6pPr marR="0" lvl="5"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6pPr>
            <a:lvl7pPr marR="0" lvl="6"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7pPr>
            <a:lvl8pPr marR="0" lvl="7"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8pPr>
            <a:lvl9pPr marR="0" lvl="8"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9pPr>
          </a:lstStyle>
          <a:p>
            <a:endParaRPr/>
          </a:p>
        </p:txBody>
      </p:sp>
      <p:sp>
        <p:nvSpPr>
          <p:cNvPr id="11" name="Google Shape;11;p28"/>
          <p:cNvSpPr txBox="1">
            <a:spLocks noGrp="1"/>
          </p:cNvSpPr>
          <p:nvPr>
            <p:ph type="body" idx="1"/>
          </p:nvPr>
        </p:nvSpPr>
        <p:spPr>
          <a:xfrm>
            <a:off x="685800" y="1981200"/>
            <a:ext cx="7772400" cy="4114800"/>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Times New Roman"/>
              <a:buChar char="•"/>
              <a:defRPr sz="3200" b="0" i="0" u="none" strike="noStrike" cap="none">
                <a:solidFill>
                  <a:schemeClr val="dk1"/>
                </a:solidFill>
                <a:latin typeface="Times New Roman"/>
                <a:ea typeface="Times New Roman"/>
                <a:cs typeface="Times New Roman"/>
                <a:sym typeface="Times New Roman"/>
              </a:defRPr>
            </a:lvl1pPr>
            <a:lvl2pPr marL="914400" marR="0" lvl="1" indent="-406400" algn="l" rtl="0">
              <a:lnSpc>
                <a:spcPct val="100000"/>
              </a:lnSpc>
              <a:spcBef>
                <a:spcPts val="560"/>
              </a:spcBef>
              <a:spcAft>
                <a:spcPts val="0"/>
              </a:spcAft>
              <a:buClr>
                <a:schemeClr val="dk1"/>
              </a:buClr>
              <a:buSzPts val="2800"/>
              <a:buFont typeface="Times New Roman"/>
              <a:buChar char="–"/>
              <a:defRPr sz="2800" b="0" i="0" u="none" strike="noStrike" cap="none">
                <a:solidFill>
                  <a:schemeClr val="dk1"/>
                </a:solidFill>
                <a:latin typeface="Times New Roman"/>
                <a:ea typeface="Times New Roman"/>
                <a:cs typeface="Times New Roman"/>
                <a:sym typeface="Times New Roman"/>
              </a:defRPr>
            </a:lvl2pPr>
            <a:lvl3pPr marL="1371600" marR="0" lvl="2" indent="-381000" algn="l" rtl="0">
              <a:lnSpc>
                <a:spcPct val="100000"/>
              </a:lnSpc>
              <a:spcBef>
                <a:spcPts val="480"/>
              </a:spcBef>
              <a:spcAft>
                <a:spcPts val="0"/>
              </a:spcAft>
              <a:buClr>
                <a:schemeClr val="dk1"/>
              </a:buClr>
              <a:buSzPts val="2400"/>
              <a:buFont typeface="Times New Roman"/>
              <a:buChar char="•"/>
              <a:defRPr sz="2400" b="0" i="0" u="none" strike="noStrike" cap="none">
                <a:solidFill>
                  <a:schemeClr val="dk1"/>
                </a:solidFill>
                <a:latin typeface="Times New Roman"/>
                <a:ea typeface="Times New Roman"/>
                <a:cs typeface="Times New Roman"/>
                <a:sym typeface="Times New Roman"/>
              </a:defRPr>
            </a:lvl3pPr>
            <a:lvl4pPr marL="1828800" marR="0" lvl="3"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9pPr>
          </a:lstStyle>
          <a:p>
            <a:endParaRPr/>
          </a:p>
        </p:txBody>
      </p:sp>
      <p:sp>
        <p:nvSpPr>
          <p:cNvPr id="12" name="Google Shape;12;p28"/>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2pPr>
            <a:lvl3pPr marR="0" lvl="2"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3pPr>
            <a:lvl4pPr marR="0" lvl="3"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4pPr>
            <a:lvl5pPr marR="0" lvl="4"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5pPr>
            <a:lvl6pPr marR="0" lvl="5"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6pPr>
            <a:lvl7pPr marR="0" lvl="6"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7pPr>
            <a:lvl8pPr marR="0" lvl="7"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8pPr>
            <a:lvl9pPr marR="0" lvl="8"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9pPr>
          </a:lstStyle>
          <a:p>
            <a:fld id="{B8A5363C-25EE-49EE-8F58-FC70F37812F9}" type="datetime3">
              <a:rPr lang="en-US" smtClean="0"/>
              <a:pPr/>
              <a:t>2 March 2026</a:t>
            </a:fld>
            <a:endParaRPr/>
          </a:p>
        </p:txBody>
      </p:sp>
      <p:sp>
        <p:nvSpPr>
          <p:cNvPr id="13" name="Google Shape;13;p28"/>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2pPr>
            <a:lvl3pPr marR="0" lvl="2"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3pPr>
            <a:lvl4pPr marR="0" lvl="3"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4pPr>
            <a:lvl5pPr marR="0" lvl="4"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5pPr>
            <a:lvl6pPr marR="0" lvl="5"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6pPr>
            <a:lvl7pPr marR="0" lvl="6"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7pPr>
            <a:lvl8pPr marR="0" lvl="7"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8pPr>
            <a:lvl9pPr marR="0" lvl="8"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9pPr>
          </a:lstStyle>
          <a:p>
            <a:endParaRPr/>
          </a:p>
        </p:txBody>
      </p:sp>
      <p:sp>
        <p:nvSpPr>
          <p:cNvPr id="14" name="Google Shape;14;p28"/>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rtl="0">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1pPr>
            <a:lvl2pPr marL="0" marR="0" lvl="1" indent="0" algn="r" rtl="0">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2pPr>
            <a:lvl3pPr marL="0" marR="0" lvl="2" indent="0" algn="r" rtl="0">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3pPr>
            <a:lvl4pPr marL="0" marR="0" lvl="3" indent="0" algn="r" rtl="0">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4pPr>
            <a:lvl5pPr marL="0" marR="0" lvl="4" indent="0" algn="r" rtl="0">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5pPr>
            <a:lvl6pPr marL="0" marR="0" lvl="5" indent="0" algn="r" rtl="0">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6pPr>
            <a:lvl7pPr marL="0" marR="0" lvl="6" indent="0" algn="r" rtl="0">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7pPr>
            <a:lvl8pPr marL="0" marR="0" lvl="7" indent="0" algn="r" rtl="0">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8pPr>
            <a:lvl9pPr marL="0" marR="0" lvl="8" indent="0" algn="r" rtl="0">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0.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3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pic>
        <p:nvPicPr>
          <p:cNvPr id="88" name="Google Shape;88;p1"/>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89" name="Google Shape;89;p1"/>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90" name="Google Shape;90;p1"/>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91" name="Google Shape;91;p1"/>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1</a:t>
            </a:fld>
            <a:endParaRPr sz="1600" b="1" i="0" u="none" strike="noStrike" cap="none">
              <a:solidFill>
                <a:srgbClr val="FFFFFF"/>
              </a:solidFill>
              <a:latin typeface="Comic Sans MS"/>
              <a:ea typeface="Comic Sans MS"/>
              <a:cs typeface="Comic Sans MS"/>
              <a:sym typeface="Comic Sans MS"/>
            </a:endParaRPr>
          </a:p>
        </p:txBody>
      </p:sp>
      <p:sp>
        <p:nvSpPr>
          <p:cNvPr id="92" name="Google Shape;92;p1"/>
          <p:cNvSpPr txBox="1">
            <a:spLocks noGrp="1"/>
          </p:cNvSpPr>
          <p:nvPr>
            <p:ph type="dt" idx="10"/>
          </p:nvPr>
        </p:nvSpPr>
        <p:spPr>
          <a:xfrm>
            <a:off x="0" y="6564325"/>
            <a:ext cx="1948800" cy="412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E1438992-91CF-42A5-9A63-D24A032BB5F6}"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2 March 2026</a:t>
            </a:fld>
            <a:endParaRPr sz="1400" b="1" i="0" u="none" strike="noStrike" cap="none">
              <a:solidFill>
                <a:srgbClr val="FF0066"/>
              </a:solidFill>
              <a:latin typeface="Arial Rounded"/>
              <a:ea typeface="Arial Rounded"/>
              <a:cs typeface="Arial Rounded"/>
              <a:sym typeface="Arial Rounded"/>
            </a:endParaRPr>
          </a:p>
        </p:txBody>
      </p:sp>
      <p:sp>
        <p:nvSpPr>
          <p:cNvPr id="93" name="Google Shape;93;p1"/>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94" name="Google Shape;94;p1"/>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95" name="Google Shape;95;p1" descr="A picture containing text, sign, watch&#10;&#10;Description automatically generated"/>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96" name="Google Shape;96;p1"/>
          <p:cNvSpPr txBox="1"/>
          <p:nvPr/>
        </p:nvSpPr>
        <p:spPr>
          <a:xfrm>
            <a:off x="827584" y="2503488"/>
            <a:ext cx="7272808" cy="646290"/>
          </a:xfrm>
          <a:prstGeom prst="rect">
            <a:avLst/>
          </a:prstGeom>
          <a:noFill/>
          <a:ln>
            <a:noFill/>
          </a:ln>
        </p:spPr>
        <p:txBody>
          <a:bodyPr spcFirstLastPara="1" wrap="square" lIns="91425" tIns="45700" rIns="91425" bIns="45700" anchor="t" anchorCtr="0">
            <a:spAutoFit/>
          </a:bodyPr>
          <a:lstStyle/>
          <a:p>
            <a:pPr lvl="0" algn="ctr">
              <a:buClr>
                <a:schemeClr val="dk1"/>
              </a:buClr>
              <a:buSzPts val="3600"/>
            </a:pPr>
            <a:r>
              <a:rPr lang="en-US" sz="3600" b="1" dirty="0">
                <a:latin typeface="Times New Roman" panose="02020603050405020304" pitchFamily="18" charset="0"/>
                <a:cs typeface="Times New Roman" panose="02020603050405020304" pitchFamily="18" charset="0"/>
              </a:rPr>
              <a:t>Binary Code Analysis</a:t>
            </a:r>
            <a:endParaRPr lang="en-US" sz="3600" b="1"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97" name="Google Shape;97;p1"/>
          <p:cNvSpPr txBox="1"/>
          <p:nvPr/>
        </p:nvSpPr>
        <p:spPr>
          <a:xfrm>
            <a:off x="4463988" y="5043666"/>
            <a:ext cx="4906297" cy="923289"/>
          </a:xfrm>
          <a:prstGeom prst="rect">
            <a:avLst/>
          </a:prstGeom>
          <a:noFill/>
          <a:ln>
            <a:noFill/>
          </a:ln>
        </p:spPr>
        <p:txBody>
          <a:bodyPr spcFirstLastPara="1" wrap="square" lIns="91425" tIns="45700" rIns="91425" bIns="45700" anchor="t" anchorCtr="0">
            <a:spAutoFit/>
          </a:bodyPr>
          <a:lstStyle/>
          <a:p>
            <a:pPr lvl="0" algn="ctr">
              <a:buClr>
                <a:schemeClr val="dk1"/>
              </a:buClr>
              <a:buSzPts val="1800"/>
            </a:pPr>
            <a:r>
              <a:rPr lang="en-US" sz="1800" b="1" dirty="0">
                <a:solidFill>
                  <a:schemeClr val="dk1"/>
                </a:solidFill>
                <a:latin typeface="Times New Roman"/>
                <a:ea typeface="Times New Roman"/>
                <a:cs typeface="Times New Roman"/>
                <a:sym typeface="Times New Roman"/>
              </a:rPr>
              <a:t>Akash K , 23BCS098</a:t>
            </a:r>
          </a:p>
          <a:p>
            <a:pPr lvl="0" algn="ctr">
              <a:buClr>
                <a:schemeClr val="dk1"/>
              </a:buClr>
              <a:buSzPts val="1800"/>
            </a:pPr>
            <a:r>
              <a:rPr lang="en-US" sz="1800" b="1" dirty="0">
                <a:solidFill>
                  <a:schemeClr val="dk1"/>
                </a:solidFill>
                <a:latin typeface="Times New Roman"/>
                <a:ea typeface="Times New Roman"/>
                <a:cs typeface="Times New Roman"/>
                <a:sym typeface="Times New Roman"/>
              </a:rPr>
              <a:t>Mohamed Labir O.A , 23BCS107</a:t>
            </a:r>
          </a:p>
          <a:p>
            <a:pPr marL="0" marR="0" lvl="0" indent="0" algn="ctr" rtl="0">
              <a:lnSpc>
                <a:spcPct val="100000"/>
              </a:lnSpc>
              <a:spcBef>
                <a:spcPts val="0"/>
              </a:spcBef>
              <a:spcAft>
                <a:spcPts val="0"/>
              </a:spcAft>
              <a:buClr>
                <a:schemeClr val="dk1"/>
              </a:buClr>
              <a:buSzPts val="1800"/>
              <a:buFont typeface="Times New Roman"/>
              <a:buNone/>
            </a:pPr>
            <a:endParaRPr lang="en-US" sz="1800" b="1" i="0" u="none" strike="noStrike" cap="none" dirty="0">
              <a:solidFill>
                <a:schemeClr val="dk1"/>
              </a:solidFill>
              <a:latin typeface="Times New Roman"/>
              <a:ea typeface="Times New Roman"/>
              <a:cs typeface="Times New Roman"/>
              <a:sym typeface="Times New Roman"/>
            </a:endParaRPr>
          </a:p>
        </p:txBody>
      </p:sp>
      <p:sp>
        <p:nvSpPr>
          <p:cNvPr id="2" name="Google Shape;97;p1">
            <a:extLst>
              <a:ext uri="{FF2B5EF4-FFF2-40B4-BE49-F238E27FC236}">
                <a16:creationId xmlns:a16="http://schemas.microsoft.com/office/drawing/2014/main" id="{CF46A962-0F70-96C9-324D-9F297AC3737A}"/>
              </a:ext>
            </a:extLst>
          </p:cNvPr>
          <p:cNvSpPr txBox="1"/>
          <p:nvPr/>
        </p:nvSpPr>
        <p:spPr>
          <a:xfrm>
            <a:off x="0" y="4918220"/>
            <a:ext cx="3752411" cy="147728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Times New Roman"/>
              <a:buNone/>
            </a:pPr>
            <a:r>
              <a:rPr lang="en-US" sz="1800" b="1" i="0" u="none" strike="noStrike" cap="none" dirty="0">
                <a:solidFill>
                  <a:schemeClr val="dk1"/>
                </a:solidFill>
                <a:latin typeface="Times New Roman"/>
                <a:ea typeface="Times New Roman"/>
                <a:cs typeface="Times New Roman"/>
                <a:sym typeface="Times New Roman"/>
              </a:rPr>
              <a:t>GUIDED BY,</a:t>
            </a:r>
          </a:p>
          <a:p>
            <a:pPr marL="0" marR="0" lvl="0" indent="0" algn="ctr" rtl="0">
              <a:lnSpc>
                <a:spcPct val="100000"/>
              </a:lnSpc>
              <a:spcBef>
                <a:spcPts val="0"/>
              </a:spcBef>
              <a:spcAft>
                <a:spcPts val="0"/>
              </a:spcAft>
              <a:buClr>
                <a:schemeClr val="dk1"/>
              </a:buClr>
              <a:buSzPts val="1800"/>
              <a:buFont typeface="Times New Roman"/>
              <a:buNone/>
            </a:pPr>
            <a:endParaRPr lang="en-US" sz="1800" b="1" i="0" u="none" strike="noStrike" cap="none" dirty="0">
              <a:solidFill>
                <a:schemeClr val="dk1"/>
              </a:solidFill>
              <a:latin typeface="Times New Roman"/>
              <a:ea typeface="Times New Roman"/>
              <a:cs typeface="Times New Roman"/>
              <a:sym typeface="Times New Roman"/>
            </a:endParaRPr>
          </a:p>
          <a:p>
            <a:pPr lvl="0" algn="ctr">
              <a:buClr>
                <a:schemeClr val="dk1"/>
              </a:buClr>
              <a:buSzPts val="1800"/>
            </a:pPr>
            <a:r>
              <a:rPr lang="en-IN" sz="1800" b="1" dirty="0" err="1">
                <a:latin typeface="Times New Roman" panose="02020603050405020304" pitchFamily="18" charset="0"/>
                <a:cs typeface="Times New Roman" panose="02020603050405020304" pitchFamily="18" charset="0"/>
              </a:rPr>
              <a:t>Mrs.C.Abinaya</a:t>
            </a:r>
            <a:r>
              <a:rPr lang="en-IN" sz="1800" b="1" dirty="0">
                <a:latin typeface="Times New Roman" panose="02020603050405020304" pitchFamily="18" charset="0"/>
                <a:cs typeface="Times New Roman" panose="02020603050405020304" pitchFamily="18" charset="0"/>
              </a:rPr>
              <a:t> Devi</a:t>
            </a:r>
            <a:endParaRPr lang="en-US" sz="1800" b="1"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lvl="0" algn="ctr">
              <a:buClr>
                <a:schemeClr val="dk1"/>
              </a:buClr>
              <a:buSzPts val="1800"/>
            </a:pPr>
            <a:r>
              <a:rPr lang="en-US" sz="1800" b="1" dirty="0">
                <a:solidFill>
                  <a:schemeClr val="dk1"/>
                </a:solidFill>
                <a:latin typeface="Times New Roman"/>
                <a:ea typeface="Times New Roman"/>
                <a:cs typeface="Times New Roman"/>
                <a:sym typeface="Times New Roman"/>
              </a:rPr>
              <a:t>Assistant Professor</a:t>
            </a:r>
          </a:p>
          <a:p>
            <a:pPr marL="0" marR="0" lvl="0" indent="0" algn="ctr" rtl="0">
              <a:lnSpc>
                <a:spcPct val="100000"/>
              </a:lnSpc>
              <a:spcBef>
                <a:spcPts val="0"/>
              </a:spcBef>
              <a:spcAft>
                <a:spcPts val="0"/>
              </a:spcAft>
              <a:buClr>
                <a:schemeClr val="dk1"/>
              </a:buClr>
              <a:buSzPts val="1800"/>
              <a:buFont typeface="Times New Roman"/>
              <a:buNone/>
            </a:pPr>
            <a:endParaRPr lang="en-US" sz="1800" b="1" i="0" u="none" strike="noStrike" cap="none" dirty="0">
              <a:solidFill>
                <a:schemeClr val="dk1"/>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pic>
        <p:nvPicPr>
          <p:cNvPr id="149" name="Google Shape;149;p12"/>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50" name="Google Shape;150;p12"/>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51" name="Google Shape;151;p12"/>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52" name="Google Shape;152;p12"/>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2</a:t>
            </a:fld>
            <a:endParaRPr sz="1600" b="1" i="0" u="none" strike="noStrike" cap="none">
              <a:solidFill>
                <a:srgbClr val="FFFFFF"/>
              </a:solidFill>
              <a:latin typeface="Comic Sans MS"/>
              <a:ea typeface="Comic Sans MS"/>
              <a:cs typeface="Comic Sans MS"/>
              <a:sym typeface="Comic Sans MS"/>
            </a:endParaRPr>
          </a:p>
        </p:txBody>
      </p:sp>
      <p:sp>
        <p:nvSpPr>
          <p:cNvPr id="153" name="Google Shape;153;p12"/>
          <p:cNvSpPr txBox="1">
            <a:spLocks noGrp="1"/>
          </p:cNvSpPr>
          <p:nvPr>
            <p:ph type="body" idx="1"/>
          </p:nvPr>
        </p:nvSpPr>
        <p:spPr>
          <a:xfrm>
            <a:off x="303090" y="1168037"/>
            <a:ext cx="8247185" cy="5250225"/>
          </a:xfrm>
          <a:prstGeom prst="rect">
            <a:avLst/>
          </a:prstGeom>
          <a:noFill/>
          <a:ln>
            <a:noFill/>
          </a:ln>
        </p:spPr>
        <p:txBody>
          <a:bodyPr spcFirstLastPara="1" wrap="square" lIns="91425" tIns="45700" rIns="91425" bIns="45700" anchor="t" anchorCtr="0">
            <a:noAutofit/>
          </a:bodyPr>
          <a:lstStyle/>
          <a:p>
            <a:pPr lvl="0">
              <a:lnSpc>
                <a:spcPct val="150000"/>
              </a:lnSpc>
              <a:buFont typeface="Arial" panose="020B0604020202020204" pitchFamily="34" charset="0"/>
              <a:buChar char="•"/>
            </a:pPr>
            <a:r>
              <a:rPr lang="en-US" sz="2300" dirty="0"/>
              <a:t>Binary Code Similarity Detection (BCSD) is a critical technique used in malware detection, vulnerability discovery, software plagiarism detection, patch analysis, reverse engineering.</a:t>
            </a:r>
          </a:p>
          <a:p>
            <a:pPr lvl="0">
              <a:lnSpc>
                <a:spcPct val="150000"/>
              </a:lnSpc>
              <a:buFont typeface="Arial" panose="020B0604020202020204" pitchFamily="34" charset="0"/>
              <a:buChar char="•"/>
            </a:pPr>
            <a:r>
              <a:rPr lang="en-US" sz="2400" dirty="0"/>
              <a:t>Traditional BCSD methods rely on handcrafted features or graph-based matching techniques, which struggle with cross-complier variations, cross-optimization levels.</a:t>
            </a:r>
          </a:p>
          <a:p>
            <a:pPr lvl="0">
              <a:lnSpc>
                <a:spcPct val="150000"/>
              </a:lnSpc>
              <a:buFont typeface="Arial" panose="020B0604020202020204" pitchFamily="34" charset="0"/>
              <a:buChar char="•"/>
            </a:pPr>
            <a:r>
              <a:rPr lang="en-US" sz="2400" dirty="0"/>
              <a:t>Large Language Models (LLMs) to improve binary similarity detection by converting binary code into high-level source-like representations and then performing similarity analysis.</a:t>
            </a:r>
            <a:endParaRPr sz="2300" dirty="0">
              <a:latin typeface="Times New Roman" pitchFamily="18" charset="0"/>
              <a:cs typeface="Times New Roman" pitchFamily="18" charset="0"/>
            </a:endParaRPr>
          </a:p>
        </p:txBody>
      </p:sp>
      <p:sp>
        <p:nvSpPr>
          <p:cNvPr id="154" name="Google Shape;154;p12"/>
          <p:cNvSpPr txBox="1">
            <a:spLocks noGrp="1"/>
          </p:cNvSpPr>
          <p:nvPr>
            <p:ph type="dt" idx="10"/>
          </p:nvPr>
        </p:nvSpPr>
        <p:spPr>
          <a:xfrm>
            <a:off x="0" y="6550025"/>
            <a:ext cx="19050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E6DFCBC0-FF8D-4DBE-9B7B-D46C9E3C5A7A}"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2 March 2026</a:t>
            </a:fld>
            <a:endParaRPr sz="1400" b="1" i="0" u="none" strike="noStrike" cap="none">
              <a:solidFill>
                <a:srgbClr val="FF0066"/>
              </a:solidFill>
              <a:latin typeface="Arial Rounded"/>
              <a:ea typeface="Arial Rounded"/>
              <a:cs typeface="Arial Rounded"/>
              <a:sym typeface="Arial Rounded"/>
            </a:endParaRPr>
          </a:p>
        </p:txBody>
      </p:sp>
      <p:sp>
        <p:nvSpPr>
          <p:cNvPr id="155" name="Google Shape;155;p12"/>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56" name="Google Shape;156;p12"/>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57" name="Google Shape;157;p12" descr="A picture containing text, sign, watch&#10;&#10;Description automatically generated"/>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58" name="Google Shape;158;p12"/>
          <p:cNvSpPr txBox="1"/>
          <p:nvPr/>
        </p:nvSpPr>
        <p:spPr>
          <a:xfrm>
            <a:off x="596107" y="576009"/>
            <a:ext cx="3581400"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3200"/>
              <a:buFont typeface="Times New Roman"/>
              <a:buNone/>
            </a:pPr>
            <a:r>
              <a:rPr lang="en-US" sz="2800" b="1" i="0" u="none" strike="noStrike" cap="none" dirty="0">
                <a:solidFill>
                  <a:schemeClr val="dk1"/>
                </a:solidFill>
                <a:latin typeface="Times New Roman"/>
                <a:ea typeface="Times New Roman"/>
                <a:cs typeface="Times New Roman"/>
                <a:sym typeface="Times New Roman"/>
              </a:rPr>
              <a:t>Introduction</a:t>
            </a:r>
            <a:endParaRPr sz="2800" b="0" i="0" u="none" strike="noStrike" cap="none" dirty="0">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pic>
        <p:nvPicPr>
          <p:cNvPr id="104" name="Google Shape;104;g13e7f44d304_0_0"/>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05" name="Google Shape;105;g13e7f44d304_0_0"/>
          <p:cNvSpPr txBox="1"/>
          <p:nvPr/>
        </p:nvSpPr>
        <p:spPr>
          <a:xfrm>
            <a:off x="2273300" y="6550025"/>
            <a:ext cx="4597500" cy="307800"/>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dirty="0">
                <a:solidFill>
                  <a:srgbClr val="47FFD0"/>
                </a:solidFill>
                <a:latin typeface="Comic Sans MS"/>
                <a:ea typeface="Comic Sans MS"/>
                <a:cs typeface="Comic Sans MS"/>
                <a:sym typeface="Comic Sans MS"/>
              </a:rPr>
              <a:t>Department of Computer Science and Engineering </a:t>
            </a:r>
            <a:endParaRPr sz="1400" b="0" i="0" u="none" strike="noStrike" cap="none" dirty="0">
              <a:solidFill>
                <a:srgbClr val="000000"/>
              </a:solidFill>
              <a:latin typeface="Arial"/>
              <a:ea typeface="Arial"/>
              <a:cs typeface="Arial"/>
              <a:sym typeface="Arial"/>
            </a:endParaRPr>
          </a:p>
        </p:txBody>
      </p:sp>
      <p:pic>
        <p:nvPicPr>
          <p:cNvPr id="106" name="Google Shape;106;g13e7f44d304_0_0"/>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07" name="Google Shape;107;g13e7f44d304_0_0"/>
          <p:cNvSpPr/>
          <p:nvPr/>
        </p:nvSpPr>
        <p:spPr>
          <a:xfrm>
            <a:off x="8550275" y="6553200"/>
            <a:ext cx="593700" cy="306300"/>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3</a:t>
            </a:fld>
            <a:endParaRPr sz="1600" b="1" i="0" u="none" strike="noStrike" cap="none">
              <a:solidFill>
                <a:srgbClr val="FFFFFF"/>
              </a:solidFill>
              <a:latin typeface="Comic Sans MS"/>
              <a:ea typeface="Comic Sans MS"/>
              <a:cs typeface="Comic Sans MS"/>
              <a:sym typeface="Comic Sans MS"/>
            </a:endParaRPr>
          </a:p>
        </p:txBody>
      </p:sp>
      <p:sp>
        <p:nvSpPr>
          <p:cNvPr id="108" name="Google Shape;108;g13e7f44d304_0_0"/>
          <p:cNvSpPr txBox="1">
            <a:spLocks noGrp="1"/>
          </p:cNvSpPr>
          <p:nvPr>
            <p:ph type="dt" idx="10"/>
          </p:nvPr>
        </p:nvSpPr>
        <p:spPr>
          <a:xfrm>
            <a:off x="-1" y="6564313"/>
            <a:ext cx="1981201" cy="307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D4679909-0E7E-462F-91D5-8FC128A19CEB}"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2 March 2026</a:t>
            </a:fld>
            <a:endParaRPr sz="1400" b="1" i="0" u="none" strike="noStrike" cap="none" dirty="0">
              <a:solidFill>
                <a:srgbClr val="FF0066"/>
              </a:solidFill>
              <a:latin typeface="Arial Rounded"/>
              <a:ea typeface="Arial Rounded"/>
              <a:cs typeface="Arial Rounded"/>
              <a:sym typeface="Arial Rounded"/>
            </a:endParaRPr>
          </a:p>
        </p:txBody>
      </p:sp>
      <p:sp>
        <p:nvSpPr>
          <p:cNvPr id="109" name="Google Shape;109;g13e7f44d304_0_0"/>
          <p:cNvSpPr txBox="1"/>
          <p:nvPr/>
        </p:nvSpPr>
        <p:spPr>
          <a:xfrm>
            <a:off x="919163" y="0"/>
            <a:ext cx="7305600" cy="477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10" name="Google Shape;110;g13e7f44d304_0_0"/>
          <p:cNvSpPr/>
          <p:nvPr/>
        </p:nvSpPr>
        <p:spPr>
          <a:xfrm>
            <a:off x="8355013" y="20638"/>
            <a:ext cx="777900" cy="777900"/>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11" name="Google Shape;111;g13e7f44d304_0_0" descr="A picture containing text, sign, watch&#10;&#10;Description automatically generated"/>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12" name="Google Shape;112;g13e7f44d304_0_0"/>
          <p:cNvSpPr txBox="1"/>
          <p:nvPr/>
        </p:nvSpPr>
        <p:spPr>
          <a:xfrm>
            <a:off x="482600" y="1288405"/>
            <a:ext cx="3581400"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3200"/>
              <a:buFont typeface="Times New Roman"/>
              <a:buNone/>
            </a:pPr>
            <a:r>
              <a:rPr lang="en-US" sz="2800" b="1" i="0" u="none" strike="noStrike" cap="none" dirty="0">
                <a:solidFill>
                  <a:schemeClr val="dk1"/>
                </a:solidFill>
                <a:latin typeface="Times New Roman"/>
                <a:ea typeface="Times New Roman"/>
                <a:cs typeface="Times New Roman"/>
                <a:sym typeface="Times New Roman"/>
              </a:rPr>
              <a:t>Problem Statement </a:t>
            </a:r>
            <a:endParaRPr sz="2800" b="0" i="0" u="none" strike="noStrike" cap="none" dirty="0">
              <a:solidFill>
                <a:srgbClr val="000000"/>
              </a:solidFill>
              <a:latin typeface="Arial"/>
              <a:ea typeface="Arial"/>
              <a:cs typeface="Arial"/>
              <a:sym typeface="Arial"/>
            </a:endParaRPr>
          </a:p>
        </p:txBody>
      </p:sp>
      <p:sp>
        <p:nvSpPr>
          <p:cNvPr id="2" name="Content Placeholder 4">
            <a:extLst>
              <a:ext uri="{FF2B5EF4-FFF2-40B4-BE49-F238E27FC236}">
                <a16:creationId xmlns:a16="http://schemas.microsoft.com/office/drawing/2014/main" id="{2F0A8B2C-9988-3B6D-61B3-A32EB0DF2BEE}"/>
              </a:ext>
            </a:extLst>
          </p:cNvPr>
          <p:cNvSpPr txBox="1">
            <a:spLocks noChangeArrowheads="1"/>
          </p:cNvSpPr>
          <p:nvPr/>
        </p:nvSpPr>
        <p:spPr>
          <a:xfrm>
            <a:off x="395174" y="1944185"/>
            <a:ext cx="8451951" cy="4620128"/>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114300" indent="0">
              <a:lnSpc>
                <a:spcPct val="150000"/>
              </a:lnSpc>
              <a:spcBef>
                <a:spcPts val="360"/>
              </a:spcBef>
              <a:buClr>
                <a:schemeClr val="dk1"/>
              </a:buClr>
              <a:buSzPts val="1800"/>
              <a:buFont typeface="Times New Roman"/>
              <a:buNone/>
              <a:defRPr sz="3200">
                <a:solidFill>
                  <a:schemeClr val="dk1"/>
                </a:solidFill>
                <a:latin typeface="Times New Roman"/>
                <a:ea typeface="Times New Roman"/>
                <a:cs typeface="Times New Roman"/>
                <a:sym typeface="Times New Roman"/>
              </a:defRPr>
            </a:lvl1pPr>
            <a:lvl2pPr marL="914400" indent="-342900">
              <a:spcBef>
                <a:spcPts val="360"/>
              </a:spcBef>
              <a:buClr>
                <a:schemeClr val="dk1"/>
              </a:buClr>
              <a:buSzPts val="1800"/>
              <a:buFont typeface="Times New Roman"/>
              <a:buChar char="–"/>
              <a:defRPr sz="2800">
                <a:solidFill>
                  <a:schemeClr val="dk1"/>
                </a:solidFill>
                <a:latin typeface="Times New Roman"/>
                <a:ea typeface="Times New Roman"/>
                <a:cs typeface="Times New Roman"/>
                <a:sym typeface="Times New Roman"/>
              </a:defRPr>
            </a:lvl2pPr>
            <a:lvl3pPr marL="1371600" indent="-342900">
              <a:spcBef>
                <a:spcPts val="360"/>
              </a:spcBef>
              <a:buClr>
                <a:schemeClr val="dk1"/>
              </a:buClr>
              <a:buSzPts val="1800"/>
              <a:buFont typeface="Times New Roman"/>
              <a:buChar char="•"/>
              <a:defRPr sz="2400">
                <a:solidFill>
                  <a:schemeClr val="dk1"/>
                </a:solidFill>
                <a:latin typeface="Times New Roman"/>
                <a:ea typeface="Times New Roman"/>
                <a:cs typeface="Times New Roman"/>
                <a:sym typeface="Times New Roman"/>
              </a:defRPr>
            </a:lvl3pPr>
            <a:lvl4pPr marL="1828800" indent="-342900">
              <a:spcBef>
                <a:spcPts val="360"/>
              </a:spcBef>
              <a:buClr>
                <a:schemeClr val="dk1"/>
              </a:buClr>
              <a:buSzPts val="1800"/>
              <a:buFont typeface="Times New Roman"/>
              <a:buChar char="–"/>
              <a:defRPr sz="2000">
                <a:solidFill>
                  <a:schemeClr val="dk1"/>
                </a:solidFill>
                <a:latin typeface="Times New Roman"/>
                <a:ea typeface="Times New Roman"/>
                <a:cs typeface="Times New Roman"/>
                <a:sym typeface="Times New Roman"/>
              </a:defRPr>
            </a:lvl4pPr>
            <a:lvl5pPr marL="2286000" indent="-342900">
              <a:spcBef>
                <a:spcPts val="360"/>
              </a:spcBef>
              <a:buClr>
                <a:schemeClr val="dk1"/>
              </a:buClr>
              <a:buSzPts val="1800"/>
              <a:buFont typeface="Times New Roman"/>
              <a:buChar char="»"/>
              <a:defRPr sz="2000">
                <a:solidFill>
                  <a:schemeClr val="dk1"/>
                </a:solidFill>
                <a:latin typeface="Times New Roman"/>
                <a:ea typeface="Times New Roman"/>
                <a:cs typeface="Times New Roman"/>
                <a:sym typeface="Times New Roman"/>
              </a:defRPr>
            </a:lvl5pPr>
            <a:lvl6pPr marL="2743200" indent="-342900">
              <a:lnSpc>
                <a:spcPct val="90000"/>
              </a:lnSpc>
              <a:spcBef>
                <a:spcPts val="500"/>
              </a:spcBef>
              <a:buClr>
                <a:schemeClr val="dk1"/>
              </a:buClr>
              <a:buSzPts val="1800"/>
              <a:buChar char="•"/>
              <a:defRPr sz="1800">
                <a:solidFill>
                  <a:schemeClr val="dk1"/>
                </a:solidFill>
                <a:latin typeface="Times New Roman"/>
                <a:ea typeface="Times New Roman"/>
                <a:cs typeface="Times New Roman"/>
                <a:sym typeface="Times New Roman"/>
              </a:defRPr>
            </a:lvl6pPr>
            <a:lvl7pPr marL="3200400" indent="-342900">
              <a:lnSpc>
                <a:spcPct val="90000"/>
              </a:lnSpc>
              <a:spcBef>
                <a:spcPts val="500"/>
              </a:spcBef>
              <a:buClr>
                <a:schemeClr val="dk1"/>
              </a:buClr>
              <a:buSzPts val="1800"/>
              <a:buChar char="•"/>
              <a:defRPr sz="1800">
                <a:solidFill>
                  <a:schemeClr val="dk1"/>
                </a:solidFill>
                <a:latin typeface="Times New Roman"/>
                <a:ea typeface="Times New Roman"/>
                <a:cs typeface="Times New Roman"/>
                <a:sym typeface="Times New Roman"/>
              </a:defRPr>
            </a:lvl7pPr>
            <a:lvl8pPr marL="3657600" indent="-342900">
              <a:lnSpc>
                <a:spcPct val="90000"/>
              </a:lnSpc>
              <a:spcBef>
                <a:spcPts val="500"/>
              </a:spcBef>
              <a:buClr>
                <a:schemeClr val="dk1"/>
              </a:buClr>
              <a:buSzPts val="1800"/>
              <a:buChar char="•"/>
              <a:defRPr sz="1800">
                <a:solidFill>
                  <a:schemeClr val="dk1"/>
                </a:solidFill>
                <a:latin typeface="Times New Roman"/>
                <a:ea typeface="Times New Roman"/>
                <a:cs typeface="Times New Roman"/>
                <a:sym typeface="Times New Roman"/>
              </a:defRPr>
            </a:lvl8pPr>
            <a:lvl9pPr marL="4114800" indent="-342900">
              <a:lnSpc>
                <a:spcPct val="90000"/>
              </a:lnSpc>
              <a:spcBef>
                <a:spcPts val="500"/>
              </a:spcBef>
              <a:buClr>
                <a:schemeClr val="dk1"/>
              </a:buClr>
              <a:buSzPts val="1800"/>
              <a:buChar char="•"/>
              <a:defRPr sz="1800">
                <a:solidFill>
                  <a:schemeClr val="dk1"/>
                </a:solidFill>
                <a:latin typeface="Times New Roman"/>
                <a:ea typeface="Times New Roman"/>
                <a:cs typeface="Times New Roman"/>
                <a:sym typeface="Times New Roman"/>
              </a:defRPr>
            </a:lvl9pPr>
          </a:lstStyle>
          <a:p>
            <a:r>
              <a:rPr lang="en-US" sz="2400" dirty="0"/>
              <a:t>Detecting similarity between binary programs is challenging because different compilers produce different binaries from the same source code, Optimization levels change control flow and instruction patterns, </a:t>
            </a:r>
            <a:r>
              <a:rPr lang="fr-FR" sz="2400" dirty="0"/>
              <a:t>Obfuscation techniques hide structural patterns.</a:t>
            </a:r>
            <a:r>
              <a:rPr lang="en-US" sz="2400" dirty="0"/>
              <a:t> Therefore, we need a method that captures semantic similarity rather than syntactic similarity.</a:t>
            </a:r>
            <a:endParaRPr lang="en-US" alt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pic>
        <p:nvPicPr>
          <p:cNvPr id="119" name="Google Shape;119;p3"/>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20" name="Google Shape;120;p3"/>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21" name="Google Shape;121;p3"/>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22" name="Google Shape;122;p3"/>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4</a:t>
            </a:fld>
            <a:endParaRPr sz="1600" b="1" i="0" u="none" strike="noStrike" cap="none">
              <a:solidFill>
                <a:srgbClr val="FFFFFF"/>
              </a:solidFill>
              <a:latin typeface="Comic Sans MS"/>
              <a:ea typeface="Comic Sans MS"/>
              <a:cs typeface="Comic Sans MS"/>
              <a:sym typeface="Comic Sans MS"/>
            </a:endParaRPr>
          </a:p>
        </p:txBody>
      </p:sp>
      <p:sp>
        <p:nvSpPr>
          <p:cNvPr id="123" name="Google Shape;123;p3"/>
          <p:cNvSpPr txBox="1">
            <a:spLocks noGrp="1"/>
          </p:cNvSpPr>
          <p:nvPr>
            <p:ph type="dt" idx="10"/>
          </p:nvPr>
        </p:nvSpPr>
        <p:spPr>
          <a:xfrm>
            <a:off x="-1" y="6564313"/>
            <a:ext cx="1927124" cy="4127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25260AD9-E776-4CA9-ACBE-E4F114151A87}"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2 March 2026</a:t>
            </a:fld>
            <a:endParaRPr sz="1400" b="1" i="0" u="none" strike="noStrike" cap="none">
              <a:solidFill>
                <a:srgbClr val="FF0066"/>
              </a:solidFill>
              <a:latin typeface="Arial Rounded"/>
              <a:ea typeface="Arial Rounded"/>
              <a:cs typeface="Arial Rounded"/>
              <a:sym typeface="Arial Rounded"/>
            </a:endParaRPr>
          </a:p>
        </p:txBody>
      </p:sp>
      <p:sp>
        <p:nvSpPr>
          <p:cNvPr id="124" name="Google Shape;124;p3"/>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25" name="Google Shape;125;p3"/>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26" name="Google Shape;126;p3" descr="A picture containing text, sign, watch&#10;&#10;Description automatically generated"/>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27" name="Google Shape;127;p3"/>
          <p:cNvSpPr txBox="1"/>
          <p:nvPr/>
        </p:nvSpPr>
        <p:spPr>
          <a:xfrm>
            <a:off x="600075" y="873344"/>
            <a:ext cx="3581400"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3200"/>
              <a:buFont typeface="Times New Roman"/>
              <a:buNone/>
            </a:pPr>
            <a:r>
              <a:rPr lang="en-US" sz="2800" b="1" i="0" u="none" strike="noStrike" cap="none" dirty="0">
                <a:solidFill>
                  <a:schemeClr val="dk1"/>
                </a:solidFill>
                <a:latin typeface="Times New Roman"/>
                <a:ea typeface="Times New Roman"/>
                <a:cs typeface="Times New Roman"/>
                <a:sym typeface="Times New Roman"/>
              </a:rPr>
              <a:t>Objectives </a:t>
            </a:r>
            <a:endParaRPr sz="2800" b="0" i="0" u="none" strike="noStrike" cap="none">
              <a:solidFill>
                <a:srgbClr val="000000"/>
              </a:solidFill>
              <a:latin typeface="Arial"/>
              <a:ea typeface="Arial"/>
              <a:cs typeface="Arial"/>
              <a:sym typeface="Arial"/>
            </a:endParaRPr>
          </a:p>
        </p:txBody>
      </p:sp>
      <p:sp>
        <p:nvSpPr>
          <p:cNvPr id="2" name="Content Placeholder 4">
            <a:extLst>
              <a:ext uri="{FF2B5EF4-FFF2-40B4-BE49-F238E27FC236}">
                <a16:creationId xmlns:a16="http://schemas.microsoft.com/office/drawing/2014/main" id="{DC529FB4-35F9-975C-2A8F-ECCA8C176B69}"/>
              </a:ext>
            </a:extLst>
          </p:cNvPr>
          <p:cNvSpPr txBox="1">
            <a:spLocks noChangeArrowheads="1"/>
          </p:cNvSpPr>
          <p:nvPr/>
        </p:nvSpPr>
        <p:spPr>
          <a:xfrm>
            <a:off x="406400" y="1775619"/>
            <a:ext cx="8143875" cy="41148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42900" indent="-342900" algn="just">
              <a:lnSpc>
                <a:spcPct val="150000"/>
              </a:lnSpc>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To convert binary code into intermediate/source-level representation using LLM-based methods.</a:t>
            </a:r>
          </a:p>
          <a:p>
            <a:pPr marL="342900" indent="-342900" algn="just">
              <a:lnSpc>
                <a:spcPct val="150000"/>
              </a:lnSpc>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To extract semantic embeddings from converted source code.</a:t>
            </a:r>
          </a:p>
          <a:p>
            <a:pPr marL="342900" indent="-342900" algn="just">
              <a:lnSpc>
                <a:spcPct val="150000"/>
              </a:lnSpc>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To compare binary functions using embedding similarity techniques.</a:t>
            </a:r>
          </a:p>
          <a:p>
            <a:pPr marL="342900" indent="-342900" algn="just">
              <a:lnSpc>
                <a:spcPct val="150000"/>
              </a:lnSpc>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To improve cross-architecture and cross-compiler similarity detection accuracy.</a:t>
            </a:r>
            <a:endParaRPr lang="en-IN" alt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pic>
        <p:nvPicPr>
          <p:cNvPr id="134" name="Google Shape;134;p2"/>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35" name="Google Shape;135;p2"/>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5</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2 March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10;&#10;Description automatically generated"/>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42" name="Google Shape;142;p2"/>
          <p:cNvSpPr txBox="1"/>
          <p:nvPr/>
        </p:nvSpPr>
        <p:spPr>
          <a:xfrm>
            <a:off x="723899" y="1284216"/>
            <a:ext cx="4414157"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3200"/>
              <a:buFont typeface="Times New Roman"/>
              <a:buNone/>
            </a:pPr>
            <a:r>
              <a:rPr lang="en-US" sz="2800" b="1" i="0" u="none" strike="noStrike" cap="none" dirty="0">
                <a:solidFill>
                  <a:schemeClr val="dk1"/>
                </a:solidFill>
                <a:latin typeface="Times New Roman"/>
                <a:ea typeface="Times New Roman"/>
                <a:cs typeface="Times New Roman"/>
                <a:sym typeface="Times New Roman"/>
              </a:rPr>
              <a:t>Expected Outcomes </a:t>
            </a:r>
            <a:endParaRPr sz="2800" b="0" i="0" u="none" strike="noStrike" cap="none" dirty="0">
              <a:solidFill>
                <a:srgbClr val="000000"/>
              </a:solidFill>
              <a:latin typeface="Arial"/>
              <a:ea typeface="Arial"/>
              <a:cs typeface="Arial"/>
              <a:sym typeface="Arial"/>
            </a:endParaRPr>
          </a:p>
        </p:txBody>
      </p:sp>
      <p:sp>
        <p:nvSpPr>
          <p:cNvPr id="2" name="Content Placeholder 4">
            <a:extLst>
              <a:ext uri="{FF2B5EF4-FFF2-40B4-BE49-F238E27FC236}">
                <a16:creationId xmlns:a16="http://schemas.microsoft.com/office/drawing/2014/main" id="{31C0CDC5-56C2-C101-C718-85FE3952B51C}"/>
              </a:ext>
            </a:extLst>
          </p:cNvPr>
          <p:cNvSpPr txBox="1">
            <a:spLocks noChangeArrowheads="1"/>
          </p:cNvSpPr>
          <p:nvPr/>
        </p:nvSpPr>
        <p:spPr>
          <a:xfrm>
            <a:off x="600075" y="2153874"/>
            <a:ext cx="8143875" cy="41148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42900" indent="-342900" algn="just">
              <a:lnSpc>
                <a:spcPct val="150000"/>
              </a:lnSpc>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Improved semantic similarity detection accuracy.</a:t>
            </a:r>
          </a:p>
          <a:p>
            <a:pPr marL="342900" indent="-342900" algn="just">
              <a:lnSpc>
                <a:spcPct val="150000"/>
              </a:lnSpc>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Detect similar functions compiled with different compilers.</a:t>
            </a:r>
          </a:p>
          <a:p>
            <a:pPr marL="342900" indent="-342900" algn="just">
              <a:lnSpc>
                <a:spcPct val="150000"/>
              </a:lnSpc>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Identify vulnerable code across software versions.</a:t>
            </a:r>
          </a:p>
          <a:p>
            <a:pPr marL="342900" indent="-342900" algn="just">
              <a:lnSpc>
                <a:spcPct val="150000"/>
              </a:lnSpc>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Perform scalable binary similarity search</a:t>
            </a:r>
          </a:p>
          <a:p>
            <a:pPr algn="just">
              <a:spcBef>
                <a:spcPct val="0"/>
              </a:spcBef>
              <a:tabLst>
                <a:tab pos="520700" algn="l"/>
              </a:tabLst>
              <a:defRPr/>
            </a:pPr>
            <a:endParaRPr lang="en-IN" alt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pic>
        <p:nvPicPr>
          <p:cNvPr id="134" name="Google Shape;134;p2"/>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35" name="Google Shape;135;p2"/>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6</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2 March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10;&#10;Description automatically generated"/>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42" name="Google Shape;142;p2"/>
          <p:cNvSpPr txBox="1"/>
          <p:nvPr/>
        </p:nvSpPr>
        <p:spPr>
          <a:xfrm>
            <a:off x="2426040" y="685905"/>
            <a:ext cx="4414157"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3200"/>
              <a:buFont typeface="Times New Roman"/>
              <a:buNone/>
            </a:pPr>
            <a:r>
              <a:rPr lang="en-US" sz="2800" b="1" i="0" u="none" strike="noStrike" cap="none" dirty="0">
                <a:solidFill>
                  <a:schemeClr val="dk1"/>
                </a:solidFill>
                <a:latin typeface="Times New Roman"/>
                <a:ea typeface="Times New Roman"/>
                <a:cs typeface="Times New Roman"/>
                <a:sym typeface="Times New Roman"/>
              </a:rPr>
              <a:t>Literature Survey </a:t>
            </a:r>
            <a:r>
              <a:rPr lang="en-US" sz="2800" b="1" dirty="0">
                <a:solidFill>
                  <a:schemeClr val="dk1"/>
                </a:solidFill>
                <a:latin typeface="Times New Roman"/>
                <a:ea typeface="Times New Roman"/>
                <a:cs typeface="Times New Roman"/>
                <a:sym typeface="Times New Roman"/>
              </a:rPr>
              <a:t>- 1</a:t>
            </a:r>
            <a:endParaRPr lang="en-US" sz="2800" b="1" i="0" u="none" strike="noStrike" cap="none" dirty="0">
              <a:solidFill>
                <a:schemeClr val="accent1">
                  <a:lumMod val="75000"/>
                </a:schemeClr>
              </a:solidFill>
              <a:latin typeface="Times New Roman"/>
              <a:ea typeface="Times New Roman"/>
              <a:cs typeface="Times New Roman"/>
              <a:sym typeface="Times New Roman"/>
            </a:endParaRPr>
          </a:p>
        </p:txBody>
      </p:sp>
      <p:sp>
        <p:nvSpPr>
          <p:cNvPr id="2" name="Content Placeholder 4">
            <a:extLst>
              <a:ext uri="{FF2B5EF4-FFF2-40B4-BE49-F238E27FC236}">
                <a16:creationId xmlns:a16="http://schemas.microsoft.com/office/drawing/2014/main" id="{31C0CDC5-56C2-C101-C718-85FE3952B51C}"/>
              </a:ext>
            </a:extLst>
          </p:cNvPr>
          <p:cNvSpPr txBox="1">
            <a:spLocks noChangeArrowheads="1"/>
          </p:cNvSpPr>
          <p:nvPr/>
        </p:nvSpPr>
        <p:spPr>
          <a:xfrm>
            <a:off x="171450" y="1399155"/>
            <a:ext cx="8961438" cy="4965131"/>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2400" b="1" dirty="0">
                <a:latin typeface="Times New Roman" panose="02020603050405020304" pitchFamily="18" charset="0"/>
                <a:cs typeface="Times New Roman" panose="02020603050405020304" pitchFamily="18" charset="0"/>
              </a:rPr>
              <a:t>Ding et al. (2019)</a:t>
            </a:r>
            <a:r>
              <a:rPr lang="en-US" sz="2400" dirty="0">
                <a:latin typeface="Times New Roman" panose="02020603050405020304" pitchFamily="18" charset="0"/>
                <a:cs typeface="Times New Roman" panose="02020603050405020304" pitchFamily="18" charset="0"/>
              </a:rPr>
              <a:t> developed </a:t>
            </a:r>
            <a:r>
              <a:rPr lang="en-US" sz="2400" b="1" dirty="0">
                <a:latin typeface="Times New Roman" panose="02020603050405020304" pitchFamily="18" charset="0"/>
                <a:cs typeface="Times New Roman" panose="02020603050405020304" pitchFamily="18" charset="0"/>
              </a:rPr>
              <a:t>Asm2Vec</a:t>
            </a:r>
            <a:r>
              <a:rPr lang="en-US" sz="2400" dirty="0">
                <a:latin typeface="Times New Roman" panose="02020603050405020304" pitchFamily="18" charset="0"/>
                <a:cs typeface="Times New Roman" panose="02020603050405020304" pitchFamily="18" charset="0"/>
              </a:rPr>
              <a:t>, a neural network-based approach for binary code similarity detection that learns semantic relationships between assembly instructions. The model uses a representation learning technique inspired by PV-DM to embed assembly functions as vectors, making it robust against code obfuscation and compiler optimizations. It processes instruction sequences from disassembled binary code to produce function-level embeddings used for clone search.</a:t>
            </a:r>
          </a:p>
          <a:p>
            <a:endParaRPr lang="en-US" sz="2400" b="1" dirty="0">
              <a:latin typeface="Times New Roman" panose="02020603050405020304" pitchFamily="18" charset="0"/>
              <a:cs typeface="Times New Roman" panose="02020603050405020304" pitchFamily="18" charset="0"/>
            </a:endParaRPr>
          </a:p>
          <a:p>
            <a:endParaRPr lang="en-US" sz="1600" b="1" dirty="0">
              <a:solidFill>
                <a:srgbClr val="0000CC"/>
              </a:solidFill>
              <a:latin typeface="Times New Roman" panose="02020603050405020304" pitchFamily="18" charset="0"/>
              <a:cs typeface="Times New Roman" panose="02020603050405020304" pitchFamily="18" charset="0"/>
            </a:endParaRPr>
          </a:p>
          <a:p>
            <a:endParaRPr lang="en-US" sz="1600" b="1" dirty="0">
              <a:solidFill>
                <a:srgbClr val="0000CC"/>
              </a:solidFill>
              <a:latin typeface="Times New Roman" panose="02020603050405020304" pitchFamily="18" charset="0"/>
              <a:cs typeface="Times New Roman" panose="02020603050405020304" pitchFamily="18" charset="0"/>
            </a:endParaRPr>
          </a:p>
          <a:p>
            <a:endParaRPr lang="en-US" sz="1600" b="1" dirty="0">
              <a:solidFill>
                <a:srgbClr val="0000CC"/>
              </a:solidFill>
              <a:latin typeface="Times New Roman" panose="02020603050405020304" pitchFamily="18" charset="0"/>
              <a:cs typeface="Times New Roman" panose="02020603050405020304" pitchFamily="18" charset="0"/>
            </a:endParaRPr>
          </a:p>
          <a:p>
            <a:r>
              <a:rPr lang="en-US" sz="1600" b="1" dirty="0">
                <a:solidFill>
                  <a:srgbClr val="0000CC"/>
                </a:solidFill>
                <a:latin typeface="Times New Roman" panose="02020603050405020304" pitchFamily="18" charset="0"/>
                <a:cs typeface="Times New Roman" panose="02020603050405020304" pitchFamily="18" charset="0"/>
              </a:rPr>
              <a:t>Reference:</a:t>
            </a:r>
            <a:r>
              <a:rPr lang="en-US" sz="1600" dirty="0">
                <a:solidFill>
                  <a:srgbClr val="0000CC"/>
                </a:solidFill>
                <a:latin typeface="Times New Roman" panose="02020603050405020304" pitchFamily="18" charset="0"/>
                <a:cs typeface="Times New Roman" panose="02020603050405020304" pitchFamily="18" charset="0"/>
              </a:rPr>
              <a:t> S. H. H. Ding, B. C. M. Fung, and P. Charland, "Asm2Vec: Boosting static representation robustness for binary clone search against code obfuscation and compiler optimization," </a:t>
            </a:r>
            <a:r>
              <a:rPr lang="en-US" sz="1600" i="1" dirty="0">
                <a:solidFill>
                  <a:srgbClr val="0000CC"/>
                </a:solidFill>
                <a:latin typeface="Times New Roman" panose="02020603050405020304" pitchFamily="18" charset="0"/>
                <a:cs typeface="Times New Roman" panose="02020603050405020304" pitchFamily="18" charset="0"/>
              </a:rPr>
              <a:t>IEEE Symposium on Security and Privacy (SP)</a:t>
            </a:r>
            <a:r>
              <a:rPr lang="en-US" sz="1600" dirty="0">
                <a:solidFill>
                  <a:srgbClr val="0000CC"/>
                </a:solidFill>
                <a:latin typeface="Times New Roman" panose="02020603050405020304" pitchFamily="18" charset="0"/>
                <a:cs typeface="Times New Roman" panose="02020603050405020304" pitchFamily="18" charset="0"/>
              </a:rPr>
              <a:t>, </a:t>
            </a:r>
            <a:r>
              <a:rPr lang="en-US" sz="1600" dirty="0">
                <a:solidFill>
                  <a:srgbClr val="0000CC"/>
                </a:solidFill>
              </a:rPr>
              <a:t>2019, pp. 472–489.</a:t>
            </a:r>
          </a:p>
          <a:p>
            <a:pPr algn="just">
              <a:spcBef>
                <a:spcPct val="0"/>
              </a:spcBef>
              <a:buFontTx/>
              <a:buNone/>
              <a:defRPr/>
            </a:pPr>
            <a:endParaRPr lang="en-IN" altLang="en-US" sz="2200" i="1" dirty="0">
              <a:solidFill>
                <a:schemeClr val="accent1">
                  <a:lumMod val="75000"/>
                </a:schemeClr>
              </a:solidFill>
              <a:latin typeface="Times New Roman" panose="02020603050405020304" pitchFamily="18" charset="0"/>
              <a:cs typeface="Times New Roman" panose="02020603050405020304" pitchFamily="18" charset="0"/>
            </a:endParaRPr>
          </a:p>
          <a:p>
            <a:pPr>
              <a:spcBef>
                <a:spcPct val="0"/>
              </a:spcBef>
              <a:defRPr/>
            </a:pPr>
            <a:br>
              <a:rPr lang="en-IN" altLang="en-US" sz="2400" dirty="0">
                <a:latin typeface="Times New Roman" panose="02020603050405020304" pitchFamily="18" charset="0"/>
                <a:cs typeface="Times New Roman" panose="02020603050405020304" pitchFamily="18" charset="0"/>
              </a:rPr>
            </a:br>
            <a:endParaRPr lang="en-IN" altLang="en-US" sz="2400" dirty="0">
              <a:latin typeface="Times New Roman" panose="02020603050405020304" pitchFamily="18" charset="0"/>
              <a:cs typeface="Times New Roman" panose="02020603050405020304" pitchFamily="18" charset="0"/>
            </a:endParaRPr>
          </a:p>
          <a:p>
            <a:pPr algn="just">
              <a:spcBef>
                <a:spcPct val="0"/>
              </a:spcBef>
              <a:buFontTx/>
              <a:buNone/>
              <a:tabLst>
                <a:tab pos="520700" algn="l"/>
              </a:tabLst>
              <a:defRPr/>
            </a:pPr>
            <a:endParaRPr lang="en-IN"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7566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pic>
        <p:nvPicPr>
          <p:cNvPr id="134" name="Google Shape;134;p2"/>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35" name="Google Shape;135;p2"/>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7</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2 March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10;&#10;Description automatically generated"/>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42" name="Google Shape;142;p2"/>
          <p:cNvSpPr txBox="1"/>
          <p:nvPr/>
        </p:nvSpPr>
        <p:spPr>
          <a:xfrm>
            <a:off x="2128296" y="847187"/>
            <a:ext cx="5555343"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3200"/>
              <a:buFont typeface="Times New Roman"/>
              <a:buNone/>
            </a:pPr>
            <a:r>
              <a:rPr lang="en-US" sz="2800" b="1" i="0" u="none" strike="noStrike" cap="none" dirty="0">
                <a:solidFill>
                  <a:schemeClr val="dk1"/>
                </a:solidFill>
                <a:latin typeface="Times New Roman"/>
                <a:ea typeface="Times New Roman"/>
                <a:cs typeface="Times New Roman"/>
                <a:sym typeface="Times New Roman"/>
              </a:rPr>
              <a:t>Literature Survey - </a:t>
            </a:r>
            <a:r>
              <a:rPr lang="en-US" sz="2800" b="1" dirty="0">
                <a:solidFill>
                  <a:schemeClr val="dk1"/>
                </a:solidFill>
                <a:latin typeface="Times New Roman"/>
                <a:ea typeface="Times New Roman"/>
                <a:cs typeface="Times New Roman"/>
                <a:sym typeface="Times New Roman"/>
              </a:rPr>
              <a:t>1</a:t>
            </a:r>
            <a:endParaRPr lang="en-US" sz="2800" b="1" i="0" u="none" strike="noStrike" cap="none" dirty="0">
              <a:solidFill>
                <a:schemeClr val="dk1"/>
              </a:solidFill>
              <a:latin typeface="Times New Roman"/>
              <a:ea typeface="Times New Roman"/>
              <a:cs typeface="Times New Roman"/>
              <a:sym typeface="Times New Roman"/>
            </a:endParaRPr>
          </a:p>
        </p:txBody>
      </p:sp>
      <p:sp>
        <p:nvSpPr>
          <p:cNvPr id="4" name="Content Placeholder 4">
            <a:extLst>
              <a:ext uri="{FF2B5EF4-FFF2-40B4-BE49-F238E27FC236}">
                <a16:creationId xmlns:a16="http://schemas.microsoft.com/office/drawing/2014/main" id="{48A1EBB8-5369-8F9C-D6C7-FDEB631958DF}"/>
              </a:ext>
            </a:extLst>
          </p:cNvPr>
          <p:cNvSpPr txBox="1">
            <a:spLocks noChangeArrowheads="1"/>
          </p:cNvSpPr>
          <p:nvPr/>
        </p:nvSpPr>
        <p:spPr>
          <a:xfrm>
            <a:off x="500062" y="1836920"/>
            <a:ext cx="8143875" cy="371475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61950" indent="-361950" algn="just">
              <a:spcBef>
                <a:spcPct val="0"/>
              </a:spcBef>
              <a:buFontTx/>
              <a:buNone/>
              <a:tabLst>
                <a:tab pos="520700" algn="l"/>
              </a:tabLst>
              <a:defRPr/>
            </a:pPr>
            <a:r>
              <a:rPr lang="en-US" altLang="en-US" sz="2400" b="1" dirty="0">
                <a:solidFill>
                  <a:srgbClr val="C00000"/>
                </a:solidFill>
                <a:latin typeface="Times New Roman" panose="02020603050405020304" pitchFamily="18" charset="0"/>
                <a:cs typeface="Times New Roman" panose="02020603050405020304" pitchFamily="18" charset="0"/>
              </a:rPr>
              <a:t>Merits:</a:t>
            </a:r>
          </a:p>
          <a:p>
            <a:pPr marL="361950" indent="-361950" algn="just">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Effective against code obfuscation and compiler optimizations</a:t>
            </a:r>
          </a:p>
          <a:p>
            <a:pPr marL="361950" indent="-361950" algn="just">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Does not require manual feature engineering</a:t>
            </a:r>
            <a:endParaRPr lang="en-US" altLang="en-US" sz="2400" b="1" dirty="0">
              <a:solidFill>
                <a:srgbClr val="C00000"/>
              </a:solidFill>
              <a:latin typeface="Times New Roman" panose="02020603050405020304" pitchFamily="18" charset="0"/>
              <a:cs typeface="Times New Roman" panose="02020603050405020304" pitchFamily="18" charset="0"/>
            </a:endParaRPr>
          </a:p>
          <a:p>
            <a:pPr marL="361950" indent="-361950" algn="just">
              <a:spcBef>
                <a:spcPct val="0"/>
              </a:spcBef>
              <a:buFontTx/>
              <a:buNone/>
              <a:tabLst>
                <a:tab pos="520700" algn="l"/>
              </a:tabLst>
              <a:defRPr/>
            </a:pPr>
            <a:r>
              <a:rPr lang="en-US" altLang="en-US" sz="2400" b="1" dirty="0">
                <a:solidFill>
                  <a:srgbClr val="C00000"/>
                </a:solidFill>
                <a:latin typeface="Times New Roman" panose="02020603050405020304" pitchFamily="18" charset="0"/>
                <a:cs typeface="Times New Roman" panose="02020603050405020304" pitchFamily="18" charset="0"/>
              </a:rPr>
              <a:t>Demerits:</a:t>
            </a:r>
          </a:p>
          <a:p>
            <a:pPr marL="342900" indent="-342900" algn="just">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Works only on assembly instruction sequences; does not leverage structural information</a:t>
            </a:r>
          </a:p>
          <a:p>
            <a:pPr marL="342900" indent="-342900" algn="just">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Performance degrades significantly in cross-architecture settings</a:t>
            </a:r>
            <a:endParaRPr lang="en-IN"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588219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3">
          <a:extLst>
            <a:ext uri="{FF2B5EF4-FFF2-40B4-BE49-F238E27FC236}">
              <a16:creationId xmlns:a16="http://schemas.microsoft.com/office/drawing/2014/main" id="{33335F25-069E-0D9C-00DA-5E247A63B9A1}"/>
            </a:ext>
          </a:extLst>
        </p:cNvPr>
        <p:cNvGrpSpPr/>
        <p:nvPr/>
      </p:nvGrpSpPr>
      <p:grpSpPr>
        <a:xfrm>
          <a:off x="0" y="0"/>
          <a:ext cx="0" cy="0"/>
          <a:chOff x="0" y="0"/>
          <a:chExt cx="0" cy="0"/>
        </a:xfrm>
      </p:grpSpPr>
      <p:pic>
        <p:nvPicPr>
          <p:cNvPr id="134" name="Google Shape;134;p2">
            <a:extLst>
              <a:ext uri="{FF2B5EF4-FFF2-40B4-BE49-F238E27FC236}">
                <a16:creationId xmlns:a16="http://schemas.microsoft.com/office/drawing/2014/main" id="{492F170B-892A-4412-DB6E-9580E34FCE76}"/>
              </a:ext>
            </a:extLst>
          </p:cNvPr>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35" name="Google Shape;135;p2">
            <a:extLst>
              <a:ext uri="{FF2B5EF4-FFF2-40B4-BE49-F238E27FC236}">
                <a16:creationId xmlns:a16="http://schemas.microsoft.com/office/drawing/2014/main" id="{D58AA65A-8F85-81D4-A1CD-41E8495202ED}"/>
              </a:ext>
            </a:extLst>
          </p:cNvPr>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a:extLst>
              <a:ext uri="{FF2B5EF4-FFF2-40B4-BE49-F238E27FC236}">
                <a16:creationId xmlns:a16="http://schemas.microsoft.com/office/drawing/2014/main" id="{499BC808-6E09-4DF0-194A-B4BB6899964B}"/>
              </a:ext>
            </a:extLst>
          </p:cNvPr>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a:extLst>
              <a:ext uri="{FF2B5EF4-FFF2-40B4-BE49-F238E27FC236}">
                <a16:creationId xmlns:a16="http://schemas.microsoft.com/office/drawing/2014/main" id="{AECA1D50-3FAE-C1FE-C833-EAA366746A3F}"/>
              </a:ext>
            </a:extLst>
          </p:cNvPr>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8</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a:extLst>
              <a:ext uri="{FF2B5EF4-FFF2-40B4-BE49-F238E27FC236}">
                <a16:creationId xmlns:a16="http://schemas.microsoft.com/office/drawing/2014/main" id="{6829D7C8-5ECC-8957-3980-3C603B915DD9}"/>
              </a:ext>
            </a:extLst>
          </p:cNvPr>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2 March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a:extLst>
              <a:ext uri="{FF2B5EF4-FFF2-40B4-BE49-F238E27FC236}">
                <a16:creationId xmlns:a16="http://schemas.microsoft.com/office/drawing/2014/main" id="{7F31BE04-05C0-82EC-A231-7F071D37F4E3}"/>
              </a:ext>
            </a:extLst>
          </p:cNvPr>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a:extLst>
              <a:ext uri="{FF2B5EF4-FFF2-40B4-BE49-F238E27FC236}">
                <a16:creationId xmlns:a16="http://schemas.microsoft.com/office/drawing/2014/main" id="{BDB32B3E-007F-A3E0-0A3D-5E3BC449209E}"/>
              </a:ext>
            </a:extLst>
          </p:cNvPr>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10;&#10;Description automatically generated">
            <a:extLst>
              <a:ext uri="{FF2B5EF4-FFF2-40B4-BE49-F238E27FC236}">
                <a16:creationId xmlns:a16="http://schemas.microsoft.com/office/drawing/2014/main" id="{D937FBB5-9F68-1E9A-F20A-04DE6C32C1B2}"/>
              </a:ext>
            </a:extLst>
          </p:cNvPr>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42" name="Google Shape;142;p2">
            <a:extLst>
              <a:ext uri="{FF2B5EF4-FFF2-40B4-BE49-F238E27FC236}">
                <a16:creationId xmlns:a16="http://schemas.microsoft.com/office/drawing/2014/main" id="{7D2FA03B-E464-E61B-0923-7A38B76AB082}"/>
              </a:ext>
            </a:extLst>
          </p:cNvPr>
          <p:cNvSpPr txBox="1"/>
          <p:nvPr/>
        </p:nvSpPr>
        <p:spPr>
          <a:xfrm>
            <a:off x="2128296" y="847187"/>
            <a:ext cx="5555343"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3200"/>
              <a:buFont typeface="Times New Roman"/>
              <a:buNone/>
            </a:pPr>
            <a:r>
              <a:rPr lang="en-US" sz="2800" b="1" i="0" u="none" strike="noStrike" cap="none" dirty="0">
                <a:solidFill>
                  <a:schemeClr val="dk1"/>
                </a:solidFill>
                <a:latin typeface="Times New Roman"/>
                <a:ea typeface="Times New Roman"/>
                <a:cs typeface="Times New Roman"/>
                <a:sym typeface="Times New Roman"/>
              </a:rPr>
              <a:t>Literature Survey - 2</a:t>
            </a:r>
          </a:p>
        </p:txBody>
      </p:sp>
      <p:sp>
        <p:nvSpPr>
          <p:cNvPr id="4" name="Content Placeholder 4">
            <a:extLst>
              <a:ext uri="{FF2B5EF4-FFF2-40B4-BE49-F238E27FC236}">
                <a16:creationId xmlns:a16="http://schemas.microsoft.com/office/drawing/2014/main" id="{410D5D7F-6149-B4C7-6792-A1A16A56FF4E}"/>
              </a:ext>
            </a:extLst>
          </p:cNvPr>
          <p:cNvSpPr txBox="1">
            <a:spLocks noChangeArrowheads="1"/>
          </p:cNvSpPr>
          <p:nvPr/>
        </p:nvSpPr>
        <p:spPr>
          <a:xfrm>
            <a:off x="238125" y="1530967"/>
            <a:ext cx="8143875" cy="371475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2400" b="1" dirty="0">
                <a:latin typeface="Times New Roman" panose="02020603050405020304" pitchFamily="18" charset="0"/>
                <a:cs typeface="Times New Roman" panose="02020603050405020304" pitchFamily="18" charset="0"/>
              </a:rPr>
              <a:t>Xu et al. (2017)</a:t>
            </a:r>
            <a:r>
              <a:rPr lang="en-US" sz="2400" dirty="0">
                <a:latin typeface="Times New Roman" panose="02020603050405020304" pitchFamily="18" charset="0"/>
                <a:cs typeface="Times New Roman" panose="02020603050405020304" pitchFamily="18" charset="0"/>
              </a:rPr>
              <a:t> proposed </a:t>
            </a:r>
            <a:r>
              <a:rPr lang="en-US" sz="2400" b="1" dirty="0">
                <a:latin typeface="Times New Roman" panose="02020603050405020304" pitchFamily="18" charset="0"/>
                <a:cs typeface="Times New Roman" panose="02020603050405020304" pitchFamily="18" charset="0"/>
              </a:rPr>
              <a:t>Gemini</a:t>
            </a:r>
            <a:r>
              <a:rPr lang="en-US" sz="2400" dirty="0">
                <a:latin typeface="Times New Roman" panose="02020603050405020304" pitchFamily="18" charset="0"/>
                <a:cs typeface="Times New Roman" panose="02020603050405020304" pitchFamily="18" charset="0"/>
              </a:rPr>
              <a:t>, a neural network-based graph embedding approach for cross-platform binary code similarity detection. It transforms the Control Flow Graph (CFG) of each binary function into an attributed CFG by attaching numerical features (instruction count, constants, etc.) to nodes, then uses Structure2vec to embed these graphs. Similarity is assessed using a </a:t>
            </a:r>
            <a:r>
              <a:rPr lang="en-US" sz="2400" dirty="0" err="1">
                <a:latin typeface="Times New Roman" panose="02020603050405020304" pitchFamily="18" charset="0"/>
                <a:cs typeface="Times New Roman" panose="02020603050405020304" pitchFamily="18" charset="0"/>
              </a:rPr>
              <a:t>siamese</a:t>
            </a:r>
            <a:r>
              <a:rPr lang="en-US" sz="2400" dirty="0">
                <a:latin typeface="Times New Roman" panose="02020603050405020304" pitchFamily="18" charset="0"/>
                <a:cs typeface="Times New Roman" panose="02020603050405020304" pitchFamily="18" charset="0"/>
              </a:rPr>
              <a:t> network architecture that compares two function embeddings.</a:t>
            </a:r>
          </a:p>
          <a:p>
            <a:endParaRPr lang="en-US" sz="1600" b="1" dirty="0">
              <a:solidFill>
                <a:srgbClr val="0000CC"/>
              </a:solidFill>
              <a:latin typeface="Times New Roman" panose="02020603050405020304" pitchFamily="18" charset="0"/>
              <a:cs typeface="Times New Roman" panose="02020603050405020304" pitchFamily="18" charset="0"/>
            </a:endParaRPr>
          </a:p>
          <a:p>
            <a:endParaRPr lang="en-US" sz="1600" b="1" dirty="0">
              <a:solidFill>
                <a:srgbClr val="0000CC"/>
              </a:solidFill>
              <a:latin typeface="Times New Roman" panose="02020603050405020304" pitchFamily="18" charset="0"/>
              <a:cs typeface="Times New Roman" panose="02020603050405020304" pitchFamily="18" charset="0"/>
            </a:endParaRPr>
          </a:p>
          <a:p>
            <a:endParaRPr lang="en-US" sz="1600" b="1" dirty="0">
              <a:solidFill>
                <a:srgbClr val="0000CC"/>
              </a:solidFill>
              <a:latin typeface="Times New Roman" panose="02020603050405020304" pitchFamily="18" charset="0"/>
              <a:cs typeface="Times New Roman" panose="02020603050405020304" pitchFamily="18" charset="0"/>
            </a:endParaRPr>
          </a:p>
          <a:p>
            <a:endParaRPr lang="en-US" sz="1600" b="1" dirty="0">
              <a:solidFill>
                <a:srgbClr val="0000CC"/>
              </a:solidFill>
              <a:latin typeface="Times New Roman" panose="02020603050405020304" pitchFamily="18" charset="0"/>
              <a:cs typeface="Times New Roman" panose="02020603050405020304" pitchFamily="18" charset="0"/>
            </a:endParaRPr>
          </a:p>
          <a:p>
            <a:r>
              <a:rPr lang="en-US" sz="1600" b="1" dirty="0">
                <a:solidFill>
                  <a:srgbClr val="0000CC"/>
                </a:solidFill>
                <a:latin typeface="Times New Roman" panose="02020603050405020304" pitchFamily="18" charset="0"/>
                <a:cs typeface="Times New Roman" panose="02020603050405020304" pitchFamily="18" charset="0"/>
              </a:rPr>
              <a:t>Reference:</a:t>
            </a:r>
            <a:r>
              <a:rPr lang="en-US" sz="1600" dirty="0">
                <a:solidFill>
                  <a:srgbClr val="0000CC"/>
                </a:solidFill>
                <a:latin typeface="Times New Roman" panose="02020603050405020304" pitchFamily="18" charset="0"/>
                <a:cs typeface="Times New Roman" panose="02020603050405020304" pitchFamily="18" charset="0"/>
              </a:rPr>
              <a:t> X. Xu, C. Liu, Q. Feng, H. Yin, L. Song, and D. Song, "Neural network-based graph embedding for cross-platform binary code similarity detection," </a:t>
            </a:r>
            <a:r>
              <a:rPr lang="en-US" sz="1600" i="1" dirty="0">
                <a:solidFill>
                  <a:srgbClr val="0000CC"/>
                </a:solidFill>
                <a:latin typeface="Times New Roman" panose="02020603050405020304" pitchFamily="18" charset="0"/>
                <a:cs typeface="Times New Roman" panose="02020603050405020304" pitchFamily="18" charset="0"/>
              </a:rPr>
              <a:t>ACM SIGSAC Conference on Computer and Communications Security</a:t>
            </a:r>
            <a:r>
              <a:rPr lang="en-US" sz="1600" dirty="0">
                <a:solidFill>
                  <a:srgbClr val="0000CC"/>
                </a:solidFill>
                <a:latin typeface="Times New Roman" panose="02020603050405020304" pitchFamily="18" charset="0"/>
                <a:cs typeface="Times New Roman" panose="02020603050405020304" pitchFamily="18" charset="0"/>
              </a:rPr>
              <a:t>, 2017, pp. 363–376.</a:t>
            </a:r>
          </a:p>
          <a:p>
            <a:pPr algn="just">
              <a:spcBef>
                <a:spcPct val="0"/>
              </a:spcBef>
              <a:tabLst>
                <a:tab pos="520700" algn="l"/>
              </a:tabLst>
              <a:defRPr/>
            </a:pPr>
            <a:endParaRPr lang="en-US" altLang="en-US" sz="2400" dirty="0">
              <a:latin typeface="Times New Roman" panose="02020603050405020304" pitchFamily="18" charset="0"/>
              <a:cs typeface="Times New Roman" panose="02020603050405020304" pitchFamily="18" charset="0"/>
            </a:endParaRPr>
          </a:p>
          <a:p>
            <a:pPr marL="762000" lvl="1" indent="-361950" algn="just">
              <a:spcBef>
                <a:spcPct val="0"/>
              </a:spcBef>
              <a:buFontTx/>
              <a:buNone/>
              <a:tabLst>
                <a:tab pos="361950" algn="l"/>
                <a:tab pos="520700" algn="l"/>
              </a:tabLst>
              <a:defRPr/>
            </a:pPr>
            <a:br>
              <a:rPr lang="en-IN" altLang="en-US" sz="2000" dirty="0">
                <a:latin typeface="Times New Roman" panose="02020603050405020304" pitchFamily="18" charset="0"/>
                <a:cs typeface="Times New Roman" panose="02020603050405020304" pitchFamily="18" charset="0"/>
              </a:rPr>
            </a:br>
            <a:endParaRPr lang="en-IN" altLang="en-US" sz="2000" dirty="0">
              <a:latin typeface="Times New Roman" panose="02020603050405020304" pitchFamily="18" charset="0"/>
              <a:cs typeface="Times New Roman" panose="02020603050405020304" pitchFamily="18" charset="0"/>
            </a:endParaRPr>
          </a:p>
          <a:p>
            <a:pPr algn="just">
              <a:spcBef>
                <a:spcPct val="0"/>
              </a:spcBef>
              <a:buFontTx/>
              <a:buNone/>
              <a:tabLst>
                <a:tab pos="520700" algn="l"/>
              </a:tabLst>
              <a:defRPr/>
            </a:pPr>
            <a:endParaRPr lang="en-IN"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918858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3">
          <a:extLst>
            <a:ext uri="{FF2B5EF4-FFF2-40B4-BE49-F238E27FC236}">
              <a16:creationId xmlns:a16="http://schemas.microsoft.com/office/drawing/2014/main" id="{62F86986-FA85-9CBD-CEA2-93448007FA92}"/>
            </a:ext>
          </a:extLst>
        </p:cNvPr>
        <p:cNvGrpSpPr/>
        <p:nvPr/>
      </p:nvGrpSpPr>
      <p:grpSpPr>
        <a:xfrm>
          <a:off x="0" y="0"/>
          <a:ext cx="0" cy="0"/>
          <a:chOff x="0" y="0"/>
          <a:chExt cx="0" cy="0"/>
        </a:xfrm>
      </p:grpSpPr>
      <p:pic>
        <p:nvPicPr>
          <p:cNvPr id="134" name="Google Shape;134;p2">
            <a:extLst>
              <a:ext uri="{FF2B5EF4-FFF2-40B4-BE49-F238E27FC236}">
                <a16:creationId xmlns:a16="http://schemas.microsoft.com/office/drawing/2014/main" id="{C3296ED9-E48F-4E73-1287-9F9962413A56}"/>
              </a:ext>
            </a:extLst>
          </p:cNvPr>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35" name="Google Shape;135;p2">
            <a:extLst>
              <a:ext uri="{FF2B5EF4-FFF2-40B4-BE49-F238E27FC236}">
                <a16:creationId xmlns:a16="http://schemas.microsoft.com/office/drawing/2014/main" id="{42B84F92-9CF3-B25E-CACB-99F4B634CEBF}"/>
              </a:ext>
            </a:extLst>
          </p:cNvPr>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a:extLst>
              <a:ext uri="{FF2B5EF4-FFF2-40B4-BE49-F238E27FC236}">
                <a16:creationId xmlns:a16="http://schemas.microsoft.com/office/drawing/2014/main" id="{F75DB4C2-3DBC-44B9-BA8F-B9F090DF573C}"/>
              </a:ext>
            </a:extLst>
          </p:cNvPr>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a:extLst>
              <a:ext uri="{FF2B5EF4-FFF2-40B4-BE49-F238E27FC236}">
                <a16:creationId xmlns:a16="http://schemas.microsoft.com/office/drawing/2014/main" id="{58AFFFBB-67D1-7CA4-022A-B0A47DD27234}"/>
              </a:ext>
            </a:extLst>
          </p:cNvPr>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9</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a:extLst>
              <a:ext uri="{FF2B5EF4-FFF2-40B4-BE49-F238E27FC236}">
                <a16:creationId xmlns:a16="http://schemas.microsoft.com/office/drawing/2014/main" id="{E7959470-7EFF-34BD-B5F4-376D5EE1F371}"/>
              </a:ext>
            </a:extLst>
          </p:cNvPr>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2 March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a:extLst>
              <a:ext uri="{FF2B5EF4-FFF2-40B4-BE49-F238E27FC236}">
                <a16:creationId xmlns:a16="http://schemas.microsoft.com/office/drawing/2014/main" id="{1A175775-F63D-E3FA-1102-97E17CAB95BD}"/>
              </a:ext>
            </a:extLst>
          </p:cNvPr>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a:extLst>
              <a:ext uri="{FF2B5EF4-FFF2-40B4-BE49-F238E27FC236}">
                <a16:creationId xmlns:a16="http://schemas.microsoft.com/office/drawing/2014/main" id="{1642293A-5462-BD70-D557-017E551E34A0}"/>
              </a:ext>
            </a:extLst>
          </p:cNvPr>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10;&#10;Description automatically generated">
            <a:extLst>
              <a:ext uri="{FF2B5EF4-FFF2-40B4-BE49-F238E27FC236}">
                <a16:creationId xmlns:a16="http://schemas.microsoft.com/office/drawing/2014/main" id="{7C417AC0-BFD8-29B6-46ED-DE564849BC3F}"/>
              </a:ext>
            </a:extLst>
          </p:cNvPr>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42" name="Google Shape;142;p2">
            <a:extLst>
              <a:ext uri="{FF2B5EF4-FFF2-40B4-BE49-F238E27FC236}">
                <a16:creationId xmlns:a16="http://schemas.microsoft.com/office/drawing/2014/main" id="{525043C5-C81A-1465-04E5-251E120BC1E8}"/>
              </a:ext>
            </a:extLst>
          </p:cNvPr>
          <p:cNvSpPr txBox="1"/>
          <p:nvPr/>
        </p:nvSpPr>
        <p:spPr>
          <a:xfrm>
            <a:off x="2128296" y="847187"/>
            <a:ext cx="5555343"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3200"/>
              <a:buFont typeface="Times New Roman"/>
              <a:buNone/>
            </a:pPr>
            <a:r>
              <a:rPr lang="en-US" sz="2800" b="1" i="0" u="none" strike="noStrike" cap="none" dirty="0">
                <a:solidFill>
                  <a:schemeClr val="dk1"/>
                </a:solidFill>
                <a:latin typeface="Times New Roman"/>
                <a:ea typeface="Times New Roman"/>
                <a:cs typeface="Times New Roman"/>
                <a:sym typeface="Times New Roman"/>
              </a:rPr>
              <a:t>Literature Survey - 2</a:t>
            </a:r>
          </a:p>
        </p:txBody>
      </p:sp>
      <p:sp>
        <p:nvSpPr>
          <p:cNvPr id="4" name="Content Placeholder 4">
            <a:extLst>
              <a:ext uri="{FF2B5EF4-FFF2-40B4-BE49-F238E27FC236}">
                <a16:creationId xmlns:a16="http://schemas.microsoft.com/office/drawing/2014/main" id="{9164B110-7557-B9A1-3DF1-2C6D27784126}"/>
              </a:ext>
            </a:extLst>
          </p:cNvPr>
          <p:cNvSpPr txBox="1">
            <a:spLocks noChangeArrowheads="1"/>
          </p:cNvSpPr>
          <p:nvPr/>
        </p:nvSpPr>
        <p:spPr>
          <a:xfrm>
            <a:off x="500062" y="1836920"/>
            <a:ext cx="8143875" cy="371475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61950" indent="-361950" algn="just">
              <a:spcBef>
                <a:spcPct val="0"/>
              </a:spcBef>
              <a:buFontTx/>
              <a:buNone/>
              <a:tabLst>
                <a:tab pos="520700" algn="l"/>
              </a:tabLst>
              <a:defRPr/>
            </a:pPr>
            <a:r>
              <a:rPr lang="en-US" altLang="en-US" sz="2400" b="1" dirty="0">
                <a:solidFill>
                  <a:srgbClr val="C00000"/>
                </a:solidFill>
                <a:latin typeface="Times New Roman" panose="02020603050405020304" pitchFamily="18" charset="0"/>
                <a:cs typeface="Times New Roman" panose="02020603050405020304" pitchFamily="18" charset="0"/>
              </a:rPr>
              <a:t>Merits:</a:t>
            </a:r>
          </a:p>
          <a:p>
            <a:pPr marL="361950" indent="-361950" algn="just">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Captures structural information through CFG representation</a:t>
            </a:r>
          </a:p>
          <a:p>
            <a:pPr marL="361950" indent="-361950" algn="just">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Effective for cross-platform (cross-architecture) detection</a:t>
            </a:r>
            <a:endParaRPr lang="en-US" altLang="en-US" sz="2400" b="1" dirty="0">
              <a:solidFill>
                <a:srgbClr val="C00000"/>
              </a:solidFill>
              <a:latin typeface="Times New Roman" panose="02020603050405020304" pitchFamily="18" charset="0"/>
              <a:cs typeface="Times New Roman" panose="02020603050405020304" pitchFamily="18" charset="0"/>
            </a:endParaRPr>
          </a:p>
          <a:p>
            <a:pPr marL="361950" indent="-361950" algn="just">
              <a:spcBef>
                <a:spcPct val="0"/>
              </a:spcBef>
              <a:buFontTx/>
              <a:buNone/>
              <a:tabLst>
                <a:tab pos="520700" algn="l"/>
              </a:tabLst>
              <a:defRPr/>
            </a:pPr>
            <a:r>
              <a:rPr lang="en-US" altLang="en-US" sz="2400" b="1" dirty="0">
                <a:solidFill>
                  <a:srgbClr val="C00000"/>
                </a:solidFill>
                <a:latin typeface="Times New Roman" panose="02020603050405020304" pitchFamily="18" charset="0"/>
                <a:cs typeface="Times New Roman" panose="02020603050405020304" pitchFamily="18" charset="0"/>
              </a:rPr>
              <a:t>Demerits:</a:t>
            </a:r>
          </a:p>
          <a:p>
            <a:pPr marL="342900" indent="-342900" algn="just">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Attributed CFG features are manually defined and may miss deeper semantics</a:t>
            </a:r>
          </a:p>
          <a:p>
            <a:pPr marL="342900" indent="-342900" algn="just">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Scalability issues with very large or complex CFGs</a:t>
            </a:r>
            <a:endParaRPr lang="en-IN"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162910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3">
          <a:extLst>
            <a:ext uri="{FF2B5EF4-FFF2-40B4-BE49-F238E27FC236}">
              <a16:creationId xmlns:a16="http://schemas.microsoft.com/office/drawing/2014/main" id="{DD5C5DE2-715E-F5A1-AC2E-99314B77C272}"/>
            </a:ext>
          </a:extLst>
        </p:cNvPr>
        <p:cNvGrpSpPr/>
        <p:nvPr/>
      </p:nvGrpSpPr>
      <p:grpSpPr>
        <a:xfrm>
          <a:off x="0" y="0"/>
          <a:ext cx="0" cy="0"/>
          <a:chOff x="0" y="0"/>
          <a:chExt cx="0" cy="0"/>
        </a:xfrm>
      </p:grpSpPr>
      <p:pic>
        <p:nvPicPr>
          <p:cNvPr id="134" name="Google Shape;134;p2">
            <a:extLst>
              <a:ext uri="{FF2B5EF4-FFF2-40B4-BE49-F238E27FC236}">
                <a16:creationId xmlns:a16="http://schemas.microsoft.com/office/drawing/2014/main" id="{BCCDD55A-D819-1BEB-1787-7A4789690B7F}"/>
              </a:ext>
            </a:extLst>
          </p:cNvPr>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35" name="Google Shape;135;p2">
            <a:extLst>
              <a:ext uri="{FF2B5EF4-FFF2-40B4-BE49-F238E27FC236}">
                <a16:creationId xmlns:a16="http://schemas.microsoft.com/office/drawing/2014/main" id="{8FD5220C-195F-4F0E-F5CC-485C4F856D5B}"/>
              </a:ext>
            </a:extLst>
          </p:cNvPr>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a:extLst>
              <a:ext uri="{FF2B5EF4-FFF2-40B4-BE49-F238E27FC236}">
                <a16:creationId xmlns:a16="http://schemas.microsoft.com/office/drawing/2014/main" id="{DB40BFD7-8514-FCFB-293F-6B80E80A0E33}"/>
              </a:ext>
            </a:extLst>
          </p:cNvPr>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a:extLst>
              <a:ext uri="{FF2B5EF4-FFF2-40B4-BE49-F238E27FC236}">
                <a16:creationId xmlns:a16="http://schemas.microsoft.com/office/drawing/2014/main" id="{38B6CE74-D3CB-6751-8066-A6EFB3FF9AF3}"/>
              </a:ext>
            </a:extLst>
          </p:cNvPr>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10</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a:extLst>
              <a:ext uri="{FF2B5EF4-FFF2-40B4-BE49-F238E27FC236}">
                <a16:creationId xmlns:a16="http://schemas.microsoft.com/office/drawing/2014/main" id="{0ABF6E4F-10D7-79FA-9A17-5032421E5D96}"/>
              </a:ext>
            </a:extLst>
          </p:cNvPr>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2 March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a:extLst>
              <a:ext uri="{FF2B5EF4-FFF2-40B4-BE49-F238E27FC236}">
                <a16:creationId xmlns:a16="http://schemas.microsoft.com/office/drawing/2014/main" id="{DE9917DA-BFE0-9E82-21CD-346F3D299CD8}"/>
              </a:ext>
            </a:extLst>
          </p:cNvPr>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a:extLst>
              <a:ext uri="{FF2B5EF4-FFF2-40B4-BE49-F238E27FC236}">
                <a16:creationId xmlns:a16="http://schemas.microsoft.com/office/drawing/2014/main" id="{705A09D5-BA5D-61C9-D083-25C26716A5C2}"/>
              </a:ext>
            </a:extLst>
          </p:cNvPr>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10;&#10;Description automatically generated">
            <a:extLst>
              <a:ext uri="{FF2B5EF4-FFF2-40B4-BE49-F238E27FC236}">
                <a16:creationId xmlns:a16="http://schemas.microsoft.com/office/drawing/2014/main" id="{1810F2A7-23B6-7D25-F4A6-12EBFC53DCCF}"/>
              </a:ext>
            </a:extLst>
          </p:cNvPr>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42" name="Google Shape;142;p2">
            <a:extLst>
              <a:ext uri="{FF2B5EF4-FFF2-40B4-BE49-F238E27FC236}">
                <a16:creationId xmlns:a16="http://schemas.microsoft.com/office/drawing/2014/main" id="{09AE2ECB-1623-CD76-CE20-AD98D6D77DF2}"/>
              </a:ext>
            </a:extLst>
          </p:cNvPr>
          <p:cNvSpPr txBox="1"/>
          <p:nvPr/>
        </p:nvSpPr>
        <p:spPr>
          <a:xfrm>
            <a:off x="2128296" y="847187"/>
            <a:ext cx="5555343"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3200"/>
              <a:buFont typeface="Times New Roman"/>
              <a:buNone/>
            </a:pPr>
            <a:r>
              <a:rPr lang="en-US" sz="2800" b="1" i="0" u="none" strike="noStrike" cap="none" dirty="0">
                <a:solidFill>
                  <a:schemeClr val="dk1"/>
                </a:solidFill>
                <a:latin typeface="Times New Roman"/>
                <a:ea typeface="Times New Roman"/>
                <a:cs typeface="Times New Roman"/>
                <a:sym typeface="Times New Roman"/>
              </a:rPr>
              <a:t>Literature Survey - 3</a:t>
            </a:r>
          </a:p>
        </p:txBody>
      </p:sp>
      <p:sp>
        <p:nvSpPr>
          <p:cNvPr id="4" name="Content Placeholder 4">
            <a:extLst>
              <a:ext uri="{FF2B5EF4-FFF2-40B4-BE49-F238E27FC236}">
                <a16:creationId xmlns:a16="http://schemas.microsoft.com/office/drawing/2014/main" id="{B7033D20-6B26-02E9-D7B8-03D863214A5C}"/>
              </a:ext>
            </a:extLst>
          </p:cNvPr>
          <p:cNvSpPr txBox="1">
            <a:spLocks noChangeArrowheads="1"/>
          </p:cNvSpPr>
          <p:nvPr/>
        </p:nvSpPr>
        <p:spPr>
          <a:xfrm>
            <a:off x="238125" y="1530966"/>
            <a:ext cx="8143875" cy="5015883"/>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2400" b="1" dirty="0">
                <a:latin typeface="Times New Roman" panose="02020603050405020304" pitchFamily="18" charset="0"/>
                <a:cs typeface="Times New Roman" panose="02020603050405020304" pitchFamily="18" charset="0"/>
              </a:rPr>
              <a:t>Massarelli et al. (2019)</a:t>
            </a:r>
            <a:r>
              <a:rPr lang="en-US" sz="2400" dirty="0">
                <a:latin typeface="Times New Roman" panose="02020603050405020304" pitchFamily="18" charset="0"/>
                <a:cs typeface="Times New Roman" panose="02020603050405020304" pitchFamily="18" charset="0"/>
              </a:rPr>
              <a:t> introduced </a:t>
            </a:r>
            <a:r>
              <a:rPr lang="en-US" sz="2400" b="1" dirty="0">
                <a:latin typeface="Times New Roman" panose="02020603050405020304" pitchFamily="18" charset="0"/>
                <a:cs typeface="Times New Roman" panose="02020603050405020304" pitchFamily="18" charset="0"/>
              </a:rPr>
              <a:t>SAFE (Self-Attentive Function Embeddings)</a:t>
            </a:r>
            <a:r>
              <a:rPr lang="en-US" sz="2400" dirty="0">
                <a:latin typeface="Times New Roman" panose="02020603050405020304" pitchFamily="18" charset="0"/>
                <a:cs typeface="Times New Roman" panose="02020603050405020304" pitchFamily="18" charset="0"/>
              </a:rPr>
              <a:t>, which generates embeddings directly from disassembled binary functions using a self-attentive neural network. The approach first trains a Word2Vec model on assembly instructions to learn instruction semantics, then feeds instruction sequences into a self-attention network to produce a fixed-size function embedding. No manual feature engineering or graph construction is required.</a:t>
            </a:r>
          </a:p>
          <a:p>
            <a:endParaRPr lang="en-US" sz="1600" b="1" dirty="0">
              <a:solidFill>
                <a:srgbClr val="0000CC"/>
              </a:solidFill>
              <a:latin typeface="Times New Roman" panose="02020603050405020304" pitchFamily="18" charset="0"/>
              <a:cs typeface="Times New Roman" panose="02020603050405020304" pitchFamily="18" charset="0"/>
            </a:endParaRPr>
          </a:p>
          <a:p>
            <a:endParaRPr lang="en-US" sz="1600" b="1" dirty="0">
              <a:solidFill>
                <a:srgbClr val="0000CC"/>
              </a:solidFill>
              <a:latin typeface="Times New Roman" panose="02020603050405020304" pitchFamily="18" charset="0"/>
              <a:cs typeface="Times New Roman" panose="02020603050405020304" pitchFamily="18" charset="0"/>
            </a:endParaRPr>
          </a:p>
          <a:p>
            <a:endParaRPr lang="en-US" sz="1600" b="1" dirty="0">
              <a:solidFill>
                <a:srgbClr val="0000CC"/>
              </a:solidFill>
              <a:latin typeface="Times New Roman" panose="02020603050405020304" pitchFamily="18" charset="0"/>
              <a:cs typeface="Times New Roman" panose="02020603050405020304" pitchFamily="18" charset="0"/>
            </a:endParaRPr>
          </a:p>
          <a:p>
            <a:endParaRPr lang="en-US" sz="1600" b="1" dirty="0">
              <a:solidFill>
                <a:srgbClr val="0000CC"/>
              </a:solidFill>
              <a:latin typeface="Times New Roman" panose="02020603050405020304" pitchFamily="18" charset="0"/>
              <a:cs typeface="Times New Roman" panose="02020603050405020304" pitchFamily="18" charset="0"/>
            </a:endParaRPr>
          </a:p>
          <a:p>
            <a:r>
              <a:rPr lang="en-US" sz="1600" b="1" dirty="0">
                <a:solidFill>
                  <a:srgbClr val="0000CC"/>
                </a:solidFill>
                <a:latin typeface="Times New Roman" panose="02020603050405020304" pitchFamily="18" charset="0"/>
                <a:cs typeface="Times New Roman" panose="02020603050405020304" pitchFamily="18" charset="0"/>
              </a:rPr>
              <a:t>Reference:</a:t>
            </a:r>
            <a:r>
              <a:rPr lang="en-US" sz="1600" dirty="0">
                <a:solidFill>
                  <a:srgbClr val="0000CC"/>
                </a:solidFill>
                <a:latin typeface="Times New Roman" panose="02020603050405020304" pitchFamily="18" charset="0"/>
                <a:cs typeface="Times New Roman" panose="02020603050405020304" pitchFamily="18" charset="0"/>
              </a:rPr>
              <a:t> L. Massarelli, G. A. Di Luna, F. Petroni, R. Baldoni, and L. </a:t>
            </a:r>
            <a:r>
              <a:rPr lang="en-US" sz="1600" dirty="0" err="1">
                <a:solidFill>
                  <a:srgbClr val="0000CC"/>
                </a:solidFill>
                <a:latin typeface="Times New Roman" panose="02020603050405020304" pitchFamily="18" charset="0"/>
                <a:cs typeface="Times New Roman" panose="02020603050405020304" pitchFamily="18" charset="0"/>
              </a:rPr>
              <a:t>Querzoni</a:t>
            </a:r>
            <a:r>
              <a:rPr lang="en-US" sz="1600" dirty="0">
                <a:solidFill>
                  <a:srgbClr val="0000CC"/>
                </a:solidFill>
                <a:latin typeface="Times New Roman" panose="02020603050405020304" pitchFamily="18" charset="0"/>
                <a:cs typeface="Times New Roman" panose="02020603050405020304" pitchFamily="18" charset="0"/>
              </a:rPr>
              <a:t>, "SAFE: Self-attentive function embeddings for binary similarity," </a:t>
            </a:r>
            <a:r>
              <a:rPr lang="en-US" sz="1600" i="1" dirty="0">
                <a:solidFill>
                  <a:srgbClr val="0000CC"/>
                </a:solidFill>
                <a:latin typeface="Times New Roman" panose="02020603050405020304" pitchFamily="18" charset="0"/>
                <a:cs typeface="Times New Roman" panose="02020603050405020304" pitchFamily="18" charset="0"/>
              </a:rPr>
              <a:t>International Conference on Detection of Intrusions and Malware, and Vulnerability Assessment (DIMVA)</a:t>
            </a:r>
            <a:r>
              <a:rPr lang="en-US" sz="1600" dirty="0">
                <a:solidFill>
                  <a:srgbClr val="0000CC"/>
                </a:solidFill>
                <a:latin typeface="Times New Roman" panose="02020603050405020304" pitchFamily="18" charset="0"/>
                <a:cs typeface="Times New Roman" panose="02020603050405020304" pitchFamily="18" charset="0"/>
              </a:rPr>
              <a:t>, 2019, pp. 309–329.</a:t>
            </a:r>
          </a:p>
          <a:p>
            <a:pPr marL="762000" lvl="1" indent="-361950">
              <a:spcBef>
                <a:spcPct val="0"/>
              </a:spcBef>
              <a:buFontTx/>
              <a:buNone/>
              <a:tabLst>
                <a:tab pos="361950" algn="l"/>
                <a:tab pos="520700" algn="l"/>
              </a:tabLst>
              <a:defRPr/>
            </a:pPr>
            <a:br>
              <a:rPr lang="en-IN" altLang="en-US" sz="2400" dirty="0">
                <a:latin typeface="Times New Roman" panose="02020603050405020304" pitchFamily="18" charset="0"/>
                <a:cs typeface="Times New Roman" panose="02020603050405020304" pitchFamily="18" charset="0"/>
              </a:rPr>
            </a:br>
            <a:endParaRPr lang="en-IN" altLang="en-US" sz="2400" dirty="0">
              <a:latin typeface="Times New Roman" panose="02020603050405020304" pitchFamily="18" charset="0"/>
              <a:cs typeface="Times New Roman" panose="02020603050405020304" pitchFamily="18" charset="0"/>
            </a:endParaRPr>
          </a:p>
          <a:p>
            <a:pPr algn="just">
              <a:spcBef>
                <a:spcPct val="0"/>
              </a:spcBef>
              <a:buFontTx/>
              <a:buNone/>
              <a:tabLst>
                <a:tab pos="520700" algn="l"/>
              </a:tabLst>
              <a:defRPr/>
            </a:pPr>
            <a:endParaRPr lang="en-IN"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493490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3">
          <a:extLst>
            <a:ext uri="{FF2B5EF4-FFF2-40B4-BE49-F238E27FC236}">
              <a16:creationId xmlns:a16="http://schemas.microsoft.com/office/drawing/2014/main" id="{C60222EB-99BE-DCC8-01DB-BB2289B73830}"/>
            </a:ext>
          </a:extLst>
        </p:cNvPr>
        <p:cNvGrpSpPr/>
        <p:nvPr/>
      </p:nvGrpSpPr>
      <p:grpSpPr>
        <a:xfrm>
          <a:off x="0" y="0"/>
          <a:ext cx="0" cy="0"/>
          <a:chOff x="0" y="0"/>
          <a:chExt cx="0" cy="0"/>
        </a:xfrm>
      </p:grpSpPr>
      <p:pic>
        <p:nvPicPr>
          <p:cNvPr id="134" name="Google Shape;134;p2">
            <a:extLst>
              <a:ext uri="{FF2B5EF4-FFF2-40B4-BE49-F238E27FC236}">
                <a16:creationId xmlns:a16="http://schemas.microsoft.com/office/drawing/2014/main" id="{D87180DF-C8A4-BA42-7557-F6D0C0465247}"/>
              </a:ext>
            </a:extLst>
          </p:cNvPr>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35" name="Google Shape;135;p2">
            <a:extLst>
              <a:ext uri="{FF2B5EF4-FFF2-40B4-BE49-F238E27FC236}">
                <a16:creationId xmlns:a16="http://schemas.microsoft.com/office/drawing/2014/main" id="{945E721F-0F7B-D256-533C-715BDD528C1D}"/>
              </a:ext>
            </a:extLst>
          </p:cNvPr>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a:extLst>
              <a:ext uri="{FF2B5EF4-FFF2-40B4-BE49-F238E27FC236}">
                <a16:creationId xmlns:a16="http://schemas.microsoft.com/office/drawing/2014/main" id="{2979C3C7-AFD8-800B-CFE8-EBC8DBAAD192}"/>
              </a:ext>
            </a:extLst>
          </p:cNvPr>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a:extLst>
              <a:ext uri="{FF2B5EF4-FFF2-40B4-BE49-F238E27FC236}">
                <a16:creationId xmlns:a16="http://schemas.microsoft.com/office/drawing/2014/main" id="{64F2E54C-692F-F9FD-B306-138A1E50AA90}"/>
              </a:ext>
            </a:extLst>
          </p:cNvPr>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11</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a:extLst>
              <a:ext uri="{FF2B5EF4-FFF2-40B4-BE49-F238E27FC236}">
                <a16:creationId xmlns:a16="http://schemas.microsoft.com/office/drawing/2014/main" id="{5BA36D50-A682-37E7-446E-7CC8A3612921}"/>
              </a:ext>
            </a:extLst>
          </p:cNvPr>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2 March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a:extLst>
              <a:ext uri="{FF2B5EF4-FFF2-40B4-BE49-F238E27FC236}">
                <a16:creationId xmlns:a16="http://schemas.microsoft.com/office/drawing/2014/main" id="{6B85BD18-8C21-91AE-F33F-42440452124A}"/>
              </a:ext>
            </a:extLst>
          </p:cNvPr>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a:extLst>
              <a:ext uri="{FF2B5EF4-FFF2-40B4-BE49-F238E27FC236}">
                <a16:creationId xmlns:a16="http://schemas.microsoft.com/office/drawing/2014/main" id="{9BAD0830-3620-DE3C-A447-CEAB2A50E569}"/>
              </a:ext>
            </a:extLst>
          </p:cNvPr>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10;&#10;Description automatically generated">
            <a:extLst>
              <a:ext uri="{FF2B5EF4-FFF2-40B4-BE49-F238E27FC236}">
                <a16:creationId xmlns:a16="http://schemas.microsoft.com/office/drawing/2014/main" id="{31C242DD-74DE-7EEF-7235-9303D98EC540}"/>
              </a:ext>
            </a:extLst>
          </p:cNvPr>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42" name="Google Shape;142;p2">
            <a:extLst>
              <a:ext uri="{FF2B5EF4-FFF2-40B4-BE49-F238E27FC236}">
                <a16:creationId xmlns:a16="http://schemas.microsoft.com/office/drawing/2014/main" id="{B1DB98B7-BE8F-0036-51B0-5EA317756F5D}"/>
              </a:ext>
            </a:extLst>
          </p:cNvPr>
          <p:cNvSpPr txBox="1"/>
          <p:nvPr/>
        </p:nvSpPr>
        <p:spPr>
          <a:xfrm>
            <a:off x="2128296" y="847187"/>
            <a:ext cx="5555343"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3200"/>
              <a:buFont typeface="Times New Roman"/>
              <a:buNone/>
            </a:pPr>
            <a:r>
              <a:rPr lang="en-US" sz="2800" b="1" i="0" u="none" strike="noStrike" cap="none" dirty="0">
                <a:solidFill>
                  <a:schemeClr val="dk1"/>
                </a:solidFill>
                <a:latin typeface="Times New Roman"/>
                <a:ea typeface="Times New Roman"/>
                <a:cs typeface="Times New Roman"/>
                <a:sym typeface="Times New Roman"/>
              </a:rPr>
              <a:t>Literature Survey - 3</a:t>
            </a:r>
          </a:p>
        </p:txBody>
      </p:sp>
      <p:sp>
        <p:nvSpPr>
          <p:cNvPr id="4" name="Content Placeholder 4">
            <a:extLst>
              <a:ext uri="{FF2B5EF4-FFF2-40B4-BE49-F238E27FC236}">
                <a16:creationId xmlns:a16="http://schemas.microsoft.com/office/drawing/2014/main" id="{D7C9A3C9-E68D-AA9D-6B09-1FAACEF5258A}"/>
              </a:ext>
            </a:extLst>
          </p:cNvPr>
          <p:cNvSpPr txBox="1">
            <a:spLocks noChangeArrowheads="1"/>
          </p:cNvSpPr>
          <p:nvPr/>
        </p:nvSpPr>
        <p:spPr>
          <a:xfrm>
            <a:off x="500062" y="1836920"/>
            <a:ext cx="8143875" cy="371475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61950" indent="-361950" algn="just">
              <a:spcBef>
                <a:spcPct val="0"/>
              </a:spcBef>
              <a:buFontTx/>
              <a:buNone/>
              <a:tabLst>
                <a:tab pos="520700" algn="l"/>
              </a:tabLst>
              <a:defRPr/>
            </a:pPr>
            <a:r>
              <a:rPr lang="en-US" altLang="en-US" sz="2400" b="1" dirty="0">
                <a:solidFill>
                  <a:srgbClr val="C00000"/>
                </a:solidFill>
                <a:latin typeface="Times New Roman" panose="02020603050405020304" pitchFamily="18" charset="0"/>
                <a:cs typeface="Times New Roman" panose="02020603050405020304" pitchFamily="18" charset="0"/>
              </a:rPr>
              <a:t>Merits:</a:t>
            </a:r>
          </a:p>
          <a:p>
            <a:pPr marL="361950" indent="-361950" algn="just">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Efficiently processes binary instructions without manual feature extraction</a:t>
            </a:r>
          </a:p>
          <a:p>
            <a:pPr marL="361950" indent="-361950" algn="just">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Self-attention mechanism captures long-range dependencies in instruction sequences</a:t>
            </a:r>
            <a:endParaRPr lang="en-US" altLang="en-US" sz="2400" b="1" dirty="0">
              <a:solidFill>
                <a:srgbClr val="C00000"/>
              </a:solidFill>
              <a:latin typeface="Times New Roman" panose="02020603050405020304" pitchFamily="18" charset="0"/>
              <a:cs typeface="Times New Roman" panose="02020603050405020304" pitchFamily="18" charset="0"/>
            </a:endParaRPr>
          </a:p>
          <a:p>
            <a:pPr algn="just">
              <a:spcBef>
                <a:spcPct val="0"/>
              </a:spcBef>
              <a:tabLst>
                <a:tab pos="520700" algn="l"/>
              </a:tabLst>
              <a:defRPr/>
            </a:pPr>
            <a:r>
              <a:rPr lang="en-US" altLang="en-US" sz="2400" b="1" dirty="0">
                <a:solidFill>
                  <a:srgbClr val="C00000"/>
                </a:solidFill>
                <a:latin typeface="Times New Roman" panose="02020603050405020304" pitchFamily="18" charset="0"/>
                <a:cs typeface="Times New Roman" panose="02020603050405020304" pitchFamily="18" charset="0"/>
              </a:rPr>
              <a:t>Demerits:</a:t>
            </a:r>
          </a:p>
          <a:p>
            <a:pPr marL="342900" indent="-342900" algn="just">
              <a:spcBef>
                <a:spcPct val="0"/>
              </a:spcBef>
              <a:buFont typeface="Arial" panose="020B0604020202020204" pitchFamily="34" charset="0"/>
              <a:buChar char="•"/>
              <a:tabLst>
                <a:tab pos="520700" algn="l"/>
              </a:tabLst>
              <a:defRPr/>
            </a:pPr>
            <a:r>
              <a:rPr lang="en-IN" sz="2400" dirty="0">
                <a:latin typeface="Times New Roman" panose="02020603050405020304" pitchFamily="18" charset="0"/>
                <a:cs typeface="Times New Roman" panose="02020603050405020304" pitchFamily="18" charset="0"/>
              </a:rPr>
              <a:t>Relies solely on instruction sequences; ignores structural (control flow) information</a:t>
            </a:r>
          </a:p>
          <a:p>
            <a:pPr marL="342900" indent="-342900" algn="just">
              <a:spcBef>
                <a:spcPct val="0"/>
              </a:spcBef>
              <a:buFont typeface="Arial" panose="020B0604020202020204" pitchFamily="34" charset="0"/>
              <a:buChar char="•"/>
              <a:tabLst>
                <a:tab pos="520700" algn="l"/>
              </a:tabLst>
              <a:defRPr/>
            </a:pPr>
            <a:r>
              <a:rPr lang="en-IN" sz="2400" dirty="0">
                <a:latin typeface="Times New Roman" panose="02020603050405020304" pitchFamily="18" charset="0"/>
                <a:cs typeface="Times New Roman" panose="02020603050405020304" pitchFamily="18" charset="0"/>
              </a:rPr>
              <a:t>Performance limited in cross-architecture scenarios</a:t>
            </a:r>
            <a:endParaRPr lang="en-IN"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269807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3">
          <a:extLst>
            <a:ext uri="{FF2B5EF4-FFF2-40B4-BE49-F238E27FC236}">
              <a16:creationId xmlns:a16="http://schemas.microsoft.com/office/drawing/2014/main" id="{78B4769D-EF42-E63D-C59B-D879B9693BEC}"/>
            </a:ext>
          </a:extLst>
        </p:cNvPr>
        <p:cNvGrpSpPr/>
        <p:nvPr/>
      </p:nvGrpSpPr>
      <p:grpSpPr>
        <a:xfrm>
          <a:off x="0" y="0"/>
          <a:ext cx="0" cy="0"/>
          <a:chOff x="0" y="0"/>
          <a:chExt cx="0" cy="0"/>
        </a:xfrm>
      </p:grpSpPr>
      <p:pic>
        <p:nvPicPr>
          <p:cNvPr id="134" name="Google Shape;134;p2">
            <a:extLst>
              <a:ext uri="{FF2B5EF4-FFF2-40B4-BE49-F238E27FC236}">
                <a16:creationId xmlns:a16="http://schemas.microsoft.com/office/drawing/2014/main" id="{30D13771-8F07-0C1C-1BE1-38DDBDB9CAF1}"/>
              </a:ext>
            </a:extLst>
          </p:cNvPr>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35" name="Google Shape;135;p2">
            <a:extLst>
              <a:ext uri="{FF2B5EF4-FFF2-40B4-BE49-F238E27FC236}">
                <a16:creationId xmlns:a16="http://schemas.microsoft.com/office/drawing/2014/main" id="{340D7AF9-3F10-DC0E-2B2A-04B6D57136BE}"/>
              </a:ext>
            </a:extLst>
          </p:cNvPr>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a:extLst>
              <a:ext uri="{FF2B5EF4-FFF2-40B4-BE49-F238E27FC236}">
                <a16:creationId xmlns:a16="http://schemas.microsoft.com/office/drawing/2014/main" id="{2B18EBE7-3F89-8D7F-5F34-99F89BF302AE}"/>
              </a:ext>
            </a:extLst>
          </p:cNvPr>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a:extLst>
              <a:ext uri="{FF2B5EF4-FFF2-40B4-BE49-F238E27FC236}">
                <a16:creationId xmlns:a16="http://schemas.microsoft.com/office/drawing/2014/main" id="{BB92883D-7C88-2571-710B-47AE8591E723}"/>
              </a:ext>
            </a:extLst>
          </p:cNvPr>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12</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a:extLst>
              <a:ext uri="{FF2B5EF4-FFF2-40B4-BE49-F238E27FC236}">
                <a16:creationId xmlns:a16="http://schemas.microsoft.com/office/drawing/2014/main" id="{C3831FF3-EC25-F2A6-E234-8C417D764B43}"/>
              </a:ext>
            </a:extLst>
          </p:cNvPr>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2 March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a:extLst>
              <a:ext uri="{FF2B5EF4-FFF2-40B4-BE49-F238E27FC236}">
                <a16:creationId xmlns:a16="http://schemas.microsoft.com/office/drawing/2014/main" id="{A59D4AA2-3938-E47E-C2AF-466B7429A23A}"/>
              </a:ext>
            </a:extLst>
          </p:cNvPr>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a:extLst>
              <a:ext uri="{FF2B5EF4-FFF2-40B4-BE49-F238E27FC236}">
                <a16:creationId xmlns:a16="http://schemas.microsoft.com/office/drawing/2014/main" id="{87A96A41-414C-6421-3A8C-F9AE3EC1A726}"/>
              </a:ext>
            </a:extLst>
          </p:cNvPr>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10;&#10;Description automatically generated">
            <a:extLst>
              <a:ext uri="{FF2B5EF4-FFF2-40B4-BE49-F238E27FC236}">
                <a16:creationId xmlns:a16="http://schemas.microsoft.com/office/drawing/2014/main" id="{10F85199-CDAB-AEDA-8ADB-335121F0D1D5}"/>
              </a:ext>
            </a:extLst>
          </p:cNvPr>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42" name="Google Shape;142;p2">
            <a:extLst>
              <a:ext uri="{FF2B5EF4-FFF2-40B4-BE49-F238E27FC236}">
                <a16:creationId xmlns:a16="http://schemas.microsoft.com/office/drawing/2014/main" id="{5D4ED8D6-2E43-DF83-97CF-A637050088B8}"/>
              </a:ext>
            </a:extLst>
          </p:cNvPr>
          <p:cNvSpPr txBox="1"/>
          <p:nvPr/>
        </p:nvSpPr>
        <p:spPr>
          <a:xfrm>
            <a:off x="2128296" y="847187"/>
            <a:ext cx="5555343"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3200"/>
              <a:buFont typeface="Times New Roman"/>
              <a:buNone/>
            </a:pPr>
            <a:r>
              <a:rPr lang="en-US" sz="2800" b="1" i="0" u="none" strike="noStrike" cap="none" dirty="0">
                <a:solidFill>
                  <a:schemeClr val="dk1"/>
                </a:solidFill>
                <a:latin typeface="Times New Roman"/>
                <a:ea typeface="Times New Roman"/>
                <a:cs typeface="Times New Roman"/>
                <a:sym typeface="Times New Roman"/>
              </a:rPr>
              <a:t>Literature Survey - 4</a:t>
            </a:r>
          </a:p>
        </p:txBody>
      </p:sp>
      <p:sp>
        <p:nvSpPr>
          <p:cNvPr id="4" name="Content Placeholder 4">
            <a:extLst>
              <a:ext uri="{FF2B5EF4-FFF2-40B4-BE49-F238E27FC236}">
                <a16:creationId xmlns:a16="http://schemas.microsoft.com/office/drawing/2014/main" id="{ED1CB17B-8398-663B-4C76-9DF2D62E1782}"/>
              </a:ext>
            </a:extLst>
          </p:cNvPr>
          <p:cNvSpPr txBox="1">
            <a:spLocks noChangeArrowheads="1"/>
          </p:cNvSpPr>
          <p:nvPr/>
        </p:nvSpPr>
        <p:spPr>
          <a:xfrm>
            <a:off x="238125" y="1530966"/>
            <a:ext cx="8143875" cy="5015883"/>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2400" b="1" dirty="0">
                <a:latin typeface="Times New Roman" panose="02020603050405020304" pitchFamily="18" charset="0"/>
                <a:cs typeface="Times New Roman" panose="02020603050405020304" pitchFamily="18" charset="0"/>
              </a:rPr>
              <a:t>Tian et al. (2021)</a:t>
            </a:r>
            <a:r>
              <a:rPr lang="en-US" sz="2400" dirty="0">
                <a:latin typeface="Times New Roman" panose="02020603050405020304" pitchFamily="18" charset="0"/>
                <a:cs typeface="Times New Roman" panose="02020603050405020304" pitchFamily="18" charset="0"/>
              </a:rPr>
              <a:t> proposed </a:t>
            </a:r>
            <a:r>
              <a:rPr lang="en-US" sz="2400" b="1" dirty="0" err="1">
                <a:latin typeface="Times New Roman" panose="02020603050405020304" pitchFamily="18" charset="0"/>
                <a:cs typeface="Times New Roman" panose="02020603050405020304" pitchFamily="18" charset="0"/>
              </a:rPr>
              <a:t>BinDeep</a:t>
            </a:r>
            <a:r>
              <a:rPr lang="en-US" sz="2400" dirty="0">
                <a:latin typeface="Times New Roman" panose="02020603050405020304" pitchFamily="18" charset="0"/>
                <a:cs typeface="Times New Roman" panose="02020603050405020304" pitchFamily="18" charset="0"/>
              </a:rPr>
              <a:t>, a deep learning approach combining CNN and LSTM within a </a:t>
            </a:r>
            <a:r>
              <a:rPr lang="en-US" sz="2400" dirty="0" err="1">
                <a:latin typeface="Times New Roman" panose="02020603050405020304" pitchFamily="18" charset="0"/>
                <a:cs typeface="Times New Roman" panose="02020603050405020304" pitchFamily="18" charset="0"/>
              </a:rPr>
              <a:t>siamese</a:t>
            </a:r>
            <a:r>
              <a:rPr lang="en-US" sz="2400" dirty="0">
                <a:latin typeface="Times New Roman" panose="02020603050405020304" pitchFamily="18" charset="0"/>
                <a:cs typeface="Times New Roman" panose="02020603050405020304" pitchFamily="18" charset="0"/>
              </a:rPr>
              <a:t> neural network for binary code similarity detection. Assembly instructions are first vectorized using Word2Vec, and the combined CNN-LSTM model extracts both local and sequential patterns from instruction sequences. The </a:t>
            </a:r>
            <a:r>
              <a:rPr lang="en-US" sz="2400" dirty="0" err="1">
                <a:latin typeface="Times New Roman" panose="02020603050405020304" pitchFamily="18" charset="0"/>
                <a:cs typeface="Times New Roman" panose="02020603050405020304" pitchFamily="18" charset="0"/>
              </a:rPr>
              <a:t>siamese</a:t>
            </a:r>
            <a:r>
              <a:rPr lang="en-US" sz="2400" dirty="0">
                <a:latin typeface="Times New Roman" panose="02020603050405020304" pitchFamily="18" charset="0"/>
                <a:cs typeface="Times New Roman" panose="02020603050405020304" pitchFamily="18" charset="0"/>
              </a:rPr>
              <a:t> architecture compares two functions by measuring the distance between their learned representations.</a:t>
            </a:r>
          </a:p>
          <a:p>
            <a:endParaRPr lang="en-US" sz="1600" b="1" dirty="0">
              <a:solidFill>
                <a:srgbClr val="0000CC"/>
              </a:solidFill>
              <a:latin typeface="Times New Roman" panose="02020603050405020304" pitchFamily="18" charset="0"/>
              <a:cs typeface="Times New Roman" panose="02020603050405020304" pitchFamily="18" charset="0"/>
            </a:endParaRPr>
          </a:p>
          <a:p>
            <a:endParaRPr lang="en-US" sz="1600" b="1" dirty="0">
              <a:solidFill>
                <a:srgbClr val="0000CC"/>
              </a:solidFill>
              <a:latin typeface="Times New Roman" panose="02020603050405020304" pitchFamily="18" charset="0"/>
              <a:cs typeface="Times New Roman" panose="02020603050405020304" pitchFamily="18" charset="0"/>
            </a:endParaRPr>
          </a:p>
          <a:p>
            <a:endParaRPr lang="en-US" sz="1600" b="1" dirty="0">
              <a:solidFill>
                <a:srgbClr val="0000CC"/>
              </a:solidFill>
              <a:latin typeface="Times New Roman" panose="02020603050405020304" pitchFamily="18" charset="0"/>
              <a:cs typeface="Times New Roman" panose="02020603050405020304" pitchFamily="18" charset="0"/>
            </a:endParaRPr>
          </a:p>
          <a:p>
            <a:endParaRPr lang="en-US" sz="1600" b="1" dirty="0">
              <a:solidFill>
                <a:srgbClr val="0000CC"/>
              </a:solidFill>
              <a:latin typeface="Times New Roman" panose="02020603050405020304" pitchFamily="18" charset="0"/>
              <a:cs typeface="Times New Roman" panose="02020603050405020304" pitchFamily="18" charset="0"/>
            </a:endParaRPr>
          </a:p>
          <a:p>
            <a:r>
              <a:rPr lang="en-US" sz="1600" b="1" dirty="0">
                <a:solidFill>
                  <a:srgbClr val="0000CC"/>
                </a:solidFill>
                <a:latin typeface="Times New Roman" panose="02020603050405020304" pitchFamily="18" charset="0"/>
                <a:cs typeface="Times New Roman" panose="02020603050405020304" pitchFamily="18" charset="0"/>
              </a:rPr>
              <a:t>Reference:</a:t>
            </a:r>
            <a:r>
              <a:rPr lang="en-US" sz="1600" dirty="0">
                <a:solidFill>
                  <a:srgbClr val="0000CC"/>
                </a:solidFill>
                <a:latin typeface="Times New Roman" panose="02020603050405020304" pitchFamily="18" charset="0"/>
                <a:cs typeface="Times New Roman" panose="02020603050405020304" pitchFamily="18" charset="0"/>
              </a:rPr>
              <a:t> D. Tian, X. Jia, R. Ma, S. Liu, W. Liu, and C. Hu, "</a:t>
            </a:r>
            <a:r>
              <a:rPr lang="en-US" sz="1600" dirty="0" err="1">
                <a:solidFill>
                  <a:srgbClr val="0000CC"/>
                </a:solidFill>
                <a:latin typeface="Times New Roman" panose="02020603050405020304" pitchFamily="18" charset="0"/>
                <a:cs typeface="Times New Roman" panose="02020603050405020304" pitchFamily="18" charset="0"/>
              </a:rPr>
              <a:t>BinDeep</a:t>
            </a:r>
            <a:r>
              <a:rPr lang="en-US" sz="1600" dirty="0">
                <a:solidFill>
                  <a:srgbClr val="0000CC"/>
                </a:solidFill>
                <a:latin typeface="Times New Roman" panose="02020603050405020304" pitchFamily="18" charset="0"/>
                <a:cs typeface="Times New Roman" panose="02020603050405020304" pitchFamily="18" charset="0"/>
              </a:rPr>
              <a:t>: A deep learning approach to binary code similarity detection," </a:t>
            </a:r>
            <a:r>
              <a:rPr lang="en-US" sz="1600" i="1" dirty="0">
                <a:solidFill>
                  <a:srgbClr val="0000CC"/>
                </a:solidFill>
                <a:latin typeface="Times New Roman" panose="02020603050405020304" pitchFamily="18" charset="0"/>
                <a:cs typeface="Times New Roman" panose="02020603050405020304" pitchFamily="18" charset="0"/>
              </a:rPr>
              <a:t>Expert Systems with Applications</a:t>
            </a:r>
            <a:r>
              <a:rPr lang="en-US" sz="1600" dirty="0">
                <a:solidFill>
                  <a:srgbClr val="0000CC"/>
                </a:solidFill>
                <a:latin typeface="Times New Roman" panose="02020603050405020304" pitchFamily="18" charset="0"/>
                <a:cs typeface="Times New Roman" panose="02020603050405020304" pitchFamily="18" charset="0"/>
              </a:rPr>
              <a:t>, vol. 168, 2021, Art. no. 114348.</a:t>
            </a:r>
          </a:p>
          <a:p>
            <a:pPr algn="just">
              <a:spcBef>
                <a:spcPct val="0"/>
              </a:spcBef>
              <a:buFontTx/>
              <a:buNone/>
              <a:tabLst>
                <a:tab pos="520700" algn="l"/>
              </a:tabLst>
              <a:defRPr/>
            </a:pPr>
            <a:endParaRPr lang="en-IN" altLang="en-US"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675843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3">
          <a:extLst>
            <a:ext uri="{FF2B5EF4-FFF2-40B4-BE49-F238E27FC236}">
              <a16:creationId xmlns:a16="http://schemas.microsoft.com/office/drawing/2014/main" id="{1768CB51-3C8E-CC84-9363-E4B95883324F}"/>
            </a:ext>
          </a:extLst>
        </p:cNvPr>
        <p:cNvGrpSpPr/>
        <p:nvPr/>
      </p:nvGrpSpPr>
      <p:grpSpPr>
        <a:xfrm>
          <a:off x="0" y="0"/>
          <a:ext cx="0" cy="0"/>
          <a:chOff x="0" y="0"/>
          <a:chExt cx="0" cy="0"/>
        </a:xfrm>
      </p:grpSpPr>
      <p:pic>
        <p:nvPicPr>
          <p:cNvPr id="134" name="Google Shape;134;p2">
            <a:extLst>
              <a:ext uri="{FF2B5EF4-FFF2-40B4-BE49-F238E27FC236}">
                <a16:creationId xmlns:a16="http://schemas.microsoft.com/office/drawing/2014/main" id="{AEDDB783-910D-5A4E-5610-E4C090B5367E}"/>
              </a:ext>
            </a:extLst>
          </p:cNvPr>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35" name="Google Shape;135;p2">
            <a:extLst>
              <a:ext uri="{FF2B5EF4-FFF2-40B4-BE49-F238E27FC236}">
                <a16:creationId xmlns:a16="http://schemas.microsoft.com/office/drawing/2014/main" id="{B9893490-BE01-8E6C-41B4-6B9070D192C2}"/>
              </a:ext>
            </a:extLst>
          </p:cNvPr>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a:extLst>
              <a:ext uri="{FF2B5EF4-FFF2-40B4-BE49-F238E27FC236}">
                <a16:creationId xmlns:a16="http://schemas.microsoft.com/office/drawing/2014/main" id="{7FBBECA4-E068-9348-C8A9-F60EB36A1585}"/>
              </a:ext>
            </a:extLst>
          </p:cNvPr>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a:extLst>
              <a:ext uri="{FF2B5EF4-FFF2-40B4-BE49-F238E27FC236}">
                <a16:creationId xmlns:a16="http://schemas.microsoft.com/office/drawing/2014/main" id="{E4BE308D-5B4A-A0CD-3D76-45E9311558DF}"/>
              </a:ext>
            </a:extLst>
          </p:cNvPr>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13</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a:extLst>
              <a:ext uri="{FF2B5EF4-FFF2-40B4-BE49-F238E27FC236}">
                <a16:creationId xmlns:a16="http://schemas.microsoft.com/office/drawing/2014/main" id="{7CB44F52-9AF2-0EF2-2AE1-0208222BB5A1}"/>
              </a:ext>
            </a:extLst>
          </p:cNvPr>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2 March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a:extLst>
              <a:ext uri="{FF2B5EF4-FFF2-40B4-BE49-F238E27FC236}">
                <a16:creationId xmlns:a16="http://schemas.microsoft.com/office/drawing/2014/main" id="{FC274316-1BB4-6D97-F278-AA2F250711F9}"/>
              </a:ext>
            </a:extLst>
          </p:cNvPr>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a:extLst>
              <a:ext uri="{FF2B5EF4-FFF2-40B4-BE49-F238E27FC236}">
                <a16:creationId xmlns:a16="http://schemas.microsoft.com/office/drawing/2014/main" id="{EC3CAFB6-CDA1-452C-55D5-049A68219CB4}"/>
              </a:ext>
            </a:extLst>
          </p:cNvPr>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10;&#10;Description automatically generated">
            <a:extLst>
              <a:ext uri="{FF2B5EF4-FFF2-40B4-BE49-F238E27FC236}">
                <a16:creationId xmlns:a16="http://schemas.microsoft.com/office/drawing/2014/main" id="{21FBD0EF-0C1B-2CCF-4457-2BE612BB1FAC}"/>
              </a:ext>
            </a:extLst>
          </p:cNvPr>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42" name="Google Shape;142;p2">
            <a:extLst>
              <a:ext uri="{FF2B5EF4-FFF2-40B4-BE49-F238E27FC236}">
                <a16:creationId xmlns:a16="http://schemas.microsoft.com/office/drawing/2014/main" id="{74FA00DA-27FD-1ECD-C580-291450B8D0B9}"/>
              </a:ext>
            </a:extLst>
          </p:cNvPr>
          <p:cNvSpPr txBox="1"/>
          <p:nvPr/>
        </p:nvSpPr>
        <p:spPr>
          <a:xfrm>
            <a:off x="2128296" y="847187"/>
            <a:ext cx="5555343"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3200"/>
              <a:buFont typeface="Times New Roman"/>
              <a:buNone/>
            </a:pPr>
            <a:r>
              <a:rPr lang="en-US" sz="2800" b="1" i="0" u="none" strike="noStrike" cap="none" dirty="0">
                <a:solidFill>
                  <a:schemeClr val="dk1"/>
                </a:solidFill>
                <a:latin typeface="Times New Roman"/>
                <a:ea typeface="Times New Roman"/>
                <a:cs typeface="Times New Roman"/>
                <a:sym typeface="Times New Roman"/>
              </a:rPr>
              <a:t>Literature Survey - 4</a:t>
            </a:r>
          </a:p>
        </p:txBody>
      </p:sp>
      <p:sp>
        <p:nvSpPr>
          <p:cNvPr id="4" name="Content Placeholder 4">
            <a:extLst>
              <a:ext uri="{FF2B5EF4-FFF2-40B4-BE49-F238E27FC236}">
                <a16:creationId xmlns:a16="http://schemas.microsoft.com/office/drawing/2014/main" id="{1F249818-4F10-674F-C5EE-DBFE9E66F081}"/>
              </a:ext>
            </a:extLst>
          </p:cNvPr>
          <p:cNvSpPr txBox="1">
            <a:spLocks noChangeArrowheads="1"/>
          </p:cNvSpPr>
          <p:nvPr/>
        </p:nvSpPr>
        <p:spPr>
          <a:xfrm>
            <a:off x="500062" y="1836920"/>
            <a:ext cx="8143875" cy="371475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61950" indent="-361950" algn="just">
              <a:spcBef>
                <a:spcPct val="0"/>
              </a:spcBef>
              <a:buFontTx/>
              <a:buNone/>
              <a:tabLst>
                <a:tab pos="520700" algn="l"/>
              </a:tabLst>
              <a:defRPr/>
            </a:pPr>
            <a:r>
              <a:rPr lang="en-US" altLang="en-US" sz="2400" b="1" dirty="0">
                <a:solidFill>
                  <a:srgbClr val="C00000"/>
                </a:solidFill>
                <a:latin typeface="Times New Roman" panose="02020603050405020304" pitchFamily="18" charset="0"/>
                <a:cs typeface="Times New Roman" panose="02020603050405020304" pitchFamily="18" charset="0"/>
              </a:rPr>
              <a:t>Merits:</a:t>
            </a:r>
          </a:p>
          <a:p>
            <a:pPr marL="361950" indent="-361950" algn="just">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Combines CNN and LSTM to capture both local features and sequential dependencies</a:t>
            </a:r>
          </a:p>
          <a:p>
            <a:pPr marL="361950" indent="-361950" algn="just">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Handles cross-architecture and cross-compiler scenarios effectively</a:t>
            </a:r>
            <a:endParaRPr lang="en-US" altLang="en-US" sz="2400" b="1" dirty="0">
              <a:solidFill>
                <a:srgbClr val="C00000"/>
              </a:solidFill>
              <a:latin typeface="Times New Roman" panose="02020603050405020304" pitchFamily="18" charset="0"/>
              <a:cs typeface="Times New Roman" panose="02020603050405020304" pitchFamily="18" charset="0"/>
            </a:endParaRPr>
          </a:p>
          <a:p>
            <a:pPr algn="just">
              <a:spcBef>
                <a:spcPct val="0"/>
              </a:spcBef>
              <a:tabLst>
                <a:tab pos="520700" algn="l"/>
              </a:tabLst>
              <a:defRPr/>
            </a:pPr>
            <a:r>
              <a:rPr lang="en-US" altLang="en-US" sz="2400" b="1" dirty="0">
                <a:solidFill>
                  <a:srgbClr val="C00000"/>
                </a:solidFill>
                <a:latin typeface="Times New Roman" panose="02020603050405020304" pitchFamily="18" charset="0"/>
                <a:cs typeface="Times New Roman" panose="02020603050405020304" pitchFamily="18" charset="0"/>
              </a:rPr>
              <a:t>Demerits:</a:t>
            </a:r>
          </a:p>
          <a:p>
            <a:pPr marL="342900" indent="-342900" algn="just">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Relies on instruction sequences; structural information from CFG is not utilized</a:t>
            </a:r>
          </a:p>
          <a:p>
            <a:pPr marL="342900" indent="-342900" algn="just">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Training is computationally expensive for large binary datasets</a:t>
            </a:r>
            <a:endParaRPr lang="en-IN"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591349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3">
          <a:extLst>
            <a:ext uri="{FF2B5EF4-FFF2-40B4-BE49-F238E27FC236}">
              <a16:creationId xmlns:a16="http://schemas.microsoft.com/office/drawing/2014/main" id="{58C256EC-1C78-D0FA-0702-9C8D9C28E4FB}"/>
            </a:ext>
          </a:extLst>
        </p:cNvPr>
        <p:cNvGrpSpPr/>
        <p:nvPr/>
      </p:nvGrpSpPr>
      <p:grpSpPr>
        <a:xfrm>
          <a:off x="0" y="0"/>
          <a:ext cx="0" cy="0"/>
          <a:chOff x="0" y="0"/>
          <a:chExt cx="0" cy="0"/>
        </a:xfrm>
      </p:grpSpPr>
      <p:pic>
        <p:nvPicPr>
          <p:cNvPr id="134" name="Google Shape;134;p2">
            <a:extLst>
              <a:ext uri="{FF2B5EF4-FFF2-40B4-BE49-F238E27FC236}">
                <a16:creationId xmlns:a16="http://schemas.microsoft.com/office/drawing/2014/main" id="{8D94E673-6E05-D3DD-16F0-658F97A56965}"/>
              </a:ext>
            </a:extLst>
          </p:cNvPr>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35" name="Google Shape;135;p2">
            <a:extLst>
              <a:ext uri="{FF2B5EF4-FFF2-40B4-BE49-F238E27FC236}">
                <a16:creationId xmlns:a16="http://schemas.microsoft.com/office/drawing/2014/main" id="{195AA867-0740-9129-B5BB-C56733880A46}"/>
              </a:ext>
            </a:extLst>
          </p:cNvPr>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a:extLst>
              <a:ext uri="{FF2B5EF4-FFF2-40B4-BE49-F238E27FC236}">
                <a16:creationId xmlns:a16="http://schemas.microsoft.com/office/drawing/2014/main" id="{3F2ED64F-9F78-9B80-55A6-94579209EBDE}"/>
              </a:ext>
            </a:extLst>
          </p:cNvPr>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a:extLst>
              <a:ext uri="{FF2B5EF4-FFF2-40B4-BE49-F238E27FC236}">
                <a16:creationId xmlns:a16="http://schemas.microsoft.com/office/drawing/2014/main" id="{F9B63810-6547-7A84-C8AE-28140E2EFBD1}"/>
              </a:ext>
            </a:extLst>
          </p:cNvPr>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14</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a:extLst>
              <a:ext uri="{FF2B5EF4-FFF2-40B4-BE49-F238E27FC236}">
                <a16:creationId xmlns:a16="http://schemas.microsoft.com/office/drawing/2014/main" id="{EB5A323A-EB28-9058-8126-BE1EDCA4ADBA}"/>
              </a:ext>
            </a:extLst>
          </p:cNvPr>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2 March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a:extLst>
              <a:ext uri="{FF2B5EF4-FFF2-40B4-BE49-F238E27FC236}">
                <a16:creationId xmlns:a16="http://schemas.microsoft.com/office/drawing/2014/main" id="{48601102-BFBE-DE63-5FA4-8F1336617E81}"/>
              </a:ext>
            </a:extLst>
          </p:cNvPr>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a:extLst>
              <a:ext uri="{FF2B5EF4-FFF2-40B4-BE49-F238E27FC236}">
                <a16:creationId xmlns:a16="http://schemas.microsoft.com/office/drawing/2014/main" id="{234CD6D7-8531-490C-3E32-07644F992FDA}"/>
              </a:ext>
            </a:extLst>
          </p:cNvPr>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10;&#10;Description automatically generated">
            <a:extLst>
              <a:ext uri="{FF2B5EF4-FFF2-40B4-BE49-F238E27FC236}">
                <a16:creationId xmlns:a16="http://schemas.microsoft.com/office/drawing/2014/main" id="{C37F2266-383B-ED6E-7A99-58AEF7B69643}"/>
              </a:ext>
            </a:extLst>
          </p:cNvPr>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42" name="Google Shape;142;p2">
            <a:extLst>
              <a:ext uri="{FF2B5EF4-FFF2-40B4-BE49-F238E27FC236}">
                <a16:creationId xmlns:a16="http://schemas.microsoft.com/office/drawing/2014/main" id="{D5B57B78-FC9F-0F35-BDD4-99B2540ACDAF}"/>
              </a:ext>
            </a:extLst>
          </p:cNvPr>
          <p:cNvSpPr txBox="1"/>
          <p:nvPr/>
        </p:nvSpPr>
        <p:spPr>
          <a:xfrm>
            <a:off x="2128296" y="847187"/>
            <a:ext cx="5555343"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3200"/>
              <a:buFont typeface="Times New Roman"/>
              <a:buNone/>
            </a:pPr>
            <a:r>
              <a:rPr lang="en-US" sz="2800" b="1" i="0" u="none" strike="noStrike" cap="none" dirty="0">
                <a:solidFill>
                  <a:schemeClr val="dk1"/>
                </a:solidFill>
                <a:latin typeface="Times New Roman"/>
                <a:ea typeface="Times New Roman"/>
                <a:cs typeface="Times New Roman"/>
                <a:sym typeface="Times New Roman"/>
              </a:rPr>
              <a:t>Literature Survey - 5</a:t>
            </a:r>
          </a:p>
        </p:txBody>
      </p:sp>
      <p:sp>
        <p:nvSpPr>
          <p:cNvPr id="4" name="Content Placeholder 4">
            <a:extLst>
              <a:ext uri="{FF2B5EF4-FFF2-40B4-BE49-F238E27FC236}">
                <a16:creationId xmlns:a16="http://schemas.microsoft.com/office/drawing/2014/main" id="{FC255DD7-1EF2-C086-24B3-C0F9A2687F42}"/>
              </a:ext>
            </a:extLst>
          </p:cNvPr>
          <p:cNvSpPr txBox="1">
            <a:spLocks noChangeArrowheads="1"/>
          </p:cNvSpPr>
          <p:nvPr/>
        </p:nvSpPr>
        <p:spPr>
          <a:xfrm>
            <a:off x="500062" y="1607954"/>
            <a:ext cx="8143875" cy="5015883"/>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2400" b="1" dirty="0">
                <a:latin typeface="Times New Roman" panose="02020603050405020304" pitchFamily="18" charset="0"/>
                <a:cs typeface="Times New Roman" panose="02020603050405020304" pitchFamily="18" charset="0"/>
              </a:rPr>
              <a:t>Wang et al. (2022)</a:t>
            </a:r>
            <a:r>
              <a:rPr lang="en-US" sz="2400" dirty="0">
                <a:latin typeface="Times New Roman" panose="02020603050405020304" pitchFamily="18" charset="0"/>
                <a:cs typeface="Times New Roman" panose="02020603050405020304" pitchFamily="18" charset="0"/>
              </a:rPr>
              <a:t> proposed </a:t>
            </a:r>
            <a:r>
              <a:rPr lang="en-US" sz="2400" b="1" dirty="0" err="1">
                <a:latin typeface="Times New Roman" panose="02020603050405020304" pitchFamily="18" charset="0"/>
                <a:cs typeface="Times New Roman" panose="02020603050405020304" pitchFamily="18" charset="0"/>
              </a:rPr>
              <a:t>jTrans</a:t>
            </a:r>
            <a:r>
              <a:rPr lang="en-US" sz="2400" dirty="0">
                <a:latin typeface="Times New Roman" panose="02020603050405020304" pitchFamily="18" charset="0"/>
                <a:cs typeface="Times New Roman" panose="02020603050405020304" pitchFamily="18" charset="0"/>
              </a:rPr>
              <a:t>, a Transformer-based model enhanced with control flow information for binary code similarity detection. </a:t>
            </a:r>
            <a:r>
              <a:rPr lang="en-US" sz="2400" dirty="0" err="1">
                <a:latin typeface="Times New Roman" panose="02020603050405020304" pitchFamily="18" charset="0"/>
                <a:cs typeface="Times New Roman" panose="02020603050405020304" pitchFamily="18" charset="0"/>
              </a:rPr>
              <a:t>jTrans</a:t>
            </a:r>
            <a:r>
              <a:rPr lang="en-US" sz="2400" dirty="0">
                <a:latin typeface="Times New Roman" panose="02020603050405020304" pitchFamily="18" charset="0"/>
                <a:cs typeface="Times New Roman" panose="02020603050405020304" pitchFamily="18" charset="0"/>
              </a:rPr>
              <a:t> introduces a jump-aware token representation that encodes branch targets within instruction sequences, enabling the model to capture both sequential instruction semantics and control flow structure. A pretrained Transformer is fine-tuned on binary function pairs for similarity detection.</a:t>
            </a:r>
          </a:p>
          <a:p>
            <a:endParaRPr lang="en-US" sz="1600" b="1" dirty="0">
              <a:solidFill>
                <a:srgbClr val="0000CC"/>
              </a:solidFill>
              <a:latin typeface="Times New Roman" panose="02020603050405020304" pitchFamily="18" charset="0"/>
              <a:cs typeface="Times New Roman" panose="02020603050405020304" pitchFamily="18" charset="0"/>
            </a:endParaRPr>
          </a:p>
          <a:p>
            <a:endParaRPr lang="en-US" sz="1600" b="1" dirty="0">
              <a:solidFill>
                <a:srgbClr val="0000CC"/>
              </a:solidFill>
              <a:latin typeface="Times New Roman" panose="02020603050405020304" pitchFamily="18" charset="0"/>
              <a:cs typeface="Times New Roman" panose="02020603050405020304" pitchFamily="18" charset="0"/>
            </a:endParaRPr>
          </a:p>
          <a:p>
            <a:endParaRPr lang="en-US" sz="1600" b="1" dirty="0">
              <a:solidFill>
                <a:srgbClr val="0000CC"/>
              </a:solidFill>
              <a:latin typeface="Times New Roman" panose="02020603050405020304" pitchFamily="18" charset="0"/>
              <a:cs typeface="Times New Roman" panose="02020603050405020304" pitchFamily="18" charset="0"/>
            </a:endParaRPr>
          </a:p>
          <a:p>
            <a:endParaRPr lang="en-US" sz="1600" b="1" dirty="0">
              <a:solidFill>
                <a:srgbClr val="0000CC"/>
              </a:solidFill>
              <a:latin typeface="Times New Roman" panose="02020603050405020304" pitchFamily="18" charset="0"/>
              <a:cs typeface="Times New Roman" panose="02020603050405020304" pitchFamily="18" charset="0"/>
            </a:endParaRPr>
          </a:p>
          <a:p>
            <a:r>
              <a:rPr lang="en-US" sz="1600" b="1" dirty="0">
                <a:solidFill>
                  <a:srgbClr val="0000CC"/>
                </a:solidFill>
                <a:latin typeface="Times New Roman" panose="02020603050405020304" pitchFamily="18" charset="0"/>
                <a:cs typeface="Times New Roman" panose="02020603050405020304" pitchFamily="18" charset="0"/>
              </a:rPr>
              <a:t>Reference:</a:t>
            </a:r>
            <a:r>
              <a:rPr lang="en-US" sz="1600" dirty="0">
                <a:solidFill>
                  <a:srgbClr val="0000CC"/>
                </a:solidFill>
                <a:latin typeface="Times New Roman" panose="02020603050405020304" pitchFamily="18" charset="0"/>
                <a:cs typeface="Times New Roman" panose="02020603050405020304" pitchFamily="18" charset="0"/>
              </a:rPr>
              <a:t> H. Wang et al., "</a:t>
            </a:r>
            <a:r>
              <a:rPr lang="en-US" sz="1600" dirty="0" err="1">
                <a:solidFill>
                  <a:srgbClr val="0000CC"/>
                </a:solidFill>
                <a:latin typeface="Times New Roman" panose="02020603050405020304" pitchFamily="18" charset="0"/>
                <a:cs typeface="Times New Roman" panose="02020603050405020304" pitchFamily="18" charset="0"/>
              </a:rPr>
              <a:t>jTrans</a:t>
            </a:r>
            <a:r>
              <a:rPr lang="en-US" sz="1600" dirty="0">
                <a:solidFill>
                  <a:srgbClr val="0000CC"/>
                </a:solidFill>
                <a:latin typeface="Times New Roman" panose="02020603050405020304" pitchFamily="18" charset="0"/>
                <a:cs typeface="Times New Roman" panose="02020603050405020304" pitchFamily="18" charset="0"/>
              </a:rPr>
              <a:t>: Jump-aware transformer for binary code similarity detection," </a:t>
            </a:r>
            <a:r>
              <a:rPr lang="en-US" sz="1600" i="1" dirty="0">
                <a:solidFill>
                  <a:srgbClr val="0000CC"/>
                </a:solidFill>
                <a:latin typeface="Times New Roman" panose="02020603050405020304" pitchFamily="18" charset="0"/>
                <a:cs typeface="Times New Roman" panose="02020603050405020304" pitchFamily="18" charset="0"/>
              </a:rPr>
              <a:t>Proceedings of the 31st ACM SIGSOFT International Symposium on Software Testing and Analysis</a:t>
            </a:r>
            <a:r>
              <a:rPr lang="en-US" sz="1600" dirty="0">
                <a:solidFill>
                  <a:srgbClr val="0000CC"/>
                </a:solidFill>
                <a:latin typeface="Times New Roman" panose="02020603050405020304" pitchFamily="18" charset="0"/>
                <a:cs typeface="Times New Roman" panose="02020603050405020304" pitchFamily="18" charset="0"/>
              </a:rPr>
              <a:t>, 2022, pp. 1–13.</a:t>
            </a:r>
          </a:p>
          <a:p>
            <a:pPr algn="just">
              <a:spcBef>
                <a:spcPct val="0"/>
              </a:spcBef>
              <a:buFontTx/>
              <a:buNone/>
              <a:tabLst>
                <a:tab pos="520700" algn="l"/>
              </a:tabLst>
              <a:defRPr/>
            </a:pPr>
            <a:endParaRPr lang="en-IN" altLang="en-US"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90678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3">
          <a:extLst>
            <a:ext uri="{FF2B5EF4-FFF2-40B4-BE49-F238E27FC236}">
              <a16:creationId xmlns:a16="http://schemas.microsoft.com/office/drawing/2014/main" id="{F09BB93C-99E6-EE25-34F1-B9A4454A18A3}"/>
            </a:ext>
          </a:extLst>
        </p:cNvPr>
        <p:cNvGrpSpPr/>
        <p:nvPr/>
      </p:nvGrpSpPr>
      <p:grpSpPr>
        <a:xfrm>
          <a:off x="0" y="0"/>
          <a:ext cx="0" cy="0"/>
          <a:chOff x="0" y="0"/>
          <a:chExt cx="0" cy="0"/>
        </a:xfrm>
      </p:grpSpPr>
      <p:pic>
        <p:nvPicPr>
          <p:cNvPr id="134" name="Google Shape;134;p2">
            <a:extLst>
              <a:ext uri="{FF2B5EF4-FFF2-40B4-BE49-F238E27FC236}">
                <a16:creationId xmlns:a16="http://schemas.microsoft.com/office/drawing/2014/main" id="{2382F9D6-58CB-462D-ACC4-DE9F53E4830F}"/>
              </a:ext>
            </a:extLst>
          </p:cNvPr>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35" name="Google Shape;135;p2">
            <a:extLst>
              <a:ext uri="{FF2B5EF4-FFF2-40B4-BE49-F238E27FC236}">
                <a16:creationId xmlns:a16="http://schemas.microsoft.com/office/drawing/2014/main" id="{F888EF0E-2EEE-8938-8ACC-5C0D21F287DF}"/>
              </a:ext>
            </a:extLst>
          </p:cNvPr>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a:extLst>
              <a:ext uri="{FF2B5EF4-FFF2-40B4-BE49-F238E27FC236}">
                <a16:creationId xmlns:a16="http://schemas.microsoft.com/office/drawing/2014/main" id="{3374CEA7-59E6-E7BA-877E-0B94AC50F34D}"/>
              </a:ext>
            </a:extLst>
          </p:cNvPr>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a:extLst>
              <a:ext uri="{FF2B5EF4-FFF2-40B4-BE49-F238E27FC236}">
                <a16:creationId xmlns:a16="http://schemas.microsoft.com/office/drawing/2014/main" id="{C81B36DD-BB85-3C8B-2CA3-B4F6382D5166}"/>
              </a:ext>
            </a:extLst>
          </p:cNvPr>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15</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a:extLst>
              <a:ext uri="{FF2B5EF4-FFF2-40B4-BE49-F238E27FC236}">
                <a16:creationId xmlns:a16="http://schemas.microsoft.com/office/drawing/2014/main" id="{8ECEFED8-356C-0D3C-5D96-BE2E510C5E5A}"/>
              </a:ext>
            </a:extLst>
          </p:cNvPr>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2 March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a:extLst>
              <a:ext uri="{FF2B5EF4-FFF2-40B4-BE49-F238E27FC236}">
                <a16:creationId xmlns:a16="http://schemas.microsoft.com/office/drawing/2014/main" id="{BA0873E7-C983-1269-4002-F9D86F4BCA54}"/>
              </a:ext>
            </a:extLst>
          </p:cNvPr>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a:extLst>
              <a:ext uri="{FF2B5EF4-FFF2-40B4-BE49-F238E27FC236}">
                <a16:creationId xmlns:a16="http://schemas.microsoft.com/office/drawing/2014/main" id="{AF3C10EC-B357-2572-03B9-BE06BD770AE7}"/>
              </a:ext>
            </a:extLst>
          </p:cNvPr>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10;&#10;Description automatically generated">
            <a:extLst>
              <a:ext uri="{FF2B5EF4-FFF2-40B4-BE49-F238E27FC236}">
                <a16:creationId xmlns:a16="http://schemas.microsoft.com/office/drawing/2014/main" id="{DA4C18AE-6CC5-BD6C-C000-9CF6BFBA80F3}"/>
              </a:ext>
            </a:extLst>
          </p:cNvPr>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42" name="Google Shape;142;p2">
            <a:extLst>
              <a:ext uri="{FF2B5EF4-FFF2-40B4-BE49-F238E27FC236}">
                <a16:creationId xmlns:a16="http://schemas.microsoft.com/office/drawing/2014/main" id="{B7B7055E-41E4-8508-A067-A6A45361E208}"/>
              </a:ext>
            </a:extLst>
          </p:cNvPr>
          <p:cNvSpPr txBox="1"/>
          <p:nvPr/>
        </p:nvSpPr>
        <p:spPr>
          <a:xfrm>
            <a:off x="2128296" y="847187"/>
            <a:ext cx="5555343"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3200"/>
              <a:buFont typeface="Times New Roman"/>
              <a:buNone/>
            </a:pPr>
            <a:r>
              <a:rPr lang="en-US" sz="2800" b="1" i="0" u="none" strike="noStrike" cap="none" dirty="0">
                <a:solidFill>
                  <a:schemeClr val="dk1"/>
                </a:solidFill>
                <a:latin typeface="Times New Roman"/>
                <a:ea typeface="Times New Roman"/>
                <a:cs typeface="Times New Roman"/>
                <a:sym typeface="Times New Roman"/>
              </a:rPr>
              <a:t>Literature Survey - 5</a:t>
            </a:r>
          </a:p>
        </p:txBody>
      </p:sp>
      <p:sp>
        <p:nvSpPr>
          <p:cNvPr id="4" name="Content Placeholder 4">
            <a:extLst>
              <a:ext uri="{FF2B5EF4-FFF2-40B4-BE49-F238E27FC236}">
                <a16:creationId xmlns:a16="http://schemas.microsoft.com/office/drawing/2014/main" id="{2EF73C84-6B21-A936-A39A-E64862C1225B}"/>
              </a:ext>
            </a:extLst>
          </p:cNvPr>
          <p:cNvSpPr txBox="1">
            <a:spLocks noChangeArrowheads="1"/>
          </p:cNvSpPr>
          <p:nvPr/>
        </p:nvSpPr>
        <p:spPr>
          <a:xfrm>
            <a:off x="500062" y="1836920"/>
            <a:ext cx="8143875" cy="371475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61950" indent="-361950" algn="just">
              <a:spcBef>
                <a:spcPct val="0"/>
              </a:spcBef>
              <a:buFontTx/>
              <a:buNone/>
              <a:tabLst>
                <a:tab pos="520700" algn="l"/>
              </a:tabLst>
              <a:defRPr/>
            </a:pPr>
            <a:r>
              <a:rPr lang="en-US" altLang="en-US" sz="2400" b="1" dirty="0">
                <a:solidFill>
                  <a:srgbClr val="C00000"/>
                </a:solidFill>
                <a:latin typeface="Times New Roman" panose="02020603050405020304" pitchFamily="18" charset="0"/>
                <a:cs typeface="Times New Roman" panose="02020603050405020304" pitchFamily="18" charset="0"/>
              </a:rPr>
              <a:t>Merits:</a:t>
            </a:r>
          </a:p>
          <a:p>
            <a:pPr marL="361950" indent="-361950" algn="just">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Integrates control flow information into transformer-based embeddings</a:t>
            </a:r>
          </a:p>
          <a:p>
            <a:pPr marL="361950" indent="-361950" algn="just">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Pretraining enables transfer learning across different binary datasets</a:t>
            </a:r>
          </a:p>
          <a:p>
            <a:pPr algn="just">
              <a:spcBef>
                <a:spcPct val="0"/>
              </a:spcBef>
              <a:tabLst>
                <a:tab pos="520700" algn="l"/>
              </a:tabLst>
              <a:defRPr/>
            </a:pPr>
            <a:r>
              <a:rPr lang="en-US" altLang="en-US" sz="2400" b="1" dirty="0">
                <a:solidFill>
                  <a:srgbClr val="C00000"/>
                </a:solidFill>
                <a:latin typeface="Times New Roman" panose="02020603050405020304" pitchFamily="18" charset="0"/>
                <a:cs typeface="Times New Roman" panose="02020603050405020304" pitchFamily="18" charset="0"/>
              </a:rPr>
              <a:t>Demerits:</a:t>
            </a:r>
          </a:p>
          <a:p>
            <a:pPr marL="342900" indent="-342900" algn="just">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Token length limitations of transformers restrict handling of very large functions</a:t>
            </a:r>
          </a:p>
          <a:p>
            <a:pPr marL="342900" indent="-342900" algn="just">
              <a:spcBef>
                <a:spcPct val="0"/>
              </a:spcBef>
              <a:buFont typeface="Arial" panose="020B0604020202020204" pitchFamily="34" charset="0"/>
              <a:buChar char="•"/>
              <a:tabLst>
                <a:tab pos="520700" algn="l"/>
              </a:tabLst>
              <a:defRPr/>
            </a:pPr>
            <a:r>
              <a:rPr lang="en-IN" sz="2400" dirty="0">
                <a:latin typeface="Times New Roman" panose="02020603050405020304" pitchFamily="18" charset="0"/>
                <a:cs typeface="Times New Roman" panose="02020603050405020304" pitchFamily="18" charset="0"/>
              </a:rPr>
              <a:t>Pretraining requires significant computational resources</a:t>
            </a:r>
            <a:endParaRPr lang="en-IN"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118617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33">
          <a:extLst>
            <a:ext uri="{FF2B5EF4-FFF2-40B4-BE49-F238E27FC236}">
              <a16:creationId xmlns:a16="http://schemas.microsoft.com/office/drawing/2014/main" id="{3A6924BC-EBE3-B461-5BA6-029B439AEC4A}"/>
            </a:ext>
          </a:extLst>
        </p:cNvPr>
        <p:cNvGrpSpPr/>
        <p:nvPr/>
      </p:nvGrpSpPr>
      <p:grpSpPr>
        <a:xfrm>
          <a:off x="0" y="0"/>
          <a:ext cx="0" cy="0"/>
          <a:chOff x="0" y="0"/>
          <a:chExt cx="0" cy="0"/>
        </a:xfrm>
      </p:grpSpPr>
      <p:pic>
        <p:nvPicPr>
          <p:cNvPr id="134" name="Google Shape;134;p2">
            <a:extLst>
              <a:ext uri="{FF2B5EF4-FFF2-40B4-BE49-F238E27FC236}">
                <a16:creationId xmlns:a16="http://schemas.microsoft.com/office/drawing/2014/main" id="{5D769272-88AA-4362-BE4E-6FCEF407723F}"/>
              </a:ext>
            </a:extLst>
          </p:cNvPr>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35" name="Google Shape;135;p2">
            <a:extLst>
              <a:ext uri="{FF2B5EF4-FFF2-40B4-BE49-F238E27FC236}">
                <a16:creationId xmlns:a16="http://schemas.microsoft.com/office/drawing/2014/main" id="{D5BC818D-325C-511B-0E75-E8EEA55AA741}"/>
              </a:ext>
            </a:extLst>
          </p:cNvPr>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a:extLst>
              <a:ext uri="{FF2B5EF4-FFF2-40B4-BE49-F238E27FC236}">
                <a16:creationId xmlns:a16="http://schemas.microsoft.com/office/drawing/2014/main" id="{0181C93E-7AD6-D43E-C934-ADA969CCDABA}"/>
              </a:ext>
            </a:extLst>
          </p:cNvPr>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a:extLst>
              <a:ext uri="{FF2B5EF4-FFF2-40B4-BE49-F238E27FC236}">
                <a16:creationId xmlns:a16="http://schemas.microsoft.com/office/drawing/2014/main" id="{71CB6FB0-EBC7-B61C-950F-8C04DF4BD075}"/>
              </a:ext>
            </a:extLst>
          </p:cNvPr>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16</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a:extLst>
              <a:ext uri="{FF2B5EF4-FFF2-40B4-BE49-F238E27FC236}">
                <a16:creationId xmlns:a16="http://schemas.microsoft.com/office/drawing/2014/main" id="{D0B0550B-D32E-E586-0B7E-F224AF1D7EAB}"/>
              </a:ext>
            </a:extLst>
          </p:cNvPr>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2 March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a:extLst>
              <a:ext uri="{FF2B5EF4-FFF2-40B4-BE49-F238E27FC236}">
                <a16:creationId xmlns:a16="http://schemas.microsoft.com/office/drawing/2014/main" id="{870D2FF9-B72F-F142-3E07-24A8DAD35A9C}"/>
              </a:ext>
            </a:extLst>
          </p:cNvPr>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a:extLst>
              <a:ext uri="{FF2B5EF4-FFF2-40B4-BE49-F238E27FC236}">
                <a16:creationId xmlns:a16="http://schemas.microsoft.com/office/drawing/2014/main" id="{039569D7-BEBA-53E5-8706-B1430524356E}"/>
              </a:ext>
            </a:extLst>
          </p:cNvPr>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10;&#10;Description automatically generated">
            <a:extLst>
              <a:ext uri="{FF2B5EF4-FFF2-40B4-BE49-F238E27FC236}">
                <a16:creationId xmlns:a16="http://schemas.microsoft.com/office/drawing/2014/main" id="{68E455B5-73F3-6A8A-BE91-2B9606C81F85}"/>
              </a:ext>
            </a:extLst>
          </p:cNvPr>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42" name="Google Shape;142;p2">
            <a:extLst>
              <a:ext uri="{FF2B5EF4-FFF2-40B4-BE49-F238E27FC236}">
                <a16:creationId xmlns:a16="http://schemas.microsoft.com/office/drawing/2014/main" id="{BF2957AF-518B-406F-82E0-83246721171D}"/>
              </a:ext>
            </a:extLst>
          </p:cNvPr>
          <p:cNvSpPr txBox="1"/>
          <p:nvPr/>
        </p:nvSpPr>
        <p:spPr>
          <a:xfrm>
            <a:off x="2128296" y="847187"/>
            <a:ext cx="5555343"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3200"/>
              <a:buFont typeface="Times New Roman"/>
              <a:buNone/>
            </a:pPr>
            <a:r>
              <a:rPr lang="en-US" sz="2800" b="1" i="0" u="none" strike="noStrike" cap="none" dirty="0">
                <a:solidFill>
                  <a:schemeClr val="dk1"/>
                </a:solidFill>
                <a:latin typeface="Times New Roman"/>
                <a:ea typeface="Times New Roman"/>
                <a:cs typeface="Times New Roman"/>
                <a:sym typeface="Times New Roman"/>
              </a:rPr>
              <a:t>Literature Survey - 6</a:t>
            </a:r>
          </a:p>
        </p:txBody>
      </p:sp>
      <p:sp>
        <p:nvSpPr>
          <p:cNvPr id="4" name="Content Placeholder 4">
            <a:extLst>
              <a:ext uri="{FF2B5EF4-FFF2-40B4-BE49-F238E27FC236}">
                <a16:creationId xmlns:a16="http://schemas.microsoft.com/office/drawing/2014/main" id="{E5D2F42E-A45B-DB11-51E2-4B5931448758}"/>
              </a:ext>
            </a:extLst>
          </p:cNvPr>
          <p:cNvSpPr txBox="1">
            <a:spLocks noChangeArrowheads="1"/>
          </p:cNvSpPr>
          <p:nvPr/>
        </p:nvSpPr>
        <p:spPr>
          <a:xfrm>
            <a:off x="238125" y="1530966"/>
            <a:ext cx="8143875" cy="5015883"/>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2400" b="1" dirty="0">
                <a:latin typeface="Times New Roman" panose="02020603050405020304" pitchFamily="18" charset="0"/>
                <a:cs typeface="Times New Roman" panose="02020603050405020304" pitchFamily="18" charset="0"/>
              </a:rPr>
              <a:t>He et al. (2024)</a:t>
            </a:r>
            <a:r>
              <a:rPr lang="en-US" sz="2400" dirty="0">
                <a:latin typeface="Times New Roman" panose="02020603050405020304" pitchFamily="18" charset="0"/>
                <a:cs typeface="Times New Roman" panose="02020603050405020304" pitchFamily="18" charset="0"/>
              </a:rPr>
              <a:t> presented </a:t>
            </a:r>
            <a:r>
              <a:rPr lang="en-US" sz="2400" b="1" dirty="0" err="1">
                <a:latin typeface="Times New Roman" panose="02020603050405020304" pitchFamily="18" charset="0"/>
                <a:cs typeface="Times New Roman" panose="02020603050405020304" pitchFamily="18" charset="0"/>
              </a:rPr>
              <a:t>HermesSim</a:t>
            </a:r>
            <a:r>
              <a:rPr lang="en-US" sz="2400" dirty="0">
                <a:latin typeface="Times New Roman" panose="02020603050405020304" pitchFamily="18" charset="0"/>
                <a:cs typeface="Times New Roman" panose="02020603050405020304" pitchFamily="18" charset="0"/>
              </a:rPr>
              <a:t>, which argues that binary code should not be treated as natural language. It constructs semantics-oriented graphs from binary functions and processes them using Graph Neural Networks (GNNs) with a </a:t>
            </a:r>
            <a:r>
              <a:rPr lang="en-US" sz="2400" dirty="0" err="1">
                <a:latin typeface="Times New Roman" panose="02020603050405020304" pitchFamily="18" charset="0"/>
                <a:cs typeface="Times New Roman" panose="02020603050405020304" pitchFamily="18" charset="0"/>
              </a:rPr>
              <a:t>multihead</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softmax</a:t>
            </a:r>
            <a:r>
              <a:rPr lang="en-US" sz="2400" dirty="0">
                <a:latin typeface="Times New Roman" panose="02020603050405020304" pitchFamily="18" charset="0"/>
                <a:cs typeface="Times New Roman" panose="02020603050405020304" pitchFamily="18" charset="0"/>
              </a:rPr>
              <a:t> aggregator to fuse node-level information into function-level embeddings. The approach explicitly models the semantic relationships between instructions at the graph level.</a:t>
            </a:r>
          </a:p>
          <a:p>
            <a:endParaRPr lang="en-US" sz="1600" b="1" dirty="0">
              <a:solidFill>
                <a:srgbClr val="0000CC"/>
              </a:solidFill>
              <a:latin typeface="Times New Roman" panose="02020603050405020304" pitchFamily="18" charset="0"/>
              <a:cs typeface="Times New Roman" panose="02020603050405020304" pitchFamily="18" charset="0"/>
            </a:endParaRPr>
          </a:p>
          <a:p>
            <a:endParaRPr lang="en-US" sz="1600" b="1" dirty="0">
              <a:solidFill>
                <a:srgbClr val="0000CC"/>
              </a:solidFill>
              <a:latin typeface="Times New Roman" panose="02020603050405020304" pitchFamily="18" charset="0"/>
              <a:cs typeface="Times New Roman" panose="02020603050405020304" pitchFamily="18" charset="0"/>
            </a:endParaRPr>
          </a:p>
          <a:p>
            <a:endParaRPr lang="en-US" sz="1600" b="1" dirty="0">
              <a:solidFill>
                <a:srgbClr val="0000CC"/>
              </a:solidFill>
              <a:latin typeface="Times New Roman" panose="02020603050405020304" pitchFamily="18" charset="0"/>
              <a:cs typeface="Times New Roman" panose="02020603050405020304" pitchFamily="18" charset="0"/>
            </a:endParaRPr>
          </a:p>
          <a:p>
            <a:endParaRPr lang="en-US" sz="1600" b="1" dirty="0">
              <a:solidFill>
                <a:srgbClr val="0000CC"/>
              </a:solidFill>
              <a:latin typeface="Times New Roman" panose="02020603050405020304" pitchFamily="18" charset="0"/>
              <a:cs typeface="Times New Roman" panose="02020603050405020304" pitchFamily="18" charset="0"/>
            </a:endParaRPr>
          </a:p>
          <a:p>
            <a:endParaRPr lang="en-US" sz="1600" b="1" dirty="0">
              <a:solidFill>
                <a:srgbClr val="0000CC"/>
              </a:solidFill>
              <a:latin typeface="Times New Roman" panose="02020603050405020304" pitchFamily="18" charset="0"/>
              <a:cs typeface="Times New Roman" panose="02020603050405020304" pitchFamily="18" charset="0"/>
            </a:endParaRPr>
          </a:p>
          <a:p>
            <a:r>
              <a:rPr lang="en-US" sz="1600" b="1" dirty="0">
                <a:solidFill>
                  <a:srgbClr val="0000CC"/>
                </a:solidFill>
                <a:latin typeface="Times New Roman" panose="02020603050405020304" pitchFamily="18" charset="0"/>
                <a:cs typeface="Times New Roman" panose="02020603050405020304" pitchFamily="18" charset="0"/>
              </a:rPr>
              <a:t>Reference:</a:t>
            </a:r>
            <a:r>
              <a:rPr lang="en-US" sz="1600" dirty="0">
                <a:solidFill>
                  <a:srgbClr val="0000CC"/>
                </a:solidFill>
                <a:latin typeface="Times New Roman" panose="02020603050405020304" pitchFamily="18" charset="0"/>
                <a:cs typeface="Times New Roman" panose="02020603050405020304" pitchFamily="18" charset="0"/>
              </a:rPr>
              <a:t> H. He et al., "Code is not natural language: Unlock the power of semantics-oriented graph representation for binary code similarity detection," </a:t>
            </a:r>
            <a:r>
              <a:rPr lang="en-US" sz="1600" i="1" dirty="0">
                <a:solidFill>
                  <a:srgbClr val="0000CC"/>
                </a:solidFill>
                <a:latin typeface="Times New Roman" panose="02020603050405020304" pitchFamily="18" charset="0"/>
                <a:cs typeface="Times New Roman" panose="02020603050405020304" pitchFamily="18" charset="0"/>
              </a:rPr>
              <a:t>33rd USENIX Security Symposium</a:t>
            </a:r>
            <a:r>
              <a:rPr lang="en-US" sz="1600" dirty="0">
                <a:solidFill>
                  <a:srgbClr val="0000CC"/>
                </a:solidFill>
                <a:latin typeface="Times New Roman" panose="02020603050405020304" pitchFamily="18" charset="0"/>
                <a:cs typeface="Times New Roman" panose="02020603050405020304" pitchFamily="18" charset="0"/>
              </a:rPr>
              <a:t>, 2024, pp. 1759–1776.</a:t>
            </a:r>
          </a:p>
          <a:p>
            <a:pPr algn="just">
              <a:spcBef>
                <a:spcPct val="0"/>
              </a:spcBef>
              <a:buFontTx/>
              <a:buNone/>
              <a:tabLst>
                <a:tab pos="520700" algn="l"/>
              </a:tabLst>
              <a:defRPr/>
            </a:pPr>
            <a:endParaRPr lang="en-IN" altLang="en-US"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856693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33">
          <a:extLst>
            <a:ext uri="{FF2B5EF4-FFF2-40B4-BE49-F238E27FC236}">
              <a16:creationId xmlns:a16="http://schemas.microsoft.com/office/drawing/2014/main" id="{D5CD6CFD-A964-A403-69A1-2C4D52DC5F32}"/>
            </a:ext>
          </a:extLst>
        </p:cNvPr>
        <p:cNvGrpSpPr/>
        <p:nvPr/>
      </p:nvGrpSpPr>
      <p:grpSpPr>
        <a:xfrm>
          <a:off x="0" y="0"/>
          <a:ext cx="0" cy="0"/>
          <a:chOff x="0" y="0"/>
          <a:chExt cx="0" cy="0"/>
        </a:xfrm>
      </p:grpSpPr>
      <p:pic>
        <p:nvPicPr>
          <p:cNvPr id="134" name="Google Shape;134;p2">
            <a:extLst>
              <a:ext uri="{FF2B5EF4-FFF2-40B4-BE49-F238E27FC236}">
                <a16:creationId xmlns:a16="http://schemas.microsoft.com/office/drawing/2014/main" id="{E9FFE669-56B5-5C68-0B52-D613D3CE0451}"/>
              </a:ext>
            </a:extLst>
          </p:cNvPr>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35" name="Google Shape;135;p2">
            <a:extLst>
              <a:ext uri="{FF2B5EF4-FFF2-40B4-BE49-F238E27FC236}">
                <a16:creationId xmlns:a16="http://schemas.microsoft.com/office/drawing/2014/main" id="{A65671A1-A433-F4A5-A38A-4B3AA70EDD4C}"/>
              </a:ext>
            </a:extLst>
          </p:cNvPr>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a:extLst>
              <a:ext uri="{FF2B5EF4-FFF2-40B4-BE49-F238E27FC236}">
                <a16:creationId xmlns:a16="http://schemas.microsoft.com/office/drawing/2014/main" id="{E224BF00-7B2C-7C04-6963-47CB5FAE5B76}"/>
              </a:ext>
            </a:extLst>
          </p:cNvPr>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a:extLst>
              <a:ext uri="{FF2B5EF4-FFF2-40B4-BE49-F238E27FC236}">
                <a16:creationId xmlns:a16="http://schemas.microsoft.com/office/drawing/2014/main" id="{F1913D2B-C3AA-CBD9-EC24-3B31DF5C0425}"/>
              </a:ext>
            </a:extLst>
          </p:cNvPr>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17</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a:extLst>
              <a:ext uri="{FF2B5EF4-FFF2-40B4-BE49-F238E27FC236}">
                <a16:creationId xmlns:a16="http://schemas.microsoft.com/office/drawing/2014/main" id="{DD8BF828-4FF4-EA9F-DC63-8D3E16F82E2E}"/>
              </a:ext>
            </a:extLst>
          </p:cNvPr>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2 March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a:extLst>
              <a:ext uri="{FF2B5EF4-FFF2-40B4-BE49-F238E27FC236}">
                <a16:creationId xmlns:a16="http://schemas.microsoft.com/office/drawing/2014/main" id="{AB62401A-29A7-705D-FF38-985F76137996}"/>
              </a:ext>
            </a:extLst>
          </p:cNvPr>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a:extLst>
              <a:ext uri="{FF2B5EF4-FFF2-40B4-BE49-F238E27FC236}">
                <a16:creationId xmlns:a16="http://schemas.microsoft.com/office/drawing/2014/main" id="{D2E3FC2D-AC39-B06B-C099-B6CFF9EDAFFA}"/>
              </a:ext>
            </a:extLst>
          </p:cNvPr>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10;&#10;Description automatically generated">
            <a:extLst>
              <a:ext uri="{FF2B5EF4-FFF2-40B4-BE49-F238E27FC236}">
                <a16:creationId xmlns:a16="http://schemas.microsoft.com/office/drawing/2014/main" id="{DE6D1BF3-B2E2-9D55-9430-46368D4CB565}"/>
              </a:ext>
            </a:extLst>
          </p:cNvPr>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42" name="Google Shape;142;p2">
            <a:extLst>
              <a:ext uri="{FF2B5EF4-FFF2-40B4-BE49-F238E27FC236}">
                <a16:creationId xmlns:a16="http://schemas.microsoft.com/office/drawing/2014/main" id="{DA54A8D7-4E34-A452-BC47-8A2B0933D3DF}"/>
              </a:ext>
            </a:extLst>
          </p:cNvPr>
          <p:cNvSpPr txBox="1"/>
          <p:nvPr/>
        </p:nvSpPr>
        <p:spPr>
          <a:xfrm>
            <a:off x="2128296" y="847187"/>
            <a:ext cx="5555343"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3200"/>
              <a:buFont typeface="Times New Roman"/>
              <a:buNone/>
            </a:pPr>
            <a:r>
              <a:rPr lang="en-US" sz="2800" b="1" i="0" u="none" strike="noStrike" cap="none" dirty="0">
                <a:solidFill>
                  <a:schemeClr val="dk1"/>
                </a:solidFill>
                <a:latin typeface="Times New Roman"/>
                <a:ea typeface="Times New Roman"/>
                <a:cs typeface="Times New Roman"/>
                <a:sym typeface="Times New Roman"/>
              </a:rPr>
              <a:t>Literature Survey - 6</a:t>
            </a:r>
          </a:p>
        </p:txBody>
      </p:sp>
      <p:sp>
        <p:nvSpPr>
          <p:cNvPr id="4" name="Content Placeholder 4">
            <a:extLst>
              <a:ext uri="{FF2B5EF4-FFF2-40B4-BE49-F238E27FC236}">
                <a16:creationId xmlns:a16="http://schemas.microsoft.com/office/drawing/2014/main" id="{5453237E-F3E8-379F-87F3-BBC49339915A}"/>
              </a:ext>
            </a:extLst>
          </p:cNvPr>
          <p:cNvSpPr txBox="1">
            <a:spLocks noChangeArrowheads="1"/>
          </p:cNvSpPr>
          <p:nvPr/>
        </p:nvSpPr>
        <p:spPr>
          <a:xfrm>
            <a:off x="500062" y="1836920"/>
            <a:ext cx="8143875" cy="371475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61950" indent="-361950" algn="just">
              <a:spcBef>
                <a:spcPct val="0"/>
              </a:spcBef>
              <a:buFontTx/>
              <a:buNone/>
              <a:tabLst>
                <a:tab pos="520700" algn="l"/>
              </a:tabLst>
              <a:defRPr/>
            </a:pPr>
            <a:r>
              <a:rPr lang="en-US" altLang="en-US" sz="2400" b="1" dirty="0">
                <a:solidFill>
                  <a:srgbClr val="C00000"/>
                </a:solidFill>
                <a:latin typeface="Times New Roman" panose="02020603050405020304" pitchFamily="18" charset="0"/>
                <a:cs typeface="Times New Roman" panose="02020603050405020304" pitchFamily="18" charset="0"/>
              </a:rPr>
              <a:t>Merits:</a:t>
            </a:r>
          </a:p>
          <a:p>
            <a:pPr marL="361950" indent="-361950" algn="just">
              <a:spcBef>
                <a:spcPct val="0"/>
              </a:spcBef>
              <a:buFont typeface="Arial" panose="020B0604020202020204" pitchFamily="34" charset="0"/>
              <a:buChar char="•"/>
              <a:tabLst>
                <a:tab pos="520700" algn="l"/>
              </a:tabLst>
              <a:defRPr/>
            </a:pPr>
            <a:r>
              <a:rPr lang="en-IN" sz="2400" dirty="0">
                <a:latin typeface="Times New Roman" panose="02020603050405020304" pitchFamily="18" charset="0"/>
                <a:cs typeface="Times New Roman" panose="02020603050405020304" pitchFamily="18" charset="0"/>
              </a:rPr>
              <a:t>Captures rich semantic graph structure beyond simple instruction sequences</a:t>
            </a:r>
          </a:p>
          <a:p>
            <a:pPr marL="361950" indent="-361950" algn="just">
              <a:spcBef>
                <a:spcPct val="0"/>
              </a:spcBef>
              <a:buFont typeface="Arial" panose="020B0604020202020204" pitchFamily="34" charset="0"/>
              <a:buChar char="•"/>
              <a:tabLst>
                <a:tab pos="520700" algn="l"/>
              </a:tabLst>
              <a:defRPr/>
            </a:pPr>
            <a:r>
              <a:rPr lang="en-US" sz="2400" dirty="0" err="1">
                <a:latin typeface="Times New Roman" panose="02020603050405020304" pitchFamily="18" charset="0"/>
                <a:cs typeface="Times New Roman" panose="02020603050405020304" pitchFamily="18" charset="0"/>
              </a:rPr>
              <a:t>Multihead</a:t>
            </a:r>
            <a:r>
              <a:rPr lang="en-US" sz="2400" dirty="0">
                <a:latin typeface="Times New Roman" panose="02020603050405020304" pitchFamily="18" charset="0"/>
                <a:cs typeface="Times New Roman" panose="02020603050405020304" pitchFamily="18" charset="0"/>
              </a:rPr>
              <a:t> aggregation effectively fuses diverse structural features</a:t>
            </a:r>
          </a:p>
          <a:p>
            <a:pPr algn="just">
              <a:spcBef>
                <a:spcPct val="0"/>
              </a:spcBef>
              <a:tabLst>
                <a:tab pos="520700" algn="l"/>
              </a:tabLst>
              <a:defRPr/>
            </a:pPr>
            <a:r>
              <a:rPr lang="en-US" altLang="en-US" sz="2400" b="1" dirty="0">
                <a:solidFill>
                  <a:srgbClr val="C00000"/>
                </a:solidFill>
                <a:latin typeface="Times New Roman" panose="02020603050405020304" pitchFamily="18" charset="0"/>
                <a:cs typeface="Times New Roman" panose="02020603050405020304" pitchFamily="18" charset="0"/>
              </a:rPr>
              <a:t>Demerits:</a:t>
            </a:r>
          </a:p>
          <a:p>
            <a:pPr marL="342900" indent="-342900" algn="just">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Graph construction overhead adds processing complexity</a:t>
            </a:r>
          </a:p>
          <a:p>
            <a:pPr marL="342900" indent="-342900" algn="just">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Cross-architecture performance is affected by architectural differences in graph structures</a:t>
            </a:r>
            <a:endParaRPr lang="en-IN"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317385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33">
          <a:extLst>
            <a:ext uri="{FF2B5EF4-FFF2-40B4-BE49-F238E27FC236}">
              <a16:creationId xmlns:a16="http://schemas.microsoft.com/office/drawing/2014/main" id="{A84A477D-D6F6-5C32-0FFE-741B34B60EA3}"/>
            </a:ext>
          </a:extLst>
        </p:cNvPr>
        <p:cNvGrpSpPr/>
        <p:nvPr/>
      </p:nvGrpSpPr>
      <p:grpSpPr>
        <a:xfrm>
          <a:off x="0" y="0"/>
          <a:ext cx="0" cy="0"/>
          <a:chOff x="0" y="0"/>
          <a:chExt cx="0" cy="0"/>
        </a:xfrm>
      </p:grpSpPr>
      <p:pic>
        <p:nvPicPr>
          <p:cNvPr id="134" name="Google Shape;134;p2">
            <a:extLst>
              <a:ext uri="{FF2B5EF4-FFF2-40B4-BE49-F238E27FC236}">
                <a16:creationId xmlns:a16="http://schemas.microsoft.com/office/drawing/2014/main" id="{58300CBD-9181-2949-6663-DB2433D04943}"/>
              </a:ext>
            </a:extLst>
          </p:cNvPr>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35" name="Google Shape;135;p2">
            <a:extLst>
              <a:ext uri="{FF2B5EF4-FFF2-40B4-BE49-F238E27FC236}">
                <a16:creationId xmlns:a16="http://schemas.microsoft.com/office/drawing/2014/main" id="{047D6164-0C8D-605F-2880-F0AAD81D3C3D}"/>
              </a:ext>
            </a:extLst>
          </p:cNvPr>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a:extLst>
              <a:ext uri="{FF2B5EF4-FFF2-40B4-BE49-F238E27FC236}">
                <a16:creationId xmlns:a16="http://schemas.microsoft.com/office/drawing/2014/main" id="{A7E69353-98B0-FF33-BFF4-012217667D84}"/>
              </a:ext>
            </a:extLst>
          </p:cNvPr>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a:extLst>
              <a:ext uri="{FF2B5EF4-FFF2-40B4-BE49-F238E27FC236}">
                <a16:creationId xmlns:a16="http://schemas.microsoft.com/office/drawing/2014/main" id="{74809B3F-38D1-5A35-FEAF-D192CB470C3A}"/>
              </a:ext>
            </a:extLst>
          </p:cNvPr>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18</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a:extLst>
              <a:ext uri="{FF2B5EF4-FFF2-40B4-BE49-F238E27FC236}">
                <a16:creationId xmlns:a16="http://schemas.microsoft.com/office/drawing/2014/main" id="{5D53DEB7-902E-5A72-AD79-30CE82498A46}"/>
              </a:ext>
            </a:extLst>
          </p:cNvPr>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2 March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a:extLst>
              <a:ext uri="{FF2B5EF4-FFF2-40B4-BE49-F238E27FC236}">
                <a16:creationId xmlns:a16="http://schemas.microsoft.com/office/drawing/2014/main" id="{22B7F1BC-033E-EC30-E820-6812A25044DB}"/>
              </a:ext>
            </a:extLst>
          </p:cNvPr>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a:extLst>
              <a:ext uri="{FF2B5EF4-FFF2-40B4-BE49-F238E27FC236}">
                <a16:creationId xmlns:a16="http://schemas.microsoft.com/office/drawing/2014/main" id="{E90CE8BB-3673-1F56-4328-5E41C5059EB9}"/>
              </a:ext>
            </a:extLst>
          </p:cNvPr>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10;&#10;Description automatically generated">
            <a:extLst>
              <a:ext uri="{FF2B5EF4-FFF2-40B4-BE49-F238E27FC236}">
                <a16:creationId xmlns:a16="http://schemas.microsoft.com/office/drawing/2014/main" id="{13DDA3C8-34E2-3A01-DFFF-4E02DE3F3E07}"/>
              </a:ext>
            </a:extLst>
          </p:cNvPr>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42" name="Google Shape;142;p2">
            <a:extLst>
              <a:ext uri="{FF2B5EF4-FFF2-40B4-BE49-F238E27FC236}">
                <a16:creationId xmlns:a16="http://schemas.microsoft.com/office/drawing/2014/main" id="{B4774763-AAC0-49AE-FFF7-85D4B2169FA1}"/>
              </a:ext>
            </a:extLst>
          </p:cNvPr>
          <p:cNvSpPr txBox="1"/>
          <p:nvPr/>
        </p:nvSpPr>
        <p:spPr>
          <a:xfrm>
            <a:off x="2128296" y="847187"/>
            <a:ext cx="5555343"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3200"/>
              <a:buFont typeface="Times New Roman"/>
              <a:buNone/>
            </a:pPr>
            <a:r>
              <a:rPr lang="en-US" sz="2800" b="1" i="0" u="none" strike="noStrike" cap="none" dirty="0">
                <a:solidFill>
                  <a:schemeClr val="dk1"/>
                </a:solidFill>
                <a:latin typeface="Times New Roman"/>
                <a:ea typeface="Times New Roman"/>
                <a:cs typeface="Times New Roman"/>
                <a:sym typeface="Times New Roman"/>
              </a:rPr>
              <a:t>Literature Survey - 7</a:t>
            </a:r>
          </a:p>
        </p:txBody>
      </p:sp>
      <p:sp>
        <p:nvSpPr>
          <p:cNvPr id="4" name="Content Placeholder 4">
            <a:extLst>
              <a:ext uri="{FF2B5EF4-FFF2-40B4-BE49-F238E27FC236}">
                <a16:creationId xmlns:a16="http://schemas.microsoft.com/office/drawing/2014/main" id="{B6A956D1-D31B-5E43-136B-8D263909A1A1}"/>
              </a:ext>
            </a:extLst>
          </p:cNvPr>
          <p:cNvSpPr txBox="1">
            <a:spLocks noChangeArrowheads="1"/>
          </p:cNvSpPr>
          <p:nvPr/>
        </p:nvSpPr>
        <p:spPr>
          <a:xfrm>
            <a:off x="238125" y="1530966"/>
            <a:ext cx="8143875" cy="5015883"/>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2400" b="1" dirty="0">
                <a:latin typeface="Times New Roman" panose="02020603050405020304" pitchFamily="18" charset="0"/>
                <a:cs typeface="Times New Roman" panose="02020603050405020304" pitchFamily="18" charset="0"/>
              </a:rPr>
              <a:t>Luo et al. (2023)</a:t>
            </a:r>
            <a:r>
              <a:rPr lang="en-US" sz="2400" dirty="0">
                <a:latin typeface="Times New Roman" panose="02020603050405020304" pitchFamily="18" charset="0"/>
                <a:cs typeface="Times New Roman" panose="02020603050405020304" pitchFamily="18" charset="0"/>
              </a:rPr>
              <a:t> introduced </a:t>
            </a:r>
            <a:r>
              <a:rPr lang="en-US" sz="2400" b="1" dirty="0" err="1">
                <a:latin typeface="Times New Roman" panose="02020603050405020304" pitchFamily="18" charset="0"/>
                <a:cs typeface="Times New Roman" panose="02020603050405020304" pitchFamily="18" charset="0"/>
              </a:rPr>
              <a:t>VulHawk</a:t>
            </a:r>
            <a:r>
              <a:rPr lang="en-US" sz="2400" dirty="0">
                <a:latin typeface="Times New Roman" panose="02020603050405020304" pitchFamily="18" charset="0"/>
                <a:cs typeface="Times New Roman" panose="02020603050405020304" pitchFamily="18" charset="0"/>
              </a:rPr>
              <a:t>, a cross-architecture vulnerability detection system that uses microcode as a unified Intermediate Representation (IR) to reduce architecture-specific differences. A pretrained language model generates embeddings from the normalized microcode, enabling similarity-based vulnerability detection across different architectures. This IR-based approach mitigates the semantic loss caused by architecture-specific instruction sets.</a:t>
            </a:r>
          </a:p>
          <a:p>
            <a:endParaRPr lang="en-US" sz="1600" b="1" dirty="0">
              <a:solidFill>
                <a:srgbClr val="0000CC"/>
              </a:solidFill>
              <a:latin typeface="Times New Roman" panose="02020603050405020304" pitchFamily="18" charset="0"/>
              <a:cs typeface="Times New Roman" panose="02020603050405020304" pitchFamily="18" charset="0"/>
            </a:endParaRPr>
          </a:p>
          <a:p>
            <a:endParaRPr lang="en-US" sz="1600" b="1" dirty="0">
              <a:solidFill>
                <a:srgbClr val="0000CC"/>
              </a:solidFill>
              <a:latin typeface="Times New Roman" panose="02020603050405020304" pitchFamily="18" charset="0"/>
              <a:cs typeface="Times New Roman" panose="02020603050405020304" pitchFamily="18" charset="0"/>
            </a:endParaRPr>
          </a:p>
          <a:p>
            <a:endParaRPr lang="en-US" sz="1600" b="1" dirty="0">
              <a:solidFill>
                <a:srgbClr val="0000CC"/>
              </a:solidFill>
              <a:latin typeface="Times New Roman" panose="02020603050405020304" pitchFamily="18" charset="0"/>
              <a:cs typeface="Times New Roman" panose="02020603050405020304" pitchFamily="18" charset="0"/>
            </a:endParaRPr>
          </a:p>
          <a:p>
            <a:endParaRPr lang="en-US" sz="1600" b="1" dirty="0">
              <a:solidFill>
                <a:srgbClr val="0000CC"/>
              </a:solidFill>
              <a:latin typeface="Times New Roman" panose="02020603050405020304" pitchFamily="18" charset="0"/>
              <a:cs typeface="Times New Roman" panose="02020603050405020304" pitchFamily="18" charset="0"/>
            </a:endParaRPr>
          </a:p>
          <a:p>
            <a:r>
              <a:rPr lang="en-US" sz="1600" b="1" dirty="0">
                <a:solidFill>
                  <a:srgbClr val="0000CC"/>
                </a:solidFill>
                <a:latin typeface="Times New Roman" panose="02020603050405020304" pitchFamily="18" charset="0"/>
                <a:cs typeface="Times New Roman" panose="02020603050405020304" pitchFamily="18" charset="0"/>
              </a:rPr>
              <a:t>Reference:</a:t>
            </a:r>
            <a:r>
              <a:rPr lang="en-US" sz="1600" dirty="0">
                <a:solidFill>
                  <a:srgbClr val="0000CC"/>
                </a:solidFill>
                <a:latin typeface="Times New Roman" panose="02020603050405020304" pitchFamily="18" charset="0"/>
                <a:cs typeface="Times New Roman" panose="02020603050405020304" pitchFamily="18" charset="0"/>
              </a:rPr>
              <a:t> Z. Luo et al., "</a:t>
            </a:r>
            <a:r>
              <a:rPr lang="en-US" sz="1600" dirty="0" err="1">
                <a:solidFill>
                  <a:srgbClr val="0000CC"/>
                </a:solidFill>
                <a:latin typeface="Times New Roman" panose="02020603050405020304" pitchFamily="18" charset="0"/>
                <a:cs typeface="Times New Roman" panose="02020603050405020304" pitchFamily="18" charset="0"/>
              </a:rPr>
              <a:t>VulHawk</a:t>
            </a:r>
            <a:r>
              <a:rPr lang="en-US" sz="1600" dirty="0">
                <a:solidFill>
                  <a:srgbClr val="0000CC"/>
                </a:solidFill>
                <a:latin typeface="Times New Roman" panose="02020603050405020304" pitchFamily="18" charset="0"/>
                <a:cs typeface="Times New Roman" panose="02020603050405020304" pitchFamily="18" charset="0"/>
              </a:rPr>
              <a:t>: Cross-architecture vulnerability detection with entropy-based binary code search," </a:t>
            </a:r>
            <a:r>
              <a:rPr lang="en-US" sz="1600" i="1" dirty="0">
                <a:solidFill>
                  <a:srgbClr val="0000CC"/>
                </a:solidFill>
                <a:latin typeface="Times New Roman" panose="02020603050405020304" pitchFamily="18" charset="0"/>
                <a:cs typeface="Times New Roman" panose="02020603050405020304" pitchFamily="18" charset="0"/>
              </a:rPr>
              <a:t>Network and Distributed System Security Symposium (NDSS)</a:t>
            </a:r>
            <a:r>
              <a:rPr lang="en-US" sz="1600" dirty="0">
                <a:solidFill>
                  <a:srgbClr val="0000CC"/>
                </a:solidFill>
                <a:latin typeface="Times New Roman" panose="02020603050405020304" pitchFamily="18" charset="0"/>
                <a:cs typeface="Times New Roman" panose="02020603050405020304" pitchFamily="18" charset="0"/>
              </a:rPr>
              <a:t>, 2023, pp. 1–18.</a:t>
            </a:r>
          </a:p>
          <a:p>
            <a:pPr algn="just">
              <a:spcBef>
                <a:spcPct val="0"/>
              </a:spcBef>
              <a:buFontTx/>
              <a:buNone/>
              <a:tabLst>
                <a:tab pos="520700" algn="l"/>
              </a:tabLst>
              <a:defRPr/>
            </a:pPr>
            <a:endParaRPr lang="en-IN" altLang="en-US"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470903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33">
          <a:extLst>
            <a:ext uri="{FF2B5EF4-FFF2-40B4-BE49-F238E27FC236}">
              <a16:creationId xmlns:a16="http://schemas.microsoft.com/office/drawing/2014/main" id="{1C9E36F7-72AD-CDE1-767F-959FEB0F2654}"/>
            </a:ext>
          </a:extLst>
        </p:cNvPr>
        <p:cNvGrpSpPr/>
        <p:nvPr/>
      </p:nvGrpSpPr>
      <p:grpSpPr>
        <a:xfrm>
          <a:off x="0" y="0"/>
          <a:ext cx="0" cy="0"/>
          <a:chOff x="0" y="0"/>
          <a:chExt cx="0" cy="0"/>
        </a:xfrm>
      </p:grpSpPr>
      <p:pic>
        <p:nvPicPr>
          <p:cNvPr id="134" name="Google Shape;134;p2">
            <a:extLst>
              <a:ext uri="{FF2B5EF4-FFF2-40B4-BE49-F238E27FC236}">
                <a16:creationId xmlns:a16="http://schemas.microsoft.com/office/drawing/2014/main" id="{0987340E-353E-E795-077A-0C3A6F021442}"/>
              </a:ext>
            </a:extLst>
          </p:cNvPr>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35" name="Google Shape;135;p2">
            <a:extLst>
              <a:ext uri="{FF2B5EF4-FFF2-40B4-BE49-F238E27FC236}">
                <a16:creationId xmlns:a16="http://schemas.microsoft.com/office/drawing/2014/main" id="{26A8BAF8-1DE9-D2D9-FEE2-9A21E8E25D9E}"/>
              </a:ext>
            </a:extLst>
          </p:cNvPr>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a:extLst>
              <a:ext uri="{FF2B5EF4-FFF2-40B4-BE49-F238E27FC236}">
                <a16:creationId xmlns:a16="http://schemas.microsoft.com/office/drawing/2014/main" id="{05FB42BF-74F4-A855-AD4B-7A1326B45867}"/>
              </a:ext>
            </a:extLst>
          </p:cNvPr>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a:extLst>
              <a:ext uri="{FF2B5EF4-FFF2-40B4-BE49-F238E27FC236}">
                <a16:creationId xmlns:a16="http://schemas.microsoft.com/office/drawing/2014/main" id="{5F58A129-96FB-F94A-5DE9-714F42976000}"/>
              </a:ext>
            </a:extLst>
          </p:cNvPr>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19</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a:extLst>
              <a:ext uri="{FF2B5EF4-FFF2-40B4-BE49-F238E27FC236}">
                <a16:creationId xmlns:a16="http://schemas.microsoft.com/office/drawing/2014/main" id="{A24F3FC1-FF1E-E908-3CA6-160EBFC58C3B}"/>
              </a:ext>
            </a:extLst>
          </p:cNvPr>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2 March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a:extLst>
              <a:ext uri="{FF2B5EF4-FFF2-40B4-BE49-F238E27FC236}">
                <a16:creationId xmlns:a16="http://schemas.microsoft.com/office/drawing/2014/main" id="{5A3A516D-8731-501C-0BDC-F5D316BEF877}"/>
              </a:ext>
            </a:extLst>
          </p:cNvPr>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a:extLst>
              <a:ext uri="{FF2B5EF4-FFF2-40B4-BE49-F238E27FC236}">
                <a16:creationId xmlns:a16="http://schemas.microsoft.com/office/drawing/2014/main" id="{6EFD2A01-80FB-2413-D2AD-DE1FD6DDBD53}"/>
              </a:ext>
            </a:extLst>
          </p:cNvPr>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10;&#10;Description automatically generated">
            <a:extLst>
              <a:ext uri="{FF2B5EF4-FFF2-40B4-BE49-F238E27FC236}">
                <a16:creationId xmlns:a16="http://schemas.microsoft.com/office/drawing/2014/main" id="{55B5CADE-7487-5D89-3DA4-F3E7AA7C08C7}"/>
              </a:ext>
            </a:extLst>
          </p:cNvPr>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42" name="Google Shape;142;p2">
            <a:extLst>
              <a:ext uri="{FF2B5EF4-FFF2-40B4-BE49-F238E27FC236}">
                <a16:creationId xmlns:a16="http://schemas.microsoft.com/office/drawing/2014/main" id="{6FC166E0-B3D7-3E37-6A0A-5545E9D66798}"/>
              </a:ext>
            </a:extLst>
          </p:cNvPr>
          <p:cNvSpPr txBox="1"/>
          <p:nvPr/>
        </p:nvSpPr>
        <p:spPr>
          <a:xfrm>
            <a:off x="2128296" y="847187"/>
            <a:ext cx="5555343"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3200"/>
              <a:buFont typeface="Times New Roman"/>
              <a:buNone/>
            </a:pPr>
            <a:r>
              <a:rPr lang="en-US" sz="2800" b="1" i="0" u="none" strike="noStrike" cap="none" dirty="0">
                <a:solidFill>
                  <a:schemeClr val="dk1"/>
                </a:solidFill>
                <a:latin typeface="Times New Roman"/>
                <a:ea typeface="Times New Roman"/>
                <a:cs typeface="Times New Roman"/>
                <a:sym typeface="Times New Roman"/>
              </a:rPr>
              <a:t>Literature Survey - 7</a:t>
            </a:r>
          </a:p>
        </p:txBody>
      </p:sp>
      <p:sp>
        <p:nvSpPr>
          <p:cNvPr id="4" name="Content Placeholder 4">
            <a:extLst>
              <a:ext uri="{FF2B5EF4-FFF2-40B4-BE49-F238E27FC236}">
                <a16:creationId xmlns:a16="http://schemas.microsoft.com/office/drawing/2014/main" id="{295C8891-9DD2-87D5-4C27-BCFFDB029DFD}"/>
              </a:ext>
            </a:extLst>
          </p:cNvPr>
          <p:cNvSpPr txBox="1">
            <a:spLocks noChangeArrowheads="1"/>
          </p:cNvSpPr>
          <p:nvPr/>
        </p:nvSpPr>
        <p:spPr>
          <a:xfrm>
            <a:off x="500062" y="1836920"/>
            <a:ext cx="8143875" cy="371475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61950" indent="-361950" algn="just">
              <a:spcBef>
                <a:spcPct val="0"/>
              </a:spcBef>
              <a:buFontTx/>
              <a:buNone/>
              <a:tabLst>
                <a:tab pos="520700" algn="l"/>
              </a:tabLst>
              <a:defRPr/>
            </a:pPr>
            <a:r>
              <a:rPr lang="en-US" altLang="en-US" sz="2400" b="1" dirty="0">
                <a:solidFill>
                  <a:srgbClr val="C00000"/>
                </a:solidFill>
                <a:latin typeface="Times New Roman" panose="02020603050405020304" pitchFamily="18" charset="0"/>
                <a:cs typeface="Times New Roman" panose="02020603050405020304" pitchFamily="18" charset="0"/>
              </a:rPr>
              <a:t>Merits:</a:t>
            </a:r>
          </a:p>
          <a:p>
            <a:pPr marL="361950" indent="-361950" algn="just">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Microcode IR reduces architecture-specific differences effectively</a:t>
            </a:r>
          </a:p>
          <a:p>
            <a:pPr marL="361950" indent="-361950" algn="just">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Entropy-based filtering improves detection efficiency</a:t>
            </a:r>
          </a:p>
          <a:p>
            <a:pPr algn="just">
              <a:spcBef>
                <a:spcPct val="0"/>
              </a:spcBef>
              <a:tabLst>
                <a:tab pos="520700" algn="l"/>
              </a:tabLst>
              <a:defRPr/>
            </a:pPr>
            <a:r>
              <a:rPr lang="en-US" altLang="en-US" sz="2400" b="1" dirty="0">
                <a:solidFill>
                  <a:srgbClr val="C00000"/>
                </a:solidFill>
                <a:latin typeface="Times New Roman" panose="02020603050405020304" pitchFamily="18" charset="0"/>
                <a:cs typeface="Times New Roman" panose="02020603050405020304" pitchFamily="18" charset="0"/>
              </a:rPr>
              <a:t>Demerits:</a:t>
            </a:r>
          </a:p>
          <a:p>
            <a:pPr marL="342900" indent="-342900" algn="just">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Microcode generation may not preserve all high-level semantic information</a:t>
            </a:r>
          </a:p>
          <a:p>
            <a:pPr marL="342900" indent="-342900" algn="just">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Cannot directly compare binary code with source code</a:t>
            </a:r>
            <a:endParaRPr lang="en-IN"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887458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33">
          <a:extLst>
            <a:ext uri="{FF2B5EF4-FFF2-40B4-BE49-F238E27FC236}">
              <a16:creationId xmlns:a16="http://schemas.microsoft.com/office/drawing/2014/main" id="{DED5A228-E659-9C27-529A-1B570C2FECA8}"/>
            </a:ext>
          </a:extLst>
        </p:cNvPr>
        <p:cNvGrpSpPr/>
        <p:nvPr/>
      </p:nvGrpSpPr>
      <p:grpSpPr>
        <a:xfrm>
          <a:off x="0" y="0"/>
          <a:ext cx="0" cy="0"/>
          <a:chOff x="0" y="0"/>
          <a:chExt cx="0" cy="0"/>
        </a:xfrm>
      </p:grpSpPr>
      <p:pic>
        <p:nvPicPr>
          <p:cNvPr id="134" name="Google Shape;134;p2">
            <a:extLst>
              <a:ext uri="{FF2B5EF4-FFF2-40B4-BE49-F238E27FC236}">
                <a16:creationId xmlns:a16="http://schemas.microsoft.com/office/drawing/2014/main" id="{66C0A0D6-CE08-E075-8B07-B70E687E3B1D}"/>
              </a:ext>
            </a:extLst>
          </p:cNvPr>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35" name="Google Shape;135;p2">
            <a:extLst>
              <a:ext uri="{FF2B5EF4-FFF2-40B4-BE49-F238E27FC236}">
                <a16:creationId xmlns:a16="http://schemas.microsoft.com/office/drawing/2014/main" id="{939BF825-19AD-98C3-3D8E-9315EC060699}"/>
              </a:ext>
            </a:extLst>
          </p:cNvPr>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a:extLst>
              <a:ext uri="{FF2B5EF4-FFF2-40B4-BE49-F238E27FC236}">
                <a16:creationId xmlns:a16="http://schemas.microsoft.com/office/drawing/2014/main" id="{74BEB4A9-14B1-0316-2F5D-12BA51F76A31}"/>
              </a:ext>
            </a:extLst>
          </p:cNvPr>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a:extLst>
              <a:ext uri="{FF2B5EF4-FFF2-40B4-BE49-F238E27FC236}">
                <a16:creationId xmlns:a16="http://schemas.microsoft.com/office/drawing/2014/main" id="{7C83FFED-9F97-5800-0B09-7814082356C4}"/>
              </a:ext>
            </a:extLst>
          </p:cNvPr>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20</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a:extLst>
              <a:ext uri="{FF2B5EF4-FFF2-40B4-BE49-F238E27FC236}">
                <a16:creationId xmlns:a16="http://schemas.microsoft.com/office/drawing/2014/main" id="{DFE70B63-CC21-84A7-F540-410F060409F9}"/>
              </a:ext>
            </a:extLst>
          </p:cNvPr>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2 March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a:extLst>
              <a:ext uri="{FF2B5EF4-FFF2-40B4-BE49-F238E27FC236}">
                <a16:creationId xmlns:a16="http://schemas.microsoft.com/office/drawing/2014/main" id="{4C73BD7C-5DC3-40DF-73D9-CE24695C4C74}"/>
              </a:ext>
            </a:extLst>
          </p:cNvPr>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a:extLst>
              <a:ext uri="{FF2B5EF4-FFF2-40B4-BE49-F238E27FC236}">
                <a16:creationId xmlns:a16="http://schemas.microsoft.com/office/drawing/2014/main" id="{23C9B90E-32D4-54E0-43DF-D3C50C7A631C}"/>
              </a:ext>
            </a:extLst>
          </p:cNvPr>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10;&#10;Description automatically generated">
            <a:extLst>
              <a:ext uri="{FF2B5EF4-FFF2-40B4-BE49-F238E27FC236}">
                <a16:creationId xmlns:a16="http://schemas.microsoft.com/office/drawing/2014/main" id="{C390F72F-5069-57D0-73FF-86C8E50E121E}"/>
              </a:ext>
            </a:extLst>
          </p:cNvPr>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42" name="Google Shape;142;p2">
            <a:extLst>
              <a:ext uri="{FF2B5EF4-FFF2-40B4-BE49-F238E27FC236}">
                <a16:creationId xmlns:a16="http://schemas.microsoft.com/office/drawing/2014/main" id="{F5DF3F2A-5083-75C4-8482-4015FE2E91E5}"/>
              </a:ext>
            </a:extLst>
          </p:cNvPr>
          <p:cNvSpPr txBox="1"/>
          <p:nvPr/>
        </p:nvSpPr>
        <p:spPr>
          <a:xfrm>
            <a:off x="2128296" y="847187"/>
            <a:ext cx="5555343"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3200"/>
              <a:buFont typeface="Times New Roman"/>
              <a:buNone/>
            </a:pPr>
            <a:r>
              <a:rPr lang="en-US" sz="2800" b="1" i="0" u="none" strike="noStrike" cap="none" dirty="0">
                <a:solidFill>
                  <a:schemeClr val="dk1"/>
                </a:solidFill>
                <a:latin typeface="Times New Roman"/>
                <a:ea typeface="Times New Roman"/>
                <a:cs typeface="Times New Roman"/>
                <a:sym typeface="Times New Roman"/>
              </a:rPr>
              <a:t>Literature Survey - </a:t>
            </a:r>
            <a:r>
              <a:rPr lang="en-US" sz="2800" b="1" dirty="0">
                <a:solidFill>
                  <a:schemeClr val="dk1"/>
                </a:solidFill>
                <a:latin typeface="Times New Roman"/>
                <a:ea typeface="Times New Roman"/>
                <a:cs typeface="Times New Roman"/>
                <a:sym typeface="Times New Roman"/>
              </a:rPr>
              <a:t>8</a:t>
            </a:r>
            <a:endParaRPr lang="en-US" sz="2800" b="1" i="0" u="none" strike="noStrike" cap="none" dirty="0">
              <a:solidFill>
                <a:schemeClr val="dk1"/>
              </a:solidFill>
              <a:latin typeface="Times New Roman"/>
              <a:ea typeface="Times New Roman"/>
              <a:cs typeface="Times New Roman"/>
              <a:sym typeface="Times New Roman"/>
            </a:endParaRPr>
          </a:p>
        </p:txBody>
      </p:sp>
      <p:sp>
        <p:nvSpPr>
          <p:cNvPr id="4" name="Content Placeholder 4">
            <a:extLst>
              <a:ext uri="{FF2B5EF4-FFF2-40B4-BE49-F238E27FC236}">
                <a16:creationId xmlns:a16="http://schemas.microsoft.com/office/drawing/2014/main" id="{E9CE0AC8-9060-CCC0-6799-523E845528E2}"/>
              </a:ext>
            </a:extLst>
          </p:cNvPr>
          <p:cNvSpPr txBox="1">
            <a:spLocks noChangeArrowheads="1"/>
          </p:cNvSpPr>
          <p:nvPr/>
        </p:nvSpPr>
        <p:spPr>
          <a:xfrm>
            <a:off x="238125" y="1530966"/>
            <a:ext cx="8143875" cy="5015883"/>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sz="2400" b="1" dirty="0">
                <a:latin typeface="Times New Roman" panose="02020603050405020304" pitchFamily="18" charset="0"/>
                <a:cs typeface="Times New Roman" panose="02020603050405020304" pitchFamily="18" charset="0"/>
              </a:rPr>
              <a:t>Zhang et al. (2022)</a:t>
            </a:r>
            <a:r>
              <a:rPr lang="en-IN" sz="2400" dirty="0">
                <a:latin typeface="Times New Roman" panose="02020603050405020304" pitchFamily="18" charset="0"/>
                <a:cs typeface="Times New Roman" panose="02020603050405020304" pitchFamily="18" charset="0"/>
              </a:rPr>
              <a:t> proposed </a:t>
            </a:r>
            <a:r>
              <a:rPr lang="en-IN" sz="2400" b="1" dirty="0">
                <a:latin typeface="Times New Roman" panose="02020603050405020304" pitchFamily="18" charset="0"/>
                <a:cs typeface="Times New Roman" panose="02020603050405020304" pitchFamily="18" charset="0"/>
              </a:rPr>
              <a:t>UPPC</a:t>
            </a:r>
            <a:r>
              <a:rPr lang="en-IN" sz="2400" dirty="0">
                <a:latin typeface="Times New Roman" panose="02020603050405020304" pitchFamily="18" charset="0"/>
                <a:cs typeface="Times New Roman" panose="02020603050405020304" pitchFamily="18" charset="0"/>
              </a:rPr>
              <a:t>, which leverages pseudocode as an intermediate representation for binary code similarity detection. A deep pyramid convolutional neural network (DPCNN) is used to embed pseudocode and string literals extracted from binary functions. By using pseudocode a C-like IR generated by decompiles the approach operates at a higher abstraction level than assembly code, capturing more semantic context.</a:t>
            </a:r>
          </a:p>
          <a:p>
            <a:endParaRPr lang="en-IN" sz="1600" b="1" dirty="0">
              <a:solidFill>
                <a:srgbClr val="0000CC"/>
              </a:solidFill>
              <a:latin typeface="Times New Roman" panose="02020603050405020304" pitchFamily="18" charset="0"/>
              <a:cs typeface="Times New Roman" panose="02020603050405020304" pitchFamily="18" charset="0"/>
            </a:endParaRPr>
          </a:p>
          <a:p>
            <a:endParaRPr lang="en-IN" sz="1600" b="1" dirty="0">
              <a:solidFill>
                <a:srgbClr val="0000CC"/>
              </a:solidFill>
              <a:latin typeface="Times New Roman" panose="02020603050405020304" pitchFamily="18" charset="0"/>
              <a:cs typeface="Times New Roman" panose="02020603050405020304" pitchFamily="18" charset="0"/>
            </a:endParaRPr>
          </a:p>
          <a:p>
            <a:endParaRPr lang="en-IN" sz="1600" b="1" dirty="0">
              <a:solidFill>
                <a:srgbClr val="0000CC"/>
              </a:solidFill>
              <a:latin typeface="Times New Roman" panose="02020603050405020304" pitchFamily="18" charset="0"/>
              <a:cs typeface="Times New Roman" panose="02020603050405020304" pitchFamily="18" charset="0"/>
            </a:endParaRPr>
          </a:p>
          <a:p>
            <a:endParaRPr lang="en-IN" sz="1600" b="1" dirty="0">
              <a:solidFill>
                <a:srgbClr val="0000CC"/>
              </a:solidFill>
              <a:latin typeface="Times New Roman" panose="02020603050405020304" pitchFamily="18" charset="0"/>
              <a:cs typeface="Times New Roman" panose="02020603050405020304" pitchFamily="18" charset="0"/>
            </a:endParaRPr>
          </a:p>
          <a:p>
            <a:endParaRPr lang="en-IN" sz="1600" b="1" dirty="0">
              <a:solidFill>
                <a:srgbClr val="0000CC"/>
              </a:solidFill>
              <a:latin typeface="Times New Roman" panose="02020603050405020304" pitchFamily="18" charset="0"/>
              <a:cs typeface="Times New Roman" panose="02020603050405020304" pitchFamily="18" charset="0"/>
            </a:endParaRPr>
          </a:p>
          <a:p>
            <a:r>
              <a:rPr lang="en-IN" sz="1600" b="1" dirty="0">
                <a:solidFill>
                  <a:srgbClr val="0000CC"/>
                </a:solidFill>
                <a:latin typeface="Times New Roman" panose="02020603050405020304" pitchFamily="18" charset="0"/>
                <a:cs typeface="Times New Roman" panose="02020603050405020304" pitchFamily="18" charset="0"/>
              </a:rPr>
              <a:t>Reference:</a:t>
            </a:r>
            <a:r>
              <a:rPr lang="en-IN" sz="1600" dirty="0">
                <a:solidFill>
                  <a:srgbClr val="0000CC"/>
                </a:solidFill>
                <a:latin typeface="Times New Roman" panose="02020603050405020304" pitchFamily="18" charset="0"/>
                <a:cs typeface="Times New Roman" panose="02020603050405020304" pitchFamily="18" charset="0"/>
              </a:rPr>
              <a:t> W. Zhang, Z. Xu, Y. Xiao, and Y. Xue, "Unleashing the power of pseudocode for binary code similarity analysis," </a:t>
            </a:r>
            <a:r>
              <a:rPr lang="en-IN" sz="1600" i="1" dirty="0">
                <a:solidFill>
                  <a:srgbClr val="0000CC"/>
                </a:solidFill>
                <a:latin typeface="Times New Roman" panose="02020603050405020304" pitchFamily="18" charset="0"/>
                <a:cs typeface="Times New Roman" panose="02020603050405020304" pitchFamily="18" charset="0"/>
              </a:rPr>
              <a:t>Cybersecurity</a:t>
            </a:r>
            <a:r>
              <a:rPr lang="en-IN" sz="1600" dirty="0">
                <a:solidFill>
                  <a:srgbClr val="0000CC"/>
                </a:solidFill>
                <a:latin typeface="Times New Roman" panose="02020603050405020304" pitchFamily="18" charset="0"/>
                <a:cs typeface="Times New Roman" panose="02020603050405020304" pitchFamily="18" charset="0"/>
              </a:rPr>
              <a:t>, vol. 5, no. 1, p. 23, 2022.</a:t>
            </a:r>
          </a:p>
          <a:p>
            <a:pPr algn="just">
              <a:spcBef>
                <a:spcPct val="0"/>
              </a:spcBef>
              <a:buFontTx/>
              <a:buNone/>
              <a:tabLst>
                <a:tab pos="520700" algn="l"/>
              </a:tabLst>
              <a:defRPr/>
            </a:pPr>
            <a:endParaRPr lang="en-IN" altLang="en-US"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672980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33">
          <a:extLst>
            <a:ext uri="{FF2B5EF4-FFF2-40B4-BE49-F238E27FC236}">
              <a16:creationId xmlns:a16="http://schemas.microsoft.com/office/drawing/2014/main" id="{D8BF9FD0-0090-EDCE-6C52-FC99165ABECA}"/>
            </a:ext>
          </a:extLst>
        </p:cNvPr>
        <p:cNvGrpSpPr/>
        <p:nvPr/>
      </p:nvGrpSpPr>
      <p:grpSpPr>
        <a:xfrm>
          <a:off x="0" y="0"/>
          <a:ext cx="0" cy="0"/>
          <a:chOff x="0" y="0"/>
          <a:chExt cx="0" cy="0"/>
        </a:xfrm>
      </p:grpSpPr>
      <p:pic>
        <p:nvPicPr>
          <p:cNvPr id="134" name="Google Shape;134;p2">
            <a:extLst>
              <a:ext uri="{FF2B5EF4-FFF2-40B4-BE49-F238E27FC236}">
                <a16:creationId xmlns:a16="http://schemas.microsoft.com/office/drawing/2014/main" id="{D033D1C1-28F0-7E73-A987-B407EF16E77A}"/>
              </a:ext>
            </a:extLst>
          </p:cNvPr>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35" name="Google Shape;135;p2">
            <a:extLst>
              <a:ext uri="{FF2B5EF4-FFF2-40B4-BE49-F238E27FC236}">
                <a16:creationId xmlns:a16="http://schemas.microsoft.com/office/drawing/2014/main" id="{DE3D2067-A00D-C59E-F0CC-079888545058}"/>
              </a:ext>
            </a:extLst>
          </p:cNvPr>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a:extLst>
              <a:ext uri="{FF2B5EF4-FFF2-40B4-BE49-F238E27FC236}">
                <a16:creationId xmlns:a16="http://schemas.microsoft.com/office/drawing/2014/main" id="{9020104E-D9B6-98BD-3705-67180079ED1F}"/>
              </a:ext>
            </a:extLst>
          </p:cNvPr>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a:extLst>
              <a:ext uri="{FF2B5EF4-FFF2-40B4-BE49-F238E27FC236}">
                <a16:creationId xmlns:a16="http://schemas.microsoft.com/office/drawing/2014/main" id="{67FF69C4-889C-9550-0945-51FC83A24A4C}"/>
              </a:ext>
            </a:extLst>
          </p:cNvPr>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21</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a:extLst>
              <a:ext uri="{FF2B5EF4-FFF2-40B4-BE49-F238E27FC236}">
                <a16:creationId xmlns:a16="http://schemas.microsoft.com/office/drawing/2014/main" id="{E8AC2E84-8627-E3D1-748A-A6EE231223BB}"/>
              </a:ext>
            </a:extLst>
          </p:cNvPr>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2 March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a:extLst>
              <a:ext uri="{FF2B5EF4-FFF2-40B4-BE49-F238E27FC236}">
                <a16:creationId xmlns:a16="http://schemas.microsoft.com/office/drawing/2014/main" id="{29578226-28C1-07BF-9860-412843B3B410}"/>
              </a:ext>
            </a:extLst>
          </p:cNvPr>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a:extLst>
              <a:ext uri="{FF2B5EF4-FFF2-40B4-BE49-F238E27FC236}">
                <a16:creationId xmlns:a16="http://schemas.microsoft.com/office/drawing/2014/main" id="{4DDC1556-0B4A-6CCF-BAC7-A1C7FA0BF269}"/>
              </a:ext>
            </a:extLst>
          </p:cNvPr>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10;&#10;Description automatically generated">
            <a:extLst>
              <a:ext uri="{FF2B5EF4-FFF2-40B4-BE49-F238E27FC236}">
                <a16:creationId xmlns:a16="http://schemas.microsoft.com/office/drawing/2014/main" id="{4B7F99A5-27D5-FA8B-F05B-36381301469A}"/>
              </a:ext>
            </a:extLst>
          </p:cNvPr>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42" name="Google Shape;142;p2">
            <a:extLst>
              <a:ext uri="{FF2B5EF4-FFF2-40B4-BE49-F238E27FC236}">
                <a16:creationId xmlns:a16="http://schemas.microsoft.com/office/drawing/2014/main" id="{DC2230E1-DF73-09B4-7E3F-C69290C71EDF}"/>
              </a:ext>
            </a:extLst>
          </p:cNvPr>
          <p:cNvSpPr txBox="1"/>
          <p:nvPr/>
        </p:nvSpPr>
        <p:spPr>
          <a:xfrm>
            <a:off x="2069680" y="953013"/>
            <a:ext cx="5555343"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3200"/>
              <a:buFont typeface="Times New Roman"/>
              <a:buNone/>
            </a:pPr>
            <a:r>
              <a:rPr lang="en-US" sz="2800" b="1" i="0" u="none" strike="noStrike" cap="none" dirty="0">
                <a:solidFill>
                  <a:schemeClr val="dk1"/>
                </a:solidFill>
                <a:latin typeface="Times New Roman"/>
                <a:ea typeface="Times New Roman"/>
                <a:cs typeface="Times New Roman"/>
                <a:sym typeface="Times New Roman"/>
              </a:rPr>
              <a:t>Literature Survey - 8</a:t>
            </a:r>
          </a:p>
        </p:txBody>
      </p:sp>
      <p:sp>
        <p:nvSpPr>
          <p:cNvPr id="4" name="Content Placeholder 4">
            <a:extLst>
              <a:ext uri="{FF2B5EF4-FFF2-40B4-BE49-F238E27FC236}">
                <a16:creationId xmlns:a16="http://schemas.microsoft.com/office/drawing/2014/main" id="{C5D338FC-8D02-E51E-2833-02FA3441DFAA}"/>
              </a:ext>
            </a:extLst>
          </p:cNvPr>
          <p:cNvSpPr txBox="1">
            <a:spLocks noChangeArrowheads="1"/>
          </p:cNvSpPr>
          <p:nvPr/>
        </p:nvSpPr>
        <p:spPr>
          <a:xfrm>
            <a:off x="500062" y="1836920"/>
            <a:ext cx="8143875" cy="371475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61950" indent="-361950" algn="just">
              <a:spcBef>
                <a:spcPct val="0"/>
              </a:spcBef>
              <a:buFontTx/>
              <a:buNone/>
              <a:tabLst>
                <a:tab pos="520700" algn="l"/>
              </a:tabLst>
              <a:defRPr/>
            </a:pPr>
            <a:r>
              <a:rPr lang="en-US" altLang="en-US" sz="2400" b="1" dirty="0">
                <a:solidFill>
                  <a:srgbClr val="C00000"/>
                </a:solidFill>
                <a:latin typeface="Times New Roman" panose="02020603050405020304" pitchFamily="18" charset="0"/>
                <a:cs typeface="Times New Roman" panose="02020603050405020304" pitchFamily="18" charset="0"/>
              </a:rPr>
              <a:t>Merits:</a:t>
            </a:r>
          </a:p>
          <a:p>
            <a:pPr marL="361950" indent="-361950" algn="just">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Pseudocode provides a higher-level semantic abstraction than raw assembly</a:t>
            </a:r>
          </a:p>
          <a:p>
            <a:pPr marL="361950" indent="-361950" algn="just">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String literals add additional context for similarity detection</a:t>
            </a:r>
          </a:p>
          <a:p>
            <a:pPr algn="just">
              <a:spcBef>
                <a:spcPct val="0"/>
              </a:spcBef>
              <a:tabLst>
                <a:tab pos="520700" algn="l"/>
              </a:tabLst>
              <a:defRPr/>
            </a:pPr>
            <a:r>
              <a:rPr lang="en-US" altLang="en-US" sz="2400" b="1" dirty="0">
                <a:solidFill>
                  <a:srgbClr val="C00000"/>
                </a:solidFill>
                <a:latin typeface="Times New Roman" panose="02020603050405020304" pitchFamily="18" charset="0"/>
                <a:cs typeface="Times New Roman" panose="02020603050405020304" pitchFamily="18" charset="0"/>
              </a:rPr>
              <a:t>Demerits:</a:t>
            </a:r>
          </a:p>
          <a:p>
            <a:pPr marL="342900" indent="-342900" algn="just">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Pseudocode generated by </a:t>
            </a:r>
            <a:r>
              <a:rPr lang="en-US" sz="2400" dirty="0" err="1">
                <a:latin typeface="Times New Roman" panose="02020603050405020304" pitchFamily="18" charset="0"/>
                <a:cs typeface="Times New Roman" panose="02020603050405020304" pitchFamily="18" charset="0"/>
              </a:rPr>
              <a:t>decompilers</a:t>
            </a:r>
            <a:r>
              <a:rPr lang="en-US" sz="2400" dirty="0">
                <a:latin typeface="Times New Roman" panose="02020603050405020304" pitchFamily="18" charset="0"/>
                <a:cs typeface="Times New Roman" panose="02020603050405020304" pitchFamily="18" charset="0"/>
              </a:rPr>
              <a:t> is often imprecise or incomplete</a:t>
            </a:r>
          </a:p>
          <a:p>
            <a:pPr marL="342900" indent="-342900" algn="just">
              <a:spcBef>
                <a:spcPct val="0"/>
              </a:spcBef>
              <a:buFont typeface="Arial" panose="020B0604020202020204" pitchFamily="34" charset="0"/>
              <a:buChar char="•"/>
              <a:tabLst>
                <a:tab pos="520700" algn="l"/>
              </a:tabLst>
              <a:defRPr/>
            </a:pPr>
            <a:r>
              <a:rPr lang="en-IN" sz="2400" dirty="0">
                <a:latin typeface="Times New Roman" panose="02020603050405020304" pitchFamily="18" charset="0"/>
                <a:cs typeface="Times New Roman" panose="02020603050405020304" pitchFamily="18" charset="0"/>
              </a:rPr>
              <a:t>Does not exploit structural graph information (CFG/DFG)</a:t>
            </a:r>
            <a:endParaRPr lang="en-IN"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826260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33">
          <a:extLst>
            <a:ext uri="{FF2B5EF4-FFF2-40B4-BE49-F238E27FC236}">
              <a16:creationId xmlns:a16="http://schemas.microsoft.com/office/drawing/2014/main" id="{B4D3B816-0C5C-B047-1D62-D06D900FACA1}"/>
            </a:ext>
          </a:extLst>
        </p:cNvPr>
        <p:cNvGrpSpPr/>
        <p:nvPr/>
      </p:nvGrpSpPr>
      <p:grpSpPr>
        <a:xfrm>
          <a:off x="0" y="0"/>
          <a:ext cx="0" cy="0"/>
          <a:chOff x="0" y="0"/>
          <a:chExt cx="0" cy="0"/>
        </a:xfrm>
      </p:grpSpPr>
      <p:pic>
        <p:nvPicPr>
          <p:cNvPr id="134" name="Google Shape;134;p2">
            <a:extLst>
              <a:ext uri="{FF2B5EF4-FFF2-40B4-BE49-F238E27FC236}">
                <a16:creationId xmlns:a16="http://schemas.microsoft.com/office/drawing/2014/main" id="{E649CCA2-8009-82FE-FA4D-AC04E688A6E5}"/>
              </a:ext>
            </a:extLst>
          </p:cNvPr>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35" name="Google Shape;135;p2">
            <a:extLst>
              <a:ext uri="{FF2B5EF4-FFF2-40B4-BE49-F238E27FC236}">
                <a16:creationId xmlns:a16="http://schemas.microsoft.com/office/drawing/2014/main" id="{7B5D3B10-9462-94A3-9E1C-F3D0160A7A34}"/>
              </a:ext>
            </a:extLst>
          </p:cNvPr>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a:extLst>
              <a:ext uri="{FF2B5EF4-FFF2-40B4-BE49-F238E27FC236}">
                <a16:creationId xmlns:a16="http://schemas.microsoft.com/office/drawing/2014/main" id="{82DDD891-F060-0A8E-6C72-DE04653FBCE1}"/>
              </a:ext>
            </a:extLst>
          </p:cNvPr>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a:extLst>
              <a:ext uri="{FF2B5EF4-FFF2-40B4-BE49-F238E27FC236}">
                <a16:creationId xmlns:a16="http://schemas.microsoft.com/office/drawing/2014/main" id="{0D86C10D-3A4D-6173-2F17-14B2F732F4FF}"/>
              </a:ext>
            </a:extLst>
          </p:cNvPr>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22</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a:extLst>
              <a:ext uri="{FF2B5EF4-FFF2-40B4-BE49-F238E27FC236}">
                <a16:creationId xmlns:a16="http://schemas.microsoft.com/office/drawing/2014/main" id="{456C527D-A7EC-437F-B850-11B231715813}"/>
              </a:ext>
            </a:extLst>
          </p:cNvPr>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2 March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a:extLst>
              <a:ext uri="{FF2B5EF4-FFF2-40B4-BE49-F238E27FC236}">
                <a16:creationId xmlns:a16="http://schemas.microsoft.com/office/drawing/2014/main" id="{3C780D9A-FF2A-AE77-29A9-7D1EDC2696EB}"/>
              </a:ext>
            </a:extLst>
          </p:cNvPr>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a:extLst>
              <a:ext uri="{FF2B5EF4-FFF2-40B4-BE49-F238E27FC236}">
                <a16:creationId xmlns:a16="http://schemas.microsoft.com/office/drawing/2014/main" id="{6D779931-C9FB-9584-E6F5-27225EFBD1E2}"/>
              </a:ext>
            </a:extLst>
          </p:cNvPr>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10;&#10;Description automatically generated">
            <a:extLst>
              <a:ext uri="{FF2B5EF4-FFF2-40B4-BE49-F238E27FC236}">
                <a16:creationId xmlns:a16="http://schemas.microsoft.com/office/drawing/2014/main" id="{3937C3A1-6351-8005-EF8C-F49EFCD82CA6}"/>
              </a:ext>
            </a:extLst>
          </p:cNvPr>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42" name="Google Shape;142;p2">
            <a:extLst>
              <a:ext uri="{FF2B5EF4-FFF2-40B4-BE49-F238E27FC236}">
                <a16:creationId xmlns:a16="http://schemas.microsoft.com/office/drawing/2014/main" id="{87B09A95-B361-5B57-957A-DB31D56B711A}"/>
              </a:ext>
            </a:extLst>
          </p:cNvPr>
          <p:cNvSpPr txBox="1"/>
          <p:nvPr/>
        </p:nvSpPr>
        <p:spPr>
          <a:xfrm>
            <a:off x="2128296" y="847187"/>
            <a:ext cx="5555343"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3200"/>
              <a:buFont typeface="Times New Roman"/>
              <a:buNone/>
            </a:pPr>
            <a:r>
              <a:rPr lang="en-US" sz="2800" b="1" i="0" u="none" strike="noStrike" cap="none" dirty="0">
                <a:solidFill>
                  <a:schemeClr val="dk1"/>
                </a:solidFill>
                <a:latin typeface="Times New Roman"/>
                <a:ea typeface="Times New Roman"/>
                <a:cs typeface="Times New Roman"/>
                <a:sym typeface="Times New Roman"/>
              </a:rPr>
              <a:t>Literature Survey - 9</a:t>
            </a:r>
          </a:p>
        </p:txBody>
      </p:sp>
      <p:sp>
        <p:nvSpPr>
          <p:cNvPr id="4" name="Content Placeholder 4">
            <a:extLst>
              <a:ext uri="{FF2B5EF4-FFF2-40B4-BE49-F238E27FC236}">
                <a16:creationId xmlns:a16="http://schemas.microsoft.com/office/drawing/2014/main" id="{780C7400-C001-5C2D-6B1B-C023BC354F87}"/>
              </a:ext>
            </a:extLst>
          </p:cNvPr>
          <p:cNvSpPr txBox="1">
            <a:spLocks noChangeArrowheads="1"/>
          </p:cNvSpPr>
          <p:nvPr/>
        </p:nvSpPr>
        <p:spPr>
          <a:xfrm>
            <a:off x="238125" y="1607954"/>
            <a:ext cx="8143875" cy="5015883"/>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spcBef>
                <a:spcPct val="0"/>
              </a:spcBef>
              <a:buFontTx/>
              <a:buNone/>
              <a:tabLst>
                <a:tab pos="520700" algn="l"/>
              </a:tabLst>
              <a:defRPr/>
            </a:pPr>
            <a:r>
              <a:rPr lang="en-US" altLang="en-US" sz="2400" b="1" dirty="0">
                <a:latin typeface="Times New Roman" panose="02020603050405020304" pitchFamily="18" charset="0"/>
                <a:cs typeface="Times New Roman" panose="02020603050405020304" pitchFamily="18" charset="0"/>
              </a:rPr>
              <a:t>Yang et al. </a:t>
            </a:r>
            <a:r>
              <a:rPr lang="en-US" altLang="en-US" sz="2400" dirty="0">
                <a:latin typeface="Times New Roman" panose="02020603050405020304" pitchFamily="18" charset="0"/>
                <a:cs typeface="Times New Roman" panose="02020603050405020304" pitchFamily="18" charset="0"/>
              </a:rPr>
              <a:t>(2023)proposed </a:t>
            </a:r>
            <a:r>
              <a:rPr lang="en-US" altLang="en-US" sz="2400" b="1" dirty="0">
                <a:latin typeface="Times New Roman" panose="02020603050405020304" pitchFamily="18" charset="0"/>
                <a:cs typeface="Times New Roman" panose="02020603050405020304" pitchFamily="18" charset="0"/>
              </a:rPr>
              <a:t>Asteria-Pro</a:t>
            </a:r>
            <a:r>
              <a:rPr lang="en-US" altLang="en-US" sz="2400" dirty="0">
                <a:latin typeface="Times New Roman" panose="02020603050405020304" pitchFamily="18" charset="0"/>
                <a:cs typeface="Times New Roman" panose="02020603050405020304" pitchFamily="18" charset="0"/>
              </a:rPr>
              <a:t>, an enhanced deep learning-based BCSD system that incorporates domain-specific knowledge. It uses prefiltering with lightweight features to quickly eliminate dissimilar function candidates, followed by a reordering module that leverages call graph relationships to refine rankings. This two-stage design significantly improves both efficiency and accuracy for large-scale binary similarity search.</a:t>
            </a:r>
          </a:p>
          <a:p>
            <a:pPr algn="just">
              <a:spcBef>
                <a:spcPct val="0"/>
              </a:spcBef>
              <a:buFontTx/>
              <a:buNone/>
              <a:tabLst>
                <a:tab pos="520700" algn="l"/>
              </a:tabLst>
              <a:defRPr/>
            </a:pPr>
            <a:endParaRPr lang="en-US" altLang="en-US" sz="2400" b="1" dirty="0">
              <a:latin typeface="Times New Roman" panose="02020603050405020304" pitchFamily="18" charset="0"/>
              <a:cs typeface="Times New Roman" panose="02020603050405020304" pitchFamily="18" charset="0"/>
            </a:endParaRPr>
          </a:p>
          <a:p>
            <a:pPr algn="just">
              <a:spcBef>
                <a:spcPct val="0"/>
              </a:spcBef>
              <a:buFontTx/>
              <a:buNone/>
              <a:tabLst>
                <a:tab pos="520700" algn="l"/>
              </a:tabLst>
              <a:defRPr/>
            </a:pPr>
            <a:endParaRPr lang="en-US" altLang="en-US" sz="1600" dirty="0">
              <a:solidFill>
                <a:srgbClr val="0000CC"/>
              </a:solidFill>
              <a:latin typeface="Times New Roman" panose="02020603050405020304" pitchFamily="18" charset="0"/>
              <a:cs typeface="Times New Roman" panose="02020603050405020304" pitchFamily="18" charset="0"/>
            </a:endParaRPr>
          </a:p>
          <a:p>
            <a:pPr algn="just">
              <a:spcBef>
                <a:spcPct val="0"/>
              </a:spcBef>
              <a:buFontTx/>
              <a:buNone/>
              <a:tabLst>
                <a:tab pos="520700" algn="l"/>
              </a:tabLst>
              <a:defRPr/>
            </a:pPr>
            <a:endParaRPr lang="en-US" altLang="en-US" sz="1600" dirty="0">
              <a:solidFill>
                <a:srgbClr val="0000CC"/>
              </a:solidFill>
              <a:latin typeface="Times New Roman" panose="02020603050405020304" pitchFamily="18" charset="0"/>
              <a:cs typeface="Times New Roman" panose="02020603050405020304" pitchFamily="18" charset="0"/>
            </a:endParaRPr>
          </a:p>
          <a:p>
            <a:pPr algn="just">
              <a:spcBef>
                <a:spcPct val="0"/>
              </a:spcBef>
              <a:buFontTx/>
              <a:buNone/>
              <a:tabLst>
                <a:tab pos="520700" algn="l"/>
              </a:tabLst>
              <a:defRPr/>
            </a:pPr>
            <a:r>
              <a:rPr lang="en-US" altLang="en-US" sz="1600" dirty="0">
                <a:solidFill>
                  <a:srgbClr val="0000CC"/>
                </a:solidFill>
                <a:latin typeface="Times New Roman" panose="02020603050405020304" pitchFamily="18" charset="0"/>
                <a:cs typeface="Times New Roman" panose="02020603050405020304" pitchFamily="18" charset="0"/>
              </a:rPr>
              <a:t>Reference: S. Yang et al., "Asteria-Pro: Enhancing deep learning-based binary code similarity detection by incorporating domain knowledge," ACM Transactions on Software Engineering and Methodology, vol. 33, no. 1, pp. 1–40, 2023.</a:t>
            </a:r>
            <a:endParaRPr lang="en-IN" altLang="en-US" sz="1600" dirty="0">
              <a:solidFill>
                <a:srgbClr val="0000CC"/>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027975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33">
          <a:extLst>
            <a:ext uri="{FF2B5EF4-FFF2-40B4-BE49-F238E27FC236}">
              <a16:creationId xmlns:a16="http://schemas.microsoft.com/office/drawing/2014/main" id="{BB40CFFD-934A-3769-E348-CCC22253280A}"/>
            </a:ext>
          </a:extLst>
        </p:cNvPr>
        <p:cNvGrpSpPr/>
        <p:nvPr/>
      </p:nvGrpSpPr>
      <p:grpSpPr>
        <a:xfrm>
          <a:off x="0" y="0"/>
          <a:ext cx="0" cy="0"/>
          <a:chOff x="0" y="0"/>
          <a:chExt cx="0" cy="0"/>
        </a:xfrm>
      </p:grpSpPr>
      <p:pic>
        <p:nvPicPr>
          <p:cNvPr id="134" name="Google Shape;134;p2">
            <a:extLst>
              <a:ext uri="{FF2B5EF4-FFF2-40B4-BE49-F238E27FC236}">
                <a16:creationId xmlns:a16="http://schemas.microsoft.com/office/drawing/2014/main" id="{AA8B2BD4-61C2-A189-B58D-741391B35472}"/>
              </a:ext>
            </a:extLst>
          </p:cNvPr>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35" name="Google Shape;135;p2">
            <a:extLst>
              <a:ext uri="{FF2B5EF4-FFF2-40B4-BE49-F238E27FC236}">
                <a16:creationId xmlns:a16="http://schemas.microsoft.com/office/drawing/2014/main" id="{77DB2C86-07FC-B864-1554-9037E8835E47}"/>
              </a:ext>
            </a:extLst>
          </p:cNvPr>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a:extLst>
              <a:ext uri="{FF2B5EF4-FFF2-40B4-BE49-F238E27FC236}">
                <a16:creationId xmlns:a16="http://schemas.microsoft.com/office/drawing/2014/main" id="{E197C25E-F2E8-09A9-445B-D4077C54C2D2}"/>
              </a:ext>
            </a:extLst>
          </p:cNvPr>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a:extLst>
              <a:ext uri="{FF2B5EF4-FFF2-40B4-BE49-F238E27FC236}">
                <a16:creationId xmlns:a16="http://schemas.microsoft.com/office/drawing/2014/main" id="{F283E9B6-943B-DF4A-BEF5-D982F133BD47}"/>
              </a:ext>
            </a:extLst>
          </p:cNvPr>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23</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a:extLst>
              <a:ext uri="{FF2B5EF4-FFF2-40B4-BE49-F238E27FC236}">
                <a16:creationId xmlns:a16="http://schemas.microsoft.com/office/drawing/2014/main" id="{E2577ADE-9CBD-01F2-EBAE-49C69ED775B4}"/>
              </a:ext>
            </a:extLst>
          </p:cNvPr>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2 March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a:extLst>
              <a:ext uri="{FF2B5EF4-FFF2-40B4-BE49-F238E27FC236}">
                <a16:creationId xmlns:a16="http://schemas.microsoft.com/office/drawing/2014/main" id="{588108DA-F6DC-6004-16CC-A767D9153274}"/>
              </a:ext>
            </a:extLst>
          </p:cNvPr>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a:extLst>
              <a:ext uri="{FF2B5EF4-FFF2-40B4-BE49-F238E27FC236}">
                <a16:creationId xmlns:a16="http://schemas.microsoft.com/office/drawing/2014/main" id="{6CFD2DFF-9AA5-C2C3-63C1-DA5C8E3ACCAD}"/>
              </a:ext>
            </a:extLst>
          </p:cNvPr>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10;&#10;Description automatically generated">
            <a:extLst>
              <a:ext uri="{FF2B5EF4-FFF2-40B4-BE49-F238E27FC236}">
                <a16:creationId xmlns:a16="http://schemas.microsoft.com/office/drawing/2014/main" id="{6D7B2816-96B3-4001-2204-9187844303F4}"/>
              </a:ext>
            </a:extLst>
          </p:cNvPr>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42" name="Google Shape;142;p2">
            <a:extLst>
              <a:ext uri="{FF2B5EF4-FFF2-40B4-BE49-F238E27FC236}">
                <a16:creationId xmlns:a16="http://schemas.microsoft.com/office/drawing/2014/main" id="{E8B22E3A-3012-6937-9551-343783523C68}"/>
              </a:ext>
            </a:extLst>
          </p:cNvPr>
          <p:cNvSpPr txBox="1"/>
          <p:nvPr/>
        </p:nvSpPr>
        <p:spPr>
          <a:xfrm>
            <a:off x="2069680" y="953013"/>
            <a:ext cx="5555343"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3200"/>
              <a:buFont typeface="Times New Roman"/>
              <a:buNone/>
            </a:pPr>
            <a:r>
              <a:rPr lang="en-US" sz="2800" b="1" i="0" u="none" strike="noStrike" cap="none" dirty="0">
                <a:solidFill>
                  <a:schemeClr val="dk1"/>
                </a:solidFill>
                <a:latin typeface="Times New Roman"/>
                <a:ea typeface="Times New Roman"/>
                <a:cs typeface="Times New Roman"/>
                <a:sym typeface="Times New Roman"/>
              </a:rPr>
              <a:t>Literature Survey - 9</a:t>
            </a:r>
          </a:p>
        </p:txBody>
      </p:sp>
      <p:sp>
        <p:nvSpPr>
          <p:cNvPr id="4" name="Content Placeholder 4">
            <a:extLst>
              <a:ext uri="{FF2B5EF4-FFF2-40B4-BE49-F238E27FC236}">
                <a16:creationId xmlns:a16="http://schemas.microsoft.com/office/drawing/2014/main" id="{DAF84B74-44DB-610A-9283-EA17197792D1}"/>
              </a:ext>
            </a:extLst>
          </p:cNvPr>
          <p:cNvSpPr txBox="1">
            <a:spLocks noChangeArrowheads="1"/>
          </p:cNvSpPr>
          <p:nvPr/>
        </p:nvSpPr>
        <p:spPr>
          <a:xfrm>
            <a:off x="500062" y="1836920"/>
            <a:ext cx="8143875" cy="371475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61950" indent="-361950" algn="just">
              <a:spcBef>
                <a:spcPct val="0"/>
              </a:spcBef>
              <a:buFontTx/>
              <a:buNone/>
              <a:tabLst>
                <a:tab pos="520700" algn="l"/>
              </a:tabLst>
              <a:defRPr/>
            </a:pPr>
            <a:r>
              <a:rPr lang="en-US" altLang="en-US" sz="2400" b="1" dirty="0">
                <a:solidFill>
                  <a:srgbClr val="C00000"/>
                </a:solidFill>
                <a:latin typeface="Times New Roman" panose="02020603050405020304" pitchFamily="18" charset="0"/>
                <a:cs typeface="Times New Roman" panose="02020603050405020304" pitchFamily="18" charset="0"/>
              </a:rPr>
              <a:t>Merits:</a:t>
            </a:r>
          </a:p>
          <a:p>
            <a:pPr marL="361950" indent="-361950" algn="just">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Domain knowledge integration (call graph) improves ranking quality</a:t>
            </a:r>
          </a:p>
          <a:p>
            <a:pPr marL="361950" indent="-361950" algn="just">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Prefiltering significantly reduces search space, improving scalability</a:t>
            </a:r>
          </a:p>
          <a:p>
            <a:pPr algn="just">
              <a:spcBef>
                <a:spcPct val="0"/>
              </a:spcBef>
              <a:tabLst>
                <a:tab pos="520700" algn="l"/>
              </a:tabLst>
              <a:defRPr/>
            </a:pPr>
            <a:r>
              <a:rPr lang="en-US" altLang="en-US" sz="2400" b="1" dirty="0">
                <a:solidFill>
                  <a:srgbClr val="C00000"/>
                </a:solidFill>
                <a:latin typeface="Times New Roman" panose="02020603050405020304" pitchFamily="18" charset="0"/>
                <a:cs typeface="Times New Roman" panose="02020603050405020304" pitchFamily="18" charset="0"/>
              </a:rPr>
              <a:t>Demerits:</a:t>
            </a:r>
          </a:p>
          <a:p>
            <a:pPr marL="342900" indent="-342900" algn="just">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Relies on call graph which may be incomplete in stripped binaries</a:t>
            </a:r>
          </a:p>
          <a:p>
            <a:pPr marL="342900" indent="-342900" algn="just">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Still cannot directly compare binary code with source code</a:t>
            </a:r>
          </a:p>
        </p:txBody>
      </p:sp>
    </p:spTree>
    <p:extLst>
      <p:ext uri="{BB962C8B-B14F-4D97-AF65-F5344CB8AC3E}">
        <p14:creationId xmlns:p14="http://schemas.microsoft.com/office/powerpoint/2010/main" val="25641377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33">
          <a:extLst>
            <a:ext uri="{FF2B5EF4-FFF2-40B4-BE49-F238E27FC236}">
              <a16:creationId xmlns:a16="http://schemas.microsoft.com/office/drawing/2014/main" id="{9AB327B2-2F67-1BDE-C9AD-B26A4D6C6F36}"/>
            </a:ext>
          </a:extLst>
        </p:cNvPr>
        <p:cNvGrpSpPr/>
        <p:nvPr/>
      </p:nvGrpSpPr>
      <p:grpSpPr>
        <a:xfrm>
          <a:off x="0" y="0"/>
          <a:ext cx="0" cy="0"/>
          <a:chOff x="0" y="0"/>
          <a:chExt cx="0" cy="0"/>
        </a:xfrm>
      </p:grpSpPr>
      <p:pic>
        <p:nvPicPr>
          <p:cNvPr id="134" name="Google Shape;134;p2">
            <a:extLst>
              <a:ext uri="{FF2B5EF4-FFF2-40B4-BE49-F238E27FC236}">
                <a16:creationId xmlns:a16="http://schemas.microsoft.com/office/drawing/2014/main" id="{FC87FDFB-CAEE-DAD7-E74A-38629B7C3F03}"/>
              </a:ext>
            </a:extLst>
          </p:cNvPr>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35" name="Google Shape;135;p2">
            <a:extLst>
              <a:ext uri="{FF2B5EF4-FFF2-40B4-BE49-F238E27FC236}">
                <a16:creationId xmlns:a16="http://schemas.microsoft.com/office/drawing/2014/main" id="{15049251-8863-E891-4DFB-CF2B313E3607}"/>
              </a:ext>
            </a:extLst>
          </p:cNvPr>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a:extLst>
              <a:ext uri="{FF2B5EF4-FFF2-40B4-BE49-F238E27FC236}">
                <a16:creationId xmlns:a16="http://schemas.microsoft.com/office/drawing/2014/main" id="{B15533C6-AAAF-73E8-614A-C9CACDBA67B2}"/>
              </a:ext>
            </a:extLst>
          </p:cNvPr>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a:extLst>
              <a:ext uri="{FF2B5EF4-FFF2-40B4-BE49-F238E27FC236}">
                <a16:creationId xmlns:a16="http://schemas.microsoft.com/office/drawing/2014/main" id="{1D2E01C8-3F4E-B79D-31AA-636F86C8118F}"/>
              </a:ext>
            </a:extLst>
          </p:cNvPr>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24</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a:extLst>
              <a:ext uri="{FF2B5EF4-FFF2-40B4-BE49-F238E27FC236}">
                <a16:creationId xmlns:a16="http://schemas.microsoft.com/office/drawing/2014/main" id="{3C32FE9F-6E08-B9BB-56ED-C4314BA651AC}"/>
              </a:ext>
            </a:extLst>
          </p:cNvPr>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2 March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a:extLst>
              <a:ext uri="{FF2B5EF4-FFF2-40B4-BE49-F238E27FC236}">
                <a16:creationId xmlns:a16="http://schemas.microsoft.com/office/drawing/2014/main" id="{4870DEA5-6384-E1CD-51B6-19B43B6802E8}"/>
              </a:ext>
            </a:extLst>
          </p:cNvPr>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a:extLst>
              <a:ext uri="{FF2B5EF4-FFF2-40B4-BE49-F238E27FC236}">
                <a16:creationId xmlns:a16="http://schemas.microsoft.com/office/drawing/2014/main" id="{5C94546B-0A9F-1475-C874-42BAA4A56FC6}"/>
              </a:ext>
            </a:extLst>
          </p:cNvPr>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10;&#10;Description automatically generated">
            <a:extLst>
              <a:ext uri="{FF2B5EF4-FFF2-40B4-BE49-F238E27FC236}">
                <a16:creationId xmlns:a16="http://schemas.microsoft.com/office/drawing/2014/main" id="{149E8568-C904-5A3A-8158-ADE3AACC4D18}"/>
              </a:ext>
            </a:extLst>
          </p:cNvPr>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42" name="Google Shape;142;p2">
            <a:extLst>
              <a:ext uri="{FF2B5EF4-FFF2-40B4-BE49-F238E27FC236}">
                <a16:creationId xmlns:a16="http://schemas.microsoft.com/office/drawing/2014/main" id="{8CF3A387-9B4C-2EC9-63A7-47E5A8293AB3}"/>
              </a:ext>
            </a:extLst>
          </p:cNvPr>
          <p:cNvSpPr txBox="1"/>
          <p:nvPr/>
        </p:nvSpPr>
        <p:spPr>
          <a:xfrm>
            <a:off x="2128296" y="847187"/>
            <a:ext cx="5555343"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3200"/>
              <a:buFont typeface="Times New Roman"/>
              <a:buNone/>
            </a:pPr>
            <a:r>
              <a:rPr lang="en-US" sz="2800" b="1" i="0" u="none" strike="noStrike" cap="none" dirty="0">
                <a:solidFill>
                  <a:schemeClr val="dk1"/>
                </a:solidFill>
                <a:latin typeface="Times New Roman"/>
                <a:ea typeface="Times New Roman"/>
                <a:cs typeface="Times New Roman"/>
                <a:sym typeface="Times New Roman"/>
              </a:rPr>
              <a:t>Literature Survey - 10</a:t>
            </a:r>
          </a:p>
        </p:txBody>
      </p:sp>
      <p:sp>
        <p:nvSpPr>
          <p:cNvPr id="4" name="Content Placeholder 4">
            <a:extLst>
              <a:ext uri="{FF2B5EF4-FFF2-40B4-BE49-F238E27FC236}">
                <a16:creationId xmlns:a16="http://schemas.microsoft.com/office/drawing/2014/main" id="{77897230-ACB5-0F84-3723-F4BEF2904564}"/>
              </a:ext>
            </a:extLst>
          </p:cNvPr>
          <p:cNvSpPr txBox="1">
            <a:spLocks noChangeArrowheads="1"/>
          </p:cNvSpPr>
          <p:nvPr/>
        </p:nvSpPr>
        <p:spPr>
          <a:xfrm>
            <a:off x="238125" y="1607954"/>
            <a:ext cx="8143875" cy="5015883"/>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spcBef>
                <a:spcPct val="0"/>
              </a:spcBef>
              <a:buFontTx/>
              <a:buNone/>
              <a:tabLst>
                <a:tab pos="520700" algn="l"/>
              </a:tabLst>
              <a:defRPr/>
            </a:pPr>
            <a:r>
              <a:rPr lang="en-US" altLang="en-US" sz="2400" b="1" dirty="0">
                <a:latin typeface="Times New Roman" panose="02020603050405020304" pitchFamily="18" charset="0"/>
                <a:cs typeface="Times New Roman" panose="02020603050405020304" pitchFamily="18" charset="0"/>
              </a:rPr>
              <a:t>Gu et al. </a:t>
            </a:r>
            <a:r>
              <a:rPr lang="en-US" altLang="en-US" sz="2400" dirty="0">
                <a:latin typeface="Times New Roman" panose="02020603050405020304" pitchFamily="18" charset="0"/>
                <a:cs typeface="Times New Roman" panose="02020603050405020304" pitchFamily="18" charset="0"/>
              </a:rPr>
              <a:t>(2025) presented </a:t>
            </a:r>
            <a:r>
              <a:rPr lang="en-US" altLang="en-US" sz="2400" b="1" dirty="0" err="1">
                <a:latin typeface="Times New Roman" panose="02020603050405020304" pitchFamily="18" charset="0"/>
                <a:cs typeface="Times New Roman" panose="02020603050405020304" pitchFamily="18" charset="0"/>
              </a:rPr>
              <a:t>UniASM</a:t>
            </a:r>
            <a:r>
              <a:rPr lang="en-US" altLang="en-US" sz="2400" dirty="0">
                <a:latin typeface="Times New Roman" panose="02020603050405020304" pitchFamily="18" charset="0"/>
                <a:cs typeface="Times New Roman" panose="02020603050405020304" pitchFamily="18" charset="0"/>
              </a:rPr>
              <a:t>, a transformer-based binary code similarity detection approach that integrates token embeddings, positional embeddings, and segment embeddings through a unified Transformer architecture  without requiring task-specific fine-tuning. It treats binary code as a structured token stream and learns rich contextual representations during pretraining, enabling direct similarity comparison at inference time.</a:t>
            </a:r>
          </a:p>
          <a:p>
            <a:pPr algn="just">
              <a:spcBef>
                <a:spcPct val="0"/>
              </a:spcBef>
              <a:buFontTx/>
              <a:buNone/>
              <a:tabLst>
                <a:tab pos="520700" algn="l"/>
              </a:tabLst>
              <a:defRPr/>
            </a:pPr>
            <a:endParaRPr lang="en-US" altLang="en-US" sz="2400" dirty="0">
              <a:latin typeface="Times New Roman" panose="02020603050405020304" pitchFamily="18" charset="0"/>
              <a:cs typeface="Times New Roman" panose="02020603050405020304" pitchFamily="18" charset="0"/>
            </a:endParaRPr>
          </a:p>
          <a:p>
            <a:pPr algn="just">
              <a:spcBef>
                <a:spcPct val="0"/>
              </a:spcBef>
              <a:buFontTx/>
              <a:buNone/>
              <a:tabLst>
                <a:tab pos="520700" algn="l"/>
              </a:tabLst>
              <a:defRPr/>
            </a:pPr>
            <a:endParaRPr lang="en-US" altLang="en-US" sz="1600" dirty="0">
              <a:solidFill>
                <a:srgbClr val="0000CC"/>
              </a:solidFill>
              <a:latin typeface="Times New Roman" panose="02020603050405020304" pitchFamily="18" charset="0"/>
              <a:cs typeface="Times New Roman" panose="02020603050405020304" pitchFamily="18" charset="0"/>
            </a:endParaRPr>
          </a:p>
          <a:p>
            <a:pPr algn="just">
              <a:spcBef>
                <a:spcPct val="0"/>
              </a:spcBef>
              <a:buFontTx/>
              <a:buNone/>
              <a:tabLst>
                <a:tab pos="520700" algn="l"/>
              </a:tabLst>
              <a:defRPr/>
            </a:pPr>
            <a:endParaRPr lang="en-US" altLang="en-US" sz="1600" dirty="0">
              <a:solidFill>
                <a:srgbClr val="0000CC"/>
              </a:solidFill>
              <a:latin typeface="Times New Roman" panose="02020603050405020304" pitchFamily="18" charset="0"/>
              <a:cs typeface="Times New Roman" panose="02020603050405020304" pitchFamily="18" charset="0"/>
            </a:endParaRPr>
          </a:p>
          <a:p>
            <a:pPr algn="just">
              <a:spcBef>
                <a:spcPct val="0"/>
              </a:spcBef>
              <a:buFontTx/>
              <a:buNone/>
              <a:tabLst>
                <a:tab pos="520700" algn="l"/>
              </a:tabLst>
              <a:defRPr/>
            </a:pPr>
            <a:r>
              <a:rPr lang="en-US" altLang="en-US" sz="1600" dirty="0">
                <a:solidFill>
                  <a:srgbClr val="0000CC"/>
                </a:solidFill>
                <a:latin typeface="Times New Roman" panose="02020603050405020304" pitchFamily="18" charset="0"/>
                <a:cs typeface="Times New Roman" panose="02020603050405020304" pitchFamily="18" charset="0"/>
              </a:rPr>
              <a:t>Reference: Y. Gu, H. Shu, F. Kang, and F. Hu, </a:t>
            </a:r>
            <a:r>
              <a:rPr lang="en-US" altLang="en-US" sz="1600" dirty="0" err="1">
                <a:solidFill>
                  <a:srgbClr val="0000CC"/>
                </a:solidFill>
                <a:latin typeface="Times New Roman" panose="02020603050405020304" pitchFamily="18" charset="0"/>
                <a:cs typeface="Times New Roman" panose="02020603050405020304" pitchFamily="18" charset="0"/>
              </a:rPr>
              <a:t>UniASM</a:t>
            </a:r>
            <a:r>
              <a:rPr lang="en-US" altLang="en-US" sz="1600" dirty="0">
                <a:solidFill>
                  <a:srgbClr val="0000CC"/>
                </a:solidFill>
                <a:latin typeface="Times New Roman" panose="02020603050405020304" pitchFamily="18" charset="0"/>
                <a:cs typeface="Times New Roman" panose="02020603050405020304" pitchFamily="18" charset="0"/>
              </a:rPr>
              <a:t>: Binary code similarity detection without fine-tuning," Neurocomputing, vol. 630, 2025, Art. no. 129646.</a:t>
            </a:r>
            <a:endParaRPr lang="en-IN" altLang="en-US" sz="1600" dirty="0">
              <a:solidFill>
                <a:srgbClr val="0000CC"/>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577571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33">
          <a:extLst>
            <a:ext uri="{FF2B5EF4-FFF2-40B4-BE49-F238E27FC236}">
              <a16:creationId xmlns:a16="http://schemas.microsoft.com/office/drawing/2014/main" id="{ADEC19CF-C7C7-822F-A81D-A8E149961D00}"/>
            </a:ext>
          </a:extLst>
        </p:cNvPr>
        <p:cNvGrpSpPr/>
        <p:nvPr/>
      </p:nvGrpSpPr>
      <p:grpSpPr>
        <a:xfrm>
          <a:off x="0" y="0"/>
          <a:ext cx="0" cy="0"/>
          <a:chOff x="0" y="0"/>
          <a:chExt cx="0" cy="0"/>
        </a:xfrm>
      </p:grpSpPr>
      <p:pic>
        <p:nvPicPr>
          <p:cNvPr id="134" name="Google Shape;134;p2">
            <a:extLst>
              <a:ext uri="{FF2B5EF4-FFF2-40B4-BE49-F238E27FC236}">
                <a16:creationId xmlns:a16="http://schemas.microsoft.com/office/drawing/2014/main" id="{6C49B39D-4B54-DD2D-F18C-89220A4985EE}"/>
              </a:ext>
            </a:extLst>
          </p:cNvPr>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35" name="Google Shape;135;p2">
            <a:extLst>
              <a:ext uri="{FF2B5EF4-FFF2-40B4-BE49-F238E27FC236}">
                <a16:creationId xmlns:a16="http://schemas.microsoft.com/office/drawing/2014/main" id="{E11F7796-568A-5F98-AAC5-1E517B6E28AE}"/>
              </a:ext>
            </a:extLst>
          </p:cNvPr>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a:extLst>
              <a:ext uri="{FF2B5EF4-FFF2-40B4-BE49-F238E27FC236}">
                <a16:creationId xmlns:a16="http://schemas.microsoft.com/office/drawing/2014/main" id="{7311950A-374A-533F-AB14-AAF91D76B33E}"/>
              </a:ext>
            </a:extLst>
          </p:cNvPr>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a:extLst>
              <a:ext uri="{FF2B5EF4-FFF2-40B4-BE49-F238E27FC236}">
                <a16:creationId xmlns:a16="http://schemas.microsoft.com/office/drawing/2014/main" id="{10D3A282-FB87-7963-5CAB-B8A7812B8C7E}"/>
              </a:ext>
            </a:extLst>
          </p:cNvPr>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25</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a:extLst>
              <a:ext uri="{FF2B5EF4-FFF2-40B4-BE49-F238E27FC236}">
                <a16:creationId xmlns:a16="http://schemas.microsoft.com/office/drawing/2014/main" id="{8A3D3EC8-A12B-3C1E-98C1-228ED11ED3BE}"/>
              </a:ext>
            </a:extLst>
          </p:cNvPr>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2 March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a:extLst>
              <a:ext uri="{FF2B5EF4-FFF2-40B4-BE49-F238E27FC236}">
                <a16:creationId xmlns:a16="http://schemas.microsoft.com/office/drawing/2014/main" id="{CED754BE-984E-20F5-584B-B4498B433B44}"/>
              </a:ext>
            </a:extLst>
          </p:cNvPr>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a:extLst>
              <a:ext uri="{FF2B5EF4-FFF2-40B4-BE49-F238E27FC236}">
                <a16:creationId xmlns:a16="http://schemas.microsoft.com/office/drawing/2014/main" id="{ED9EBB75-E552-67FD-2CB8-B15364A13AC3}"/>
              </a:ext>
            </a:extLst>
          </p:cNvPr>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10;&#10;Description automatically generated">
            <a:extLst>
              <a:ext uri="{FF2B5EF4-FFF2-40B4-BE49-F238E27FC236}">
                <a16:creationId xmlns:a16="http://schemas.microsoft.com/office/drawing/2014/main" id="{DEC51197-4B74-7B8E-2ACD-0141C67A1ED0}"/>
              </a:ext>
            </a:extLst>
          </p:cNvPr>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42" name="Google Shape;142;p2">
            <a:extLst>
              <a:ext uri="{FF2B5EF4-FFF2-40B4-BE49-F238E27FC236}">
                <a16:creationId xmlns:a16="http://schemas.microsoft.com/office/drawing/2014/main" id="{F4CB8A13-12C2-5371-1F28-92019014733F}"/>
              </a:ext>
            </a:extLst>
          </p:cNvPr>
          <p:cNvSpPr txBox="1"/>
          <p:nvPr/>
        </p:nvSpPr>
        <p:spPr>
          <a:xfrm>
            <a:off x="2069680" y="953013"/>
            <a:ext cx="5555343"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3200"/>
              <a:buFont typeface="Times New Roman"/>
              <a:buNone/>
            </a:pPr>
            <a:r>
              <a:rPr lang="en-US" sz="2800" b="1" i="0" u="none" strike="noStrike" cap="none" dirty="0">
                <a:solidFill>
                  <a:schemeClr val="dk1"/>
                </a:solidFill>
                <a:latin typeface="Times New Roman"/>
                <a:ea typeface="Times New Roman"/>
                <a:cs typeface="Times New Roman"/>
                <a:sym typeface="Times New Roman"/>
              </a:rPr>
              <a:t>Literature Survey - 10</a:t>
            </a:r>
          </a:p>
        </p:txBody>
      </p:sp>
      <p:sp>
        <p:nvSpPr>
          <p:cNvPr id="4" name="Content Placeholder 4">
            <a:extLst>
              <a:ext uri="{FF2B5EF4-FFF2-40B4-BE49-F238E27FC236}">
                <a16:creationId xmlns:a16="http://schemas.microsoft.com/office/drawing/2014/main" id="{3B243808-FB31-4CFB-21D2-EFBA7DF51131}"/>
              </a:ext>
            </a:extLst>
          </p:cNvPr>
          <p:cNvSpPr txBox="1">
            <a:spLocks noChangeArrowheads="1"/>
          </p:cNvSpPr>
          <p:nvPr/>
        </p:nvSpPr>
        <p:spPr>
          <a:xfrm>
            <a:off x="500062" y="1836920"/>
            <a:ext cx="8143875" cy="371475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61950" indent="-361950" algn="just">
              <a:spcBef>
                <a:spcPct val="0"/>
              </a:spcBef>
              <a:buFontTx/>
              <a:buNone/>
              <a:tabLst>
                <a:tab pos="520700" algn="l"/>
              </a:tabLst>
              <a:defRPr/>
            </a:pPr>
            <a:r>
              <a:rPr lang="en-US" altLang="en-US" sz="2400" b="1" dirty="0">
                <a:solidFill>
                  <a:srgbClr val="C00000"/>
                </a:solidFill>
                <a:latin typeface="Times New Roman" panose="02020603050405020304" pitchFamily="18" charset="0"/>
                <a:cs typeface="Times New Roman" panose="02020603050405020304" pitchFamily="18" charset="0"/>
              </a:rPr>
              <a:t>Merits:</a:t>
            </a:r>
          </a:p>
          <a:p>
            <a:pPr marL="361950" indent="-361950" algn="just">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Eliminates the need for task-specific fine-tuning, enabling plug-and-play use</a:t>
            </a:r>
          </a:p>
          <a:p>
            <a:pPr marL="361950" indent="-361950" algn="just">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Segment embeddings capture function-level structural boundaries</a:t>
            </a:r>
          </a:p>
          <a:p>
            <a:pPr algn="just">
              <a:spcBef>
                <a:spcPct val="0"/>
              </a:spcBef>
              <a:tabLst>
                <a:tab pos="520700" algn="l"/>
              </a:tabLst>
              <a:defRPr/>
            </a:pPr>
            <a:r>
              <a:rPr lang="en-US" altLang="en-US" sz="2400" b="1" dirty="0">
                <a:solidFill>
                  <a:srgbClr val="C00000"/>
                </a:solidFill>
                <a:latin typeface="Times New Roman" panose="02020603050405020304" pitchFamily="18" charset="0"/>
                <a:cs typeface="Times New Roman" panose="02020603050405020304" pitchFamily="18" charset="0"/>
              </a:rPr>
              <a:t>Demerits:</a:t>
            </a:r>
          </a:p>
          <a:p>
            <a:pPr marL="342900" indent="-342900" algn="just">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Pretraining is resource-intensive and architecture-specific</a:t>
            </a:r>
          </a:p>
          <a:p>
            <a:pPr marL="342900" indent="-342900" algn="just">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Cross-architecture generalization remains a challenge without fine-tuning on target architecture data</a:t>
            </a:r>
          </a:p>
        </p:txBody>
      </p:sp>
    </p:spTree>
    <p:extLst>
      <p:ext uri="{BB962C8B-B14F-4D97-AF65-F5344CB8AC3E}">
        <p14:creationId xmlns:p14="http://schemas.microsoft.com/office/powerpoint/2010/main" val="9811251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pic>
        <p:nvPicPr>
          <p:cNvPr id="134" name="Google Shape;134;p2"/>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35" name="Google Shape;135;p2"/>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26</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2 March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10;&#10;Description automatically generated"/>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42" name="Google Shape;142;p2"/>
          <p:cNvSpPr txBox="1"/>
          <p:nvPr/>
        </p:nvSpPr>
        <p:spPr>
          <a:xfrm>
            <a:off x="2456543" y="891458"/>
            <a:ext cx="5555343"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3200"/>
              <a:buFont typeface="Times New Roman"/>
              <a:buNone/>
            </a:pPr>
            <a:r>
              <a:rPr lang="en-US" sz="2800" b="1" i="0" u="none" strike="noStrike" cap="none" dirty="0">
                <a:solidFill>
                  <a:schemeClr val="dk1"/>
                </a:solidFill>
                <a:latin typeface="Times New Roman"/>
                <a:ea typeface="Times New Roman"/>
                <a:cs typeface="Times New Roman"/>
                <a:sym typeface="Times New Roman"/>
              </a:rPr>
              <a:t>Literature Survey </a:t>
            </a:r>
          </a:p>
        </p:txBody>
      </p:sp>
      <p:graphicFrame>
        <p:nvGraphicFramePr>
          <p:cNvPr id="2" name="Table 1">
            <a:extLst>
              <a:ext uri="{FF2B5EF4-FFF2-40B4-BE49-F238E27FC236}">
                <a16:creationId xmlns:a16="http://schemas.microsoft.com/office/drawing/2014/main" id="{0446ADFE-F3F8-6CE9-2121-513F9912AEC6}"/>
              </a:ext>
            </a:extLst>
          </p:cNvPr>
          <p:cNvGraphicFramePr>
            <a:graphicFrameLocks noGrp="1"/>
          </p:cNvGraphicFramePr>
          <p:nvPr>
            <p:extLst>
              <p:ext uri="{D42A27DB-BD31-4B8C-83A1-F6EECF244321}">
                <p14:modId xmlns:p14="http://schemas.microsoft.com/office/powerpoint/2010/main" val="172119644"/>
              </p:ext>
            </p:extLst>
          </p:nvPr>
        </p:nvGraphicFramePr>
        <p:xfrm>
          <a:off x="232600" y="1953871"/>
          <a:ext cx="8396897" cy="4351941"/>
        </p:xfrm>
        <a:graphic>
          <a:graphicData uri="http://schemas.openxmlformats.org/drawingml/2006/table">
            <a:tbl>
              <a:tblPr firstRow="1" bandRow="1">
                <a:tableStyleId>{616DA210-FB5B-4158-B5E0-FEB733F419BA}</a:tableStyleId>
              </a:tblPr>
              <a:tblGrid>
                <a:gridCol w="530242">
                  <a:extLst>
                    <a:ext uri="{9D8B030D-6E8A-4147-A177-3AD203B41FA5}">
                      <a16:colId xmlns:a16="http://schemas.microsoft.com/office/drawing/2014/main" val="20000"/>
                    </a:ext>
                  </a:extLst>
                </a:gridCol>
                <a:gridCol w="1623508">
                  <a:extLst>
                    <a:ext uri="{9D8B030D-6E8A-4147-A177-3AD203B41FA5}">
                      <a16:colId xmlns:a16="http://schemas.microsoft.com/office/drawing/2014/main" val="20001"/>
                    </a:ext>
                  </a:extLst>
                </a:gridCol>
                <a:gridCol w="3188676">
                  <a:extLst>
                    <a:ext uri="{9D8B030D-6E8A-4147-A177-3AD203B41FA5}">
                      <a16:colId xmlns:a16="http://schemas.microsoft.com/office/drawing/2014/main" val="20002"/>
                    </a:ext>
                  </a:extLst>
                </a:gridCol>
                <a:gridCol w="3054471">
                  <a:extLst>
                    <a:ext uri="{9D8B030D-6E8A-4147-A177-3AD203B41FA5}">
                      <a16:colId xmlns:a16="http://schemas.microsoft.com/office/drawing/2014/main" val="20003"/>
                    </a:ext>
                  </a:extLst>
                </a:gridCol>
              </a:tblGrid>
              <a:tr h="694373">
                <a:tc>
                  <a:txBody>
                    <a:bodyPr/>
                    <a:lstStyle/>
                    <a:p>
                      <a:pPr algn="ctr"/>
                      <a:r>
                        <a:rPr lang="en-IN" sz="1800" dirty="0" err="1">
                          <a:latin typeface="Times New Roman" panose="02020603050405020304" pitchFamily="18" charset="0"/>
                          <a:cs typeface="Times New Roman" panose="02020603050405020304" pitchFamily="18" charset="0"/>
                        </a:rPr>
                        <a:t>S.No</a:t>
                      </a:r>
                      <a:r>
                        <a:rPr lang="en-IN" sz="1800" dirty="0"/>
                        <a:t>.</a:t>
                      </a:r>
                      <a:endParaRPr lang="en-IN" sz="1800" dirty="0">
                        <a:latin typeface="Times New Roman" panose="02020603050405020304" pitchFamily="18" charset="0"/>
                        <a:cs typeface="Times New Roman" panose="02020603050405020304" pitchFamily="18" charset="0"/>
                      </a:endParaRPr>
                    </a:p>
                  </a:txBody>
                  <a:tcPr marL="91447" marR="91447" marT="45716" marB="45716"/>
                </a:tc>
                <a:tc>
                  <a:txBody>
                    <a:bodyPr/>
                    <a:lstStyle/>
                    <a:p>
                      <a:pPr algn="ctr"/>
                      <a:r>
                        <a:rPr lang="en-IN" sz="1800" dirty="0"/>
                        <a:t>Author(s) &amp; Year</a:t>
                      </a:r>
                      <a:endParaRPr lang="en-IN" sz="1800" dirty="0">
                        <a:latin typeface="Times New Roman" panose="02020603050405020304" pitchFamily="18" charset="0"/>
                        <a:cs typeface="Times New Roman" panose="02020603050405020304" pitchFamily="18" charset="0"/>
                      </a:endParaRPr>
                    </a:p>
                  </a:txBody>
                  <a:tcPr marL="91447" marR="91447" marT="45716" marB="45716"/>
                </a:tc>
                <a:tc>
                  <a:txBody>
                    <a:bodyPr/>
                    <a:lstStyle/>
                    <a:p>
                      <a:pPr algn="ctr"/>
                      <a:r>
                        <a:rPr lang="en-IN" sz="1800" dirty="0"/>
                        <a:t>Methodology</a:t>
                      </a:r>
                      <a:r>
                        <a:rPr lang="en-IN" sz="1800" baseline="0" dirty="0"/>
                        <a:t> used</a:t>
                      </a:r>
                      <a:endParaRPr lang="en-IN" sz="1800" dirty="0">
                        <a:latin typeface="Times New Roman" panose="02020603050405020304" pitchFamily="18" charset="0"/>
                        <a:cs typeface="Times New Roman" panose="02020603050405020304" pitchFamily="18" charset="0"/>
                      </a:endParaRPr>
                    </a:p>
                  </a:txBody>
                  <a:tcPr marL="91447" marR="91447" marT="45716" marB="45716"/>
                </a:tc>
                <a:tc>
                  <a:txBody>
                    <a:bodyPr/>
                    <a:lstStyle/>
                    <a:p>
                      <a:pPr algn="ctr"/>
                      <a:r>
                        <a:rPr lang="en-IN" sz="1800" dirty="0"/>
                        <a:t>Limitations</a:t>
                      </a:r>
                      <a:endParaRPr lang="en-IN" sz="1800" dirty="0">
                        <a:latin typeface="Times New Roman" panose="02020603050405020304" pitchFamily="18" charset="0"/>
                        <a:cs typeface="Times New Roman" panose="02020603050405020304" pitchFamily="18" charset="0"/>
                      </a:endParaRPr>
                    </a:p>
                  </a:txBody>
                  <a:tcPr marL="91447" marR="91447" marT="45716" marB="45716"/>
                </a:tc>
                <a:extLst>
                  <a:ext uri="{0D108BD9-81ED-4DB2-BD59-A6C34878D82A}">
                    <a16:rowId xmlns:a16="http://schemas.microsoft.com/office/drawing/2014/main" val="10000"/>
                  </a:ext>
                </a:extLst>
              </a:tr>
              <a:tr h="694373">
                <a:tc>
                  <a:txBody>
                    <a:bodyPr/>
                    <a:lstStyle/>
                    <a:p>
                      <a:r>
                        <a:rPr lang="en-US" sz="1800" dirty="0"/>
                        <a:t>1.</a:t>
                      </a:r>
                      <a:endParaRPr lang="en-IN" sz="1800" dirty="0">
                        <a:latin typeface="Times New Roman" panose="02020603050405020304" pitchFamily="18" charset="0"/>
                        <a:cs typeface="Times New Roman" panose="02020603050405020304" pitchFamily="18" charset="0"/>
                      </a:endParaRPr>
                    </a:p>
                  </a:txBody>
                  <a:tcPr marL="91447" marR="91447" marT="45716" marB="45716"/>
                </a:tc>
                <a:tc>
                  <a:txBody>
                    <a:bodyPr/>
                    <a:lstStyle/>
                    <a:p>
                      <a:r>
                        <a:rPr lang="en-IN" sz="1800" dirty="0">
                          <a:latin typeface="Times New Roman" panose="02020603050405020304" pitchFamily="18" charset="0"/>
                          <a:cs typeface="Times New Roman" panose="02020603050405020304" pitchFamily="18" charset="0"/>
                        </a:rPr>
                        <a:t>Ding et al. (2019)</a:t>
                      </a:r>
                    </a:p>
                  </a:txBody>
                  <a:tcPr marL="91447" marR="91447" marT="45716" marB="45716"/>
                </a:tc>
                <a:tc>
                  <a:txBody>
                    <a:bodyPr/>
                    <a:lstStyle/>
                    <a:p>
                      <a:r>
                        <a:rPr lang="en-US" sz="1800" dirty="0">
                          <a:latin typeface="Times New Roman" panose="02020603050405020304" pitchFamily="18" charset="0"/>
                          <a:cs typeface="Times New Roman" panose="02020603050405020304" pitchFamily="18" charset="0"/>
                        </a:rPr>
                        <a:t>PV-DM-based assembly instruction embedding (Asm2Vec)</a:t>
                      </a:r>
                      <a:endParaRPr lang="en-IN" sz="1800" dirty="0">
                        <a:latin typeface="Times New Roman" panose="02020603050405020304" pitchFamily="18" charset="0"/>
                        <a:cs typeface="Times New Roman" panose="02020603050405020304" pitchFamily="18" charset="0"/>
                      </a:endParaRPr>
                    </a:p>
                  </a:txBody>
                  <a:tcPr marL="91447" marR="91447" marT="45716" marB="45716"/>
                </a:tc>
                <a:tc>
                  <a:txBody>
                    <a:bodyPr/>
                    <a:lstStyle/>
                    <a:p>
                      <a:r>
                        <a:rPr lang="en-US" sz="1800" dirty="0">
                          <a:latin typeface="Times New Roman" panose="02020603050405020304" pitchFamily="18" charset="0"/>
                          <a:cs typeface="Times New Roman" panose="02020603050405020304" pitchFamily="18" charset="0"/>
                        </a:rPr>
                        <a:t>Poor cross-architecture performance; ignores structural info</a:t>
                      </a:r>
                      <a:endParaRPr lang="en-IN" sz="1800" dirty="0">
                        <a:latin typeface="Times New Roman" panose="02020603050405020304" pitchFamily="18" charset="0"/>
                        <a:cs typeface="Times New Roman" panose="02020603050405020304" pitchFamily="18" charset="0"/>
                      </a:endParaRPr>
                    </a:p>
                  </a:txBody>
                  <a:tcPr marL="91447" marR="91447" marT="45716" marB="45716"/>
                </a:tc>
                <a:extLst>
                  <a:ext uri="{0D108BD9-81ED-4DB2-BD59-A6C34878D82A}">
                    <a16:rowId xmlns:a16="http://schemas.microsoft.com/office/drawing/2014/main" val="10001"/>
                  </a:ext>
                </a:extLst>
              </a:tr>
              <a:tr h="694373">
                <a:tc>
                  <a:txBody>
                    <a:bodyPr/>
                    <a:lstStyle/>
                    <a:p>
                      <a:r>
                        <a:rPr lang="en-US" sz="1800" dirty="0"/>
                        <a:t>2.</a:t>
                      </a:r>
                      <a:endParaRPr lang="en-IN" sz="1800" dirty="0">
                        <a:latin typeface="Times New Roman" panose="02020603050405020304" pitchFamily="18" charset="0"/>
                        <a:cs typeface="Times New Roman" panose="02020603050405020304" pitchFamily="18" charset="0"/>
                      </a:endParaRPr>
                    </a:p>
                  </a:txBody>
                  <a:tcPr marL="91447" marR="91447" marT="45716" marB="45716"/>
                </a:tc>
                <a:tc>
                  <a:txBody>
                    <a:bodyPr/>
                    <a:lstStyle/>
                    <a:p>
                      <a:r>
                        <a:rPr lang="en-IN" sz="1800" dirty="0">
                          <a:latin typeface="Times New Roman" panose="02020603050405020304" pitchFamily="18" charset="0"/>
                          <a:cs typeface="Times New Roman" panose="02020603050405020304" pitchFamily="18" charset="0"/>
                        </a:rPr>
                        <a:t>Xu et al. (2017)</a:t>
                      </a:r>
                    </a:p>
                  </a:txBody>
                  <a:tcPr marL="91447" marR="91447" marT="45716" marB="45716"/>
                </a:tc>
                <a:tc>
                  <a:txBody>
                    <a:bodyPr/>
                    <a:lstStyle/>
                    <a:p>
                      <a:r>
                        <a:rPr lang="en-US" sz="1800" dirty="0">
                          <a:latin typeface="Times New Roman" panose="02020603050405020304" pitchFamily="18" charset="0"/>
                          <a:cs typeface="Times New Roman" panose="02020603050405020304" pitchFamily="18" charset="0"/>
                        </a:rPr>
                        <a:t>Graph embedding on attributed CFG using Structure2vec (Gemini)</a:t>
                      </a:r>
                      <a:endParaRPr lang="en-IN" sz="1800" dirty="0">
                        <a:latin typeface="Times New Roman" panose="02020603050405020304" pitchFamily="18" charset="0"/>
                        <a:cs typeface="Times New Roman" panose="02020603050405020304" pitchFamily="18" charset="0"/>
                      </a:endParaRPr>
                    </a:p>
                  </a:txBody>
                  <a:tcPr marL="91447" marR="91447" marT="45716" marB="45716"/>
                </a:tc>
                <a:tc>
                  <a:txBody>
                    <a:bodyPr/>
                    <a:lstStyle/>
                    <a:p>
                      <a:r>
                        <a:rPr lang="en-US" sz="1800" dirty="0">
                          <a:latin typeface="Times New Roman" panose="02020603050405020304" pitchFamily="18" charset="0"/>
                          <a:cs typeface="Times New Roman" panose="02020603050405020304" pitchFamily="18" charset="0"/>
                        </a:rPr>
                        <a:t>Manual feature design; scalability issues</a:t>
                      </a:r>
                      <a:endParaRPr lang="en-IN" sz="1800" dirty="0">
                        <a:latin typeface="Times New Roman" panose="02020603050405020304" pitchFamily="18" charset="0"/>
                        <a:cs typeface="Times New Roman" panose="02020603050405020304" pitchFamily="18" charset="0"/>
                      </a:endParaRPr>
                    </a:p>
                  </a:txBody>
                  <a:tcPr marL="91447" marR="91447" marT="45716" marB="45716"/>
                </a:tc>
                <a:extLst>
                  <a:ext uri="{0D108BD9-81ED-4DB2-BD59-A6C34878D82A}">
                    <a16:rowId xmlns:a16="http://schemas.microsoft.com/office/drawing/2014/main" val="10002"/>
                  </a:ext>
                </a:extLst>
              </a:tr>
              <a:tr h="694373">
                <a:tc>
                  <a:txBody>
                    <a:bodyPr/>
                    <a:lstStyle/>
                    <a:p>
                      <a:r>
                        <a:rPr lang="en-US" sz="1800" dirty="0"/>
                        <a:t>3.</a:t>
                      </a:r>
                      <a:endParaRPr lang="en-IN" sz="1800" dirty="0">
                        <a:latin typeface="Times New Roman" panose="02020603050405020304" pitchFamily="18" charset="0"/>
                        <a:cs typeface="Times New Roman" panose="02020603050405020304" pitchFamily="18" charset="0"/>
                      </a:endParaRPr>
                    </a:p>
                  </a:txBody>
                  <a:tcPr marL="91447" marR="91447" marT="45716" marB="45716"/>
                </a:tc>
                <a:tc>
                  <a:txBody>
                    <a:bodyPr/>
                    <a:lstStyle/>
                    <a:p>
                      <a:r>
                        <a:rPr lang="en-IN" sz="1800" dirty="0">
                          <a:latin typeface="Times New Roman" panose="02020603050405020304" pitchFamily="18" charset="0"/>
                          <a:cs typeface="Times New Roman" panose="02020603050405020304" pitchFamily="18" charset="0"/>
                        </a:rPr>
                        <a:t>Massarelli et al. (2019)</a:t>
                      </a:r>
                    </a:p>
                  </a:txBody>
                  <a:tcPr marL="91447" marR="91447" marT="45716" marB="45716"/>
                </a:tc>
                <a:tc>
                  <a:txBody>
                    <a:bodyPr/>
                    <a:lstStyle/>
                    <a:p>
                      <a:r>
                        <a:rPr lang="en-US" sz="1800" dirty="0">
                          <a:latin typeface="Times New Roman" panose="02020603050405020304" pitchFamily="18" charset="0"/>
                          <a:cs typeface="Times New Roman" panose="02020603050405020304" pitchFamily="18" charset="0"/>
                        </a:rPr>
                        <a:t>Word2Vec , self-attentive network on assembly sequences (SAFE)</a:t>
                      </a:r>
                      <a:endParaRPr lang="en-IN" sz="1800" dirty="0">
                        <a:latin typeface="Times New Roman" panose="02020603050405020304" pitchFamily="18" charset="0"/>
                        <a:cs typeface="Times New Roman" panose="02020603050405020304" pitchFamily="18" charset="0"/>
                      </a:endParaRPr>
                    </a:p>
                  </a:txBody>
                  <a:tcPr marL="91447" marR="91447" marT="45716" marB="45716"/>
                </a:tc>
                <a:tc>
                  <a:txBody>
                    <a:bodyPr/>
                    <a:lstStyle/>
                    <a:p>
                      <a:r>
                        <a:rPr lang="en-US" sz="1800" dirty="0">
                          <a:latin typeface="Times New Roman" panose="02020603050405020304" pitchFamily="18" charset="0"/>
                          <a:cs typeface="Times New Roman" panose="02020603050405020304" pitchFamily="18" charset="0"/>
                        </a:rPr>
                        <a:t>No structural info; limited cross-architecture support</a:t>
                      </a:r>
                      <a:endParaRPr lang="en-IN" sz="1800" dirty="0">
                        <a:latin typeface="Times New Roman" panose="02020603050405020304" pitchFamily="18" charset="0"/>
                        <a:cs typeface="Times New Roman" panose="02020603050405020304" pitchFamily="18" charset="0"/>
                      </a:endParaRPr>
                    </a:p>
                  </a:txBody>
                  <a:tcPr marL="91447" marR="91447" marT="45716" marB="45716"/>
                </a:tc>
                <a:extLst>
                  <a:ext uri="{0D108BD9-81ED-4DB2-BD59-A6C34878D82A}">
                    <a16:rowId xmlns:a16="http://schemas.microsoft.com/office/drawing/2014/main" val="10003"/>
                  </a:ext>
                </a:extLst>
              </a:tr>
              <a:tr h="694373">
                <a:tc>
                  <a:txBody>
                    <a:bodyPr/>
                    <a:lstStyle/>
                    <a:p>
                      <a:r>
                        <a:rPr lang="en-US" sz="1800" dirty="0"/>
                        <a:t>4.</a:t>
                      </a:r>
                      <a:endParaRPr lang="en-IN" sz="1800" dirty="0">
                        <a:latin typeface="Times New Roman" panose="02020603050405020304" pitchFamily="18" charset="0"/>
                        <a:cs typeface="Times New Roman" panose="02020603050405020304" pitchFamily="18" charset="0"/>
                      </a:endParaRPr>
                    </a:p>
                  </a:txBody>
                  <a:tcPr marL="91447" marR="91447" marT="45716" marB="45716"/>
                </a:tc>
                <a:tc>
                  <a:txBody>
                    <a:bodyPr/>
                    <a:lstStyle/>
                    <a:p>
                      <a:r>
                        <a:rPr lang="en-IN" sz="1800" dirty="0">
                          <a:latin typeface="Times New Roman" panose="02020603050405020304" pitchFamily="18" charset="0"/>
                          <a:cs typeface="Times New Roman" panose="02020603050405020304" pitchFamily="18" charset="0"/>
                        </a:rPr>
                        <a:t>Tian et al. (2021)</a:t>
                      </a:r>
                    </a:p>
                  </a:txBody>
                  <a:tcPr marL="91447" marR="91447" marT="45716" marB="45716"/>
                </a:tc>
                <a:tc>
                  <a:txBody>
                    <a:bodyPr/>
                    <a:lstStyle/>
                    <a:p>
                      <a:r>
                        <a:rPr lang="en-US" sz="1800" dirty="0">
                          <a:latin typeface="Times New Roman" panose="02020603050405020304" pitchFamily="18" charset="0"/>
                          <a:cs typeface="Times New Roman" panose="02020603050405020304" pitchFamily="18" charset="0"/>
                        </a:rPr>
                        <a:t>CNN + LSTM </a:t>
                      </a:r>
                      <a:r>
                        <a:rPr lang="en-US" sz="1800" dirty="0" err="1">
                          <a:latin typeface="Times New Roman" panose="02020603050405020304" pitchFamily="18" charset="0"/>
                          <a:cs typeface="Times New Roman" panose="02020603050405020304" pitchFamily="18" charset="0"/>
                        </a:rPr>
                        <a:t>siamese</a:t>
                      </a:r>
                      <a:r>
                        <a:rPr lang="en-US" sz="1800" dirty="0">
                          <a:latin typeface="Times New Roman" panose="02020603050405020304" pitchFamily="18" charset="0"/>
                          <a:cs typeface="Times New Roman" panose="02020603050405020304" pitchFamily="18" charset="0"/>
                        </a:rPr>
                        <a:t> network on Word2Vec instructions (</a:t>
                      </a:r>
                      <a:r>
                        <a:rPr lang="en-US" sz="1800" dirty="0" err="1">
                          <a:latin typeface="Times New Roman" panose="02020603050405020304" pitchFamily="18" charset="0"/>
                          <a:cs typeface="Times New Roman" panose="02020603050405020304" pitchFamily="18" charset="0"/>
                        </a:rPr>
                        <a:t>BinDeep</a:t>
                      </a:r>
                      <a:r>
                        <a:rPr lang="en-US" sz="1800" dirty="0">
                          <a:latin typeface="Times New Roman" panose="02020603050405020304" pitchFamily="18" charset="0"/>
                          <a:cs typeface="Times New Roman" panose="02020603050405020304" pitchFamily="18" charset="0"/>
                        </a:rPr>
                        <a:t>)</a:t>
                      </a:r>
                      <a:endParaRPr lang="en-IN" sz="1800" dirty="0">
                        <a:latin typeface="Times New Roman" panose="02020603050405020304" pitchFamily="18" charset="0"/>
                        <a:cs typeface="Times New Roman" panose="02020603050405020304" pitchFamily="18" charset="0"/>
                      </a:endParaRPr>
                    </a:p>
                  </a:txBody>
                  <a:tcPr marL="91447" marR="91447" marT="45716" marB="45716"/>
                </a:tc>
                <a:tc>
                  <a:txBody>
                    <a:bodyPr/>
                    <a:lstStyle/>
                    <a:p>
                      <a:r>
                        <a:rPr lang="en-IN" sz="1800" dirty="0">
                          <a:latin typeface="Times New Roman" panose="02020603050405020304" pitchFamily="18" charset="0"/>
                          <a:cs typeface="Times New Roman" panose="02020603050405020304" pitchFamily="18" charset="0"/>
                        </a:rPr>
                        <a:t>No CFG; computationally expensive</a:t>
                      </a:r>
                    </a:p>
                  </a:txBody>
                  <a:tcPr marL="91447" marR="91447" marT="45716" marB="45716"/>
                </a:tc>
                <a:extLst>
                  <a:ext uri="{0D108BD9-81ED-4DB2-BD59-A6C34878D82A}">
                    <a16:rowId xmlns:a16="http://schemas.microsoft.com/office/drawing/2014/main" val="10004"/>
                  </a:ext>
                </a:extLst>
              </a:tr>
            </a:tbl>
          </a:graphicData>
        </a:graphic>
      </p:graphicFrame>
      <p:sp>
        <p:nvSpPr>
          <p:cNvPr id="3" name="Content Placeholder 4">
            <a:extLst>
              <a:ext uri="{FF2B5EF4-FFF2-40B4-BE49-F238E27FC236}">
                <a16:creationId xmlns:a16="http://schemas.microsoft.com/office/drawing/2014/main" id="{2AC777EA-34C6-0CB4-8D35-D2A5DDA7144A}"/>
              </a:ext>
            </a:extLst>
          </p:cNvPr>
          <p:cNvSpPr txBox="1">
            <a:spLocks noChangeArrowheads="1"/>
          </p:cNvSpPr>
          <p:nvPr/>
        </p:nvSpPr>
        <p:spPr>
          <a:xfrm>
            <a:off x="195943" y="1476193"/>
            <a:ext cx="8733745" cy="4761094"/>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spcBef>
                <a:spcPct val="0"/>
              </a:spcBef>
              <a:buFontTx/>
              <a:buNone/>
              <a:tabLst>
                <a:tab pos="520700" algn="l"/>
              </a:tabLst>
            </a:pPr>
            <a:r>
              <a:rPr lang="en-IN" altLang="en-US" sz="2400" b="1" dirty="0">
                <a:latin typeface="Times New Roman" panose="02020603050405020304" pitchFamily="18" charset="0"/>
                <a:cs typeface="Times New Roman" panose="02020603050405020304" pitchFamily="18" charset="0"/>
              </a:rPr>
              <a:t>Consolidation of the literatures:</a:t>
            </a:r>
          </a:p>
          <a:p>
            <a:pPr algn="just">
              <a:spcBef>
                <a:spcPct val="0"/>
              </a:spcBef>
              <a:buFontTx/>
              <a:buNone/>
              <a:tabLst>
                <a:tab pos="520700" algn="l"/>
              </a:tabLst>
            </a:pPr>
            <a:endParaRPr lang="en-IN"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685896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33">
          <a:extLst>
            <a:ext uri="{FF2B5EF4-FFF2-40B4-BE49-F238E27FC236}">
              <a16:creationId xmlns:a16="http://schemas.microsoft.com/office/drawing/2014/main" id="{C8BF7778-81B5-0FC2-300C-156FC291CFF5}"/>
            </a:ext>
          </a:extLst>
        </p:cNvPr>
        <p:cNvGrpSpPr/>
        <p:nvPr/>
      </p:nvGrpSpPr>
      <p:grpSpPr>
        <a:xfrm>
          <a:off x="0" y="0"/>
          <a:ext cx="0" cy="0"/>
          <a:chOff x="0" y="0"/>
          <a:chExt cx="0" cy="0"/>
        </a:xfrm>
      </p:grpSpPr>
      <p:pic>
        <p:nvPicPr>
          <p:cNvPr id="134" name="Google Shape;134;p2">
            <a:extLst>
              <a:ext uri="{FF2B5EF4-FFF2-40B4-BE49-F238E27FC236}">
                <a16:creationId xmlns:a16="http://schemas.microsoft.com/office/drawing/2014/main" id="{7F9B77B3-31EA-98A2-F4FF-6B41A2978137}"/>
              </a:ext>
            </a:extLst>
          </p:cNvPr>
          <p:cNvPicPr preferRelativeResize="0"/>
          <p:nvPr/>
        </p:nvPicPr>
        <p:blipFill rotWithShape="1">
          <a:blip r:embed="rId3">
            <a:alphaModFix/>
          </a:blip>
          <a:srcRect/>
          <a:stretch/>
        </p:blipFill>
        <p:spPr>
          <a:xfrm>
            <a:off x="0" y="6541477"/>
            <a:ext cx="9144000" cy="307975"/>
          </a:xfrm>
          <a:prstGeom prst="rect">
            <a:avLst/>
          </a:prstGeom>
          <a:noFill/>
          <a:ln>
            <a:noFill/>
          </a:ln>
        </p:spPr>
      </p:pic>
      <p:sp>
        <p:nvSpPr>
          <p:cNvPr id="135" name="Google Shape;135;p2">
            <a:extLst>
              <a:ext uri="{FF2B5EF4-FFF2-40B4-BE49-F238E27FC236}">
                <a16:creationId xmlns:a16="http://schemas.microsoft.com/office/drawing/2014/main" id="{9E8DFA99-6FB8-0213-B16F-BDF7133106C3}"/>
              </a:ext>
            </a:extLst>
          </p:cNvPr>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a:extLst>
              <a:ext uri="{FF2B5EF4-FFF2-40B4-BE49-F238E27FC236}">
                <a16:creationId xmlns:a16="http://schemas.microsoft.com/office/drawing/2014/main" id="{1880822D-27FA-FE01-4A9A-9877C99B42F4}"/>
              </a:ext>
            </a:extLst>
          </p:cNvPr>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a:extLst>
              <a:ext uri="{FF2B5EF4-FFF2-40B4-BE49-F238E27FC236}">
                <a16:creationId xmlns:a16="http://schemas.microsoft.com/office/drawing/2014/main" id="{7009BF3B-B126-32B1-CE62-584654FD8B45}"/>
              </a:ext>
            </a:extLst>
          </p:cNvPr>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27</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a:extLst>
              <a:ext uri="{FF2B5EF4-FFF2-40B4-BE49-F238E27FC236}">
                <a16:creationId xmlns:a16="http://schemas.microsoft.com/office/drawing/2014/main" id="{5093F0EE-66BA-927A-AE08-ED946C27116F}"/>
              </a:ext>
            </a:extLst>
          </p:cNvPr>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2 March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a:extLst>
              <a:ext uri="{FF2B5EF4-FFF2-40B4-BE49-F238E27FC236}">
                <a16:creationId xmlns:a16="http://schemas.microsoft.com/office/drawing/2014/main" id="{D01F63D4-979D-C03E-DF48-53CD1A9EECD3}"/>
              </a:ext>
            </a:extLst>
          </p:cNvPr>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a:extLst>
              <a:ext uri="{FF2B5EF4-FFF2-40B4-BE49-F238E27FC236}">
                <a16:creationId xmlns:a16="http://schemas.microsoft.com/office/drawing/2014/main" id="{2AED2ECE-152A-AC00-B194-13EE27F94E95}"/>
              </a:ext>
            </a:extLst>
          </p:cNvPr>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10;&#10;Description automatically generated">
            <a:extLst>
              <a:ext uri="{FF2B5EF4-FFF2-40B4-BE49-F238E27FC236}">
                <a16:creationId xmlns:a16="http://schemas.microsoft.com/office/drawing/2014/main" id="{60614B46-F0E2-42E8-964B-6558906391E1}"/>
              </a:ext>
            </a:extLst>
          </p:cNvPr>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42" name="Google Shape;142;p2">
            <a:extLst>
              <a:ext uri="{FF2B5EF4-FFF2-40B4-BE49-F238E27FC236}">
                <a16:creationId xmlns:a16="http://schemas.microsoft.com/office/drawing/2014/main" id="{54BB9AED-2515-F332-33D2-80F2A3566975}"/>
              </a:ext>
            </a:extLst>
          </p:cNvPr>
          <p:cNvSpPr txBox="1"/>
          <p:nvPr/>
        </p:nvSpPr>
        <p:spPr>
          <a:xfrm>
            <a:off x="2456543" y="891458"/>
            <a:ext cx="5555343"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3200"/>
              <a:buFont typeface="Times New Roman"/>
              <a:buNone/>
            </a:pPr>
            <a:r>
              <a:rPr lang="en-US" sz="2800" b="1" i="0" u="none" strike="noStrike" cap="none" dirty="0">
                <a:solidFill>
                  <a:schemeClr val="dk1"/>
                </a:solidFill>
                <a:latin typeface="Times New Roman"/>
                <a:ea typeface="Times New Roman"/>
                <a:cs typeface="Times New Roman"/>
                <a:sym typeface="Times New Roman"/>
              </a:rPr>
              <a:t>Literature Survey </a:t>
            </a:r>
          </a:p>
        </p:txBody>
      </p:sp>
      <p:graphicFrame>
        <p:nvGraphicFramePr>
          <p:cNvPr id="2" name="Table 1">
            <a:extLst>
              <a:ext uri="{FF2B5EF4-FFF2-40B4-BE49-F238E27FC236}">
                <a16:creationId xmlns:a16="http://schemas.microsoft.com/office/drawing/2014/main" id="{3F959AEF-D7C2-4D62-050B-EC5A48789B68}"/>
              </a:ext>
            </a:extLst>
          </p:cNvPr>
          <p:cNvGraphicFramePr>
            <a:graphicFrameLocks noGrp="1"/>
          </p:cNvGraphicFramePr>
          <p:nvPr>
            <p:extLst>
              <p:ext uri="{D42A27DB-BD31-4B8C-83A1-F6EECF244321}">
                <p14:modId xmlns:p14="http://schemas.microsoft.com/office/powerpoint/2010/main" val="1107047061"/>
              </p:ext>
            </p:extLst>
          </p:nvPr>
        </p:nvGraphicFramePr>
        <p:xfrm>
          <a:off x="214312" y="1992001"/>
          <a:ext cx="8396897" cy="4131922"/>
        </p:xfrm>
        <a:graphic>
          <a:graphicData uri="http://schemas.openxmlformats.org/drawingml/2006/table">
            <a:tbl>
              <a:tblPr firstRow="1" bandRow="1">
                <a:tableStyleId>{ED083AE6-46FA-4A59-8FB0-9F97EB10719F}</a:tableStyleId>
              </a:tblPr>
              <a:tblGrid>
                <a:gridCol w="530242">
                  <a:extLst>
                    <a:ext uri="{9D8B030D-6E8A-4147-A177-3AD203B41FA5}">
                      <a16:colId xmlns:a16="http://schemas.microsoft.com/office/drawing/2014/main" val="20000"/>
                    </a:ext>
                  </a:extLst>
                </a:gridCol>
                <a:gridCol w="1623508">
                  <a:extLst>
                    <a:ext uri="{9D8B030D-6E8A-4147-A177-3AD203B41FA5}">
                      <a16:colId xmlns:a16="http://schemas.microsoft.com/office/drawing/2014/main" val="20001"/>
                    </a:ext>
                  </a:extLst>
                </a:gridCol>
                <a:gridCol w="3188676">
                  <a:extLst>
                    <a:ext uri="{9D8B030D-6E8A-4147-A177-3AD203B41FA5}">
                      <a16:colId xmlns:a16="http://schemas.microsoft.com/office/drawing/2014/main" val="20002"/>
                    </a:ext>
                  </a:extLst>
                </a:gridCol>
                <a:gridCol w="3054471">
                  <a:extLst>
                    <a:ext uri="{9D8B030D-6E8A-4147-A177-3AD203B41FA5}">
                      <a16:colId xmlns:a16="http://schemas.microsoft.com/office/drawing/2014/main" val="20003"/>
                    </a:ext>
                  </a:extLst>
                </a:gridCol>
              </a:tblGrid>
              <a:tr h="694373">
                <a:tc>
                  <a:txBody>
                    <a:bodyPr/>
                    <a:lstStyle/>
                    <a:p>
                      <a:pPr algn="ctr"/>
                      <a:r>
                        <a:rPr lang="en-IN" sz="1800" dirty="0" err="1">
                          <a:latin typeface="Times New Roman" panose="02020603050405020304" pitchFamily="18" charset="0"/>
                          <a:cs typeface="Times New Roman" panose="02020603050405020304" pitchFamily="18" charset="0"/>
                        </a:rPr>
                        <a:t>S.No</a:t>
                      </a:r>
                      <a:r>
                        <a:rPr lang="en-IN" sz="1800" dirty="0">
                          <a:latin typeface="Times New Roman" panose="02020603050405020304" pitchFamily="18" charset="0"/>
                          <a:cs typeface="Times New Roman" panose="02020603050405020304" pitchFamily="18" charset="0"/>
                        </a:rPr>
                        <a:t>.</a:t>
                      </a:r>
                    </a:p>
                  </a:txBody>
                  <a:tcPr marL="91447" marR="91447" marT="45716" marB="45716"/>
                </a:tc>
                <a:tc>
                  <a:txBody>
                    <a:bodyPr/>
                    <a:lstStyle/>
                    <a:p>
                      <a:pPr algn="ctr"/>
                      <a:r>
                        <a:rPr lang="en-IN" sz="1800" dirty="0">
                          <a:latin typeface="Times New Roman" panose="02020603050405020304" pitchFamily="18" charset="0"/>
                          <a:cs typeface="Times New Roman" panose="02020603050405020304" pitchFamily="18" charset="0"/>
                        </a:rPr>
                        <a:t>Author(s) &amp; Year</a:t>
                      </a:r>
                    </a:p>
                  </a:txBody>
                  <a:tcPr marL="91447" marR="91447" marT="45716" marB="45716"/>
                </a:tc>
                <a:tc>
                  <a:txBody>
                    <a:bodyPr/>
                    <a:lstStyle/>
                    <a:p>
                      <a:pPr algn="ctr"/>
                      <a:r>
                        <a:rPr lang="en-IN" sz="1800" dirty="0">
                          <a:latin typeface="Times New Roman" panose="02020603050405020304" pitchFamily="18" charset="0"/>
                          <a:cs typeface="Times New Roman" panose="02020603050405020304" pitchFamily="18" charset="0"/>
                        </a:rPr>
                        <a:t>Methodology</a:t>
                      </a:r>
                      <a:r>
                        <a:rPr lang="en-IN" sz="1800" baseline="0" dirty="0">
                          <a:latin typeface="Times New Roman" panose="02020603050405020304" pitchFamily="18" charset="0"/>
                          <a:cs typeface="Times New Roman" panose="02020603050405020304" pitchFamily="18" charset="0"/>
                        </a:rPr>
                        <a:t> used</a:t>
                      </a:r>
                      <a:endParaRPr lang="en-IN" sz="1800" dirty="0">
                        <a:latin typeface="Times New Roman" panose="02020603050405020304" pitchFamily="18" charset="0"/>
                        <a:cs typeface="Times New Roman" panose="02020603050405020304" pitchFamily="18" charset="0"/>
                      </a:endParaRPr>
                    </a:p>
                  </a:txBody>
                  <a:tcPr marL="91447" marR="91447" marT="45716" marB="45716"/>
                </a:tc>
                <a:tc>
                  <a:txBody>
                    <a:bodyPr/>
                    <a:lstStyle/>
                    <a:p>
                      <a:pPr algn="ctr"/>
                      <a:r>
                        <a:rPr lang="en-IN" sz="1800" dirty="0">
                          <a:latin typeface="Times New Roman" panose="02020603050405020304" pitchFamily="18" charset="0"/>
                          <a:cs typeface="Times New Roman" panose="02020603050405020304" pitchFamily="18" charset="0"/>
                        </a:rPr>
                        <a:t>Limitations</a:t>
                      </a:r>
                    </a:p>
                  </a:txBody>
                  <a:tcPr marL="91447" marR="91447" marT="45716" marB="45716"/>
                </a:tc>
                <a:extLst>
                  <a:ext uri="{0D108BD9-81ED-4DB2-BD59-A6C34878D82A}">
                    <a16:rowId xmlns:a16="http://schemas.microsoft.com/office/drawing/2014/main" val="10000"/>
                  </a:ext>
                </a:extLst>
              </a:tr>
              <a:tr h="694373">
                <a:tc>
                  <a:txBody>
                    <a:bodyPr/>
                    <a:lstStyle/>
                    <a:p>
                      <a:r>
                        <a:rPr lang="en-US" sz="1800" dirty="0">
                          <a:latin typeface="Times New Roman" panose="02020603050405020304" pitchFamily="18" charset="0"/>
                          <a:cs typeface="Times New Roman" panose="02020603050405020304" pitchFamily="18" charset="0"/>
                        </a:rPr>
                        <a:t>5.</a:t>
                      </a:r>
                      <a:endParaRPr lang="en-IN" sz="1800" dirty="0">
                        <a:latin typeface="Times New Roman" panose="02020603050405020304" pitchFamily="18" charset="0"/>
                        <a:cs typeface="Times New Roman" panose="02020603050405020304" pitchFamily="18" charset="0"/>
                      </a:endParaRPr>
                    </a:p>
                  </a:txBody>
                  <a:tcPr marL="91447" marR="91447" marT="45716" marB="45716"/>
                </a:tc>
                <a:tc>
                  <a:txBody>
                    <a:bodyPr/>
                    <a:lstStyle/>
                    <a:p>
                      <a:r>
                        <a:rPr lang="en-IN" sz="1800" dirty="0">
                          <a:latin typeface="Times New Roman" panose="02020603050405020304" pitchFamily="18" charset="0"/>
                          <a:cs typeface="Times New Roman" panose="02020603050405020304" pitchFamily="18" charset="0"/>
                        </a:rPr>
                        <a:t>Wang et al. (2022)</a:t>
                      </a:r>
                    </a:p>
                  </a:txBody>
                  <a:tcPr marL="91447" marR="91447" marT="45716" marB="45716"/>
                </a:tc>
                <a:tc>
                  <a:txBody>
                    <a:bodyPr/>
                    <a:lstStyle/>
                    <a:p>
                      <a:r>
                        <a:rPr lang="en-US" sz="1800" dirty="0">
                          <a:latin typeface="Times New Roman" panose="02020603050405020304" pitchFamily="18" charset="0"/>
                          <a:cs typeface="Times New Roman" panose="02020603050405020304" pitchFamily="18" charset="0"/>
                        </a:rPr>
                        <a:t>Jump-aware Transformer with pretrained model (</a:t>
                      </a:r>
                      <a:r>
                        <a:rPr lang="en-US" sz="1800" dirty="0" err="1">
                          <a:latin typeface="Times New Roman" panose="02020603050405020304" pitchFamily="18" charset="0"/>
                          <a:cs typeface="Times New Roman" panose="02020603050405020304" pitchFamily="18" charset="0"/>
                        </a:rPr>
                        <a:t>jTrans</a:t>
                      </a:r>
                      <a:r>
                        <a:rPr lang="en-US" sz="1800" dirty="0">
                          <a:latin typeface="Times New Roman" panose="02020603050405020304" pitchFamily="18" charset="0"/>
                          <a:cs typeface="Times New Roman" panose="02020603050405020304" pitchFamily="18" charset="0"/>
                        </a:rPr>
                        <a:t>)</a:t>
                      </a:r>
                      <a:endParaRPr lang="en-IN" sz="1800" dirty="0">
                        <a:latin typeface="Times New Roman" panose="02020603050405020304" pitchFamily="18" charset="0"/>
                        <a:cs typeface="Times New Roman" panose="02020603050405020304" pitchFamily="18" charset="0"/>
                      </a:endParaRPr>
                    </a:p>
                  </a:txBody>
                  <a:tcPr marL="91447" marR="91447" marT="45716" marB="45716"/>
                </a:tc>
                <a:tc>
                  <a:txBody>
                    <a:bodyPr/>
                    <a:lstStyle/>
                    <a:p>
                      <a:r>
                        <a:rPr lang="en-US" sz="1800" dirty="0">
                          <a:latin typeface="Times New Roman" panose="02020603050405020304" pitchFamily="18" charset="0"/>
                          <a:cs typeface="Times New Roman" panose="02020603050405020304" pitchFamily="18" charset="0"/>
                        </a:rPr>
                        <a:t>Token length limits; high pretraining cost</a:t>
                      </a:r>
                      <a:endParaRPr lang="en-IN" sz="1800" dirty="0">
                        <a:latin typeface="Times New Roman" panose="02020603050405020304" pitchFamily="18" charset="0"/>
                        <a:cs typeface="Times New Roman" panose="02020603050405020304" pitchFamily="18" charset="0"/>
                      </a:endParaRPr>
                    </a:p>
                  </a:txBody>
                  <a:tcPr marL="91447" marR="91447" marT="45716" marB="45716"/>
                </a:tc>
                <a:extLst>
                  <a:ext uri="{0D108BD9-81ED-4DB2-BD59-A6C34878D82A}">
                    <a16:rowId xmlns:a16="http://schemas.microsoft.com/office/drawing/2014/main" val="10001"/>
                  </a:ext>
                </a:extLst>
              </a:tr>
              <a:tr h="694373">
                <a:tc>
                  <a:txBody>
                    <a:bodyPr/>
                    <a:lstStyle/>
                    <a:p>
                      <a:r>
                        <a:rPr lang="en-US" sz="1800" dirty="0">
                          <a:latin typeface="Times New Roman" panose="02020603050405020304" pitchFamily="18" charset="0"/>
                          <a:cs typeface="Times New Roman" panose="02020603050405020304" pitchFamily="18" charset="0"/>
                        </a:rPr>
                        <a:t>6.</a:t>
                      </a:r>
                      <a:endParaRPr lang="en-IN" sz="1800" dirty="0">
                        <a:latin typeface="Times New Roman" panose="02020603050405020304" pitchFamily="18" charset="0"/>
                        <a:cs typeface="Times New Roman" panose="02020603050405020304" pitchFamily="18" charset="0"/>
                      </a:endParaRPr>
                    </a:p>
                  </a:txBody>
                  <a:tcPr marL="91447" marR="91447" marT="45716" marB="45716"/>
                </a:tc>
                <a:tc>
                  <a:txBody>
                    <a:bodyPr/>
                    <a:lstStyle/>
                    <a:p>
                      <a:r>
                        <a:rPr lang="en-IN" sz="1800" dirty="0">
                          <a:latin typeface="Times New Roman" panose="02020603050405020304" pitchFamily="18" charset="0"/>
                          <a:cs typeface="Times New Roman" panose="02020603050405020304" pitchFamily="18" charset="0"/>
                        </a:rPr>
                        <a:t>He et al. (2024)</a:t>
                      </a:r>
                    </a:p>
                  </a:txBody>
                  <a:tcPr marL="91447" marR="91447" marT="45716" marB="45716"/>
                </a:tc>
                <a:tc>
                  <a:txBody>
                    <a:bodyPr/>
                    <a:lstStyle/>
                    <a:p>
                      <a:r>
                        <a:rPr lang="en-US" sz="1800" dirty="0">
                          <a:latin typeface="Times New Roman" panose="02020603050405020304" pitchFamily="18" charset="0"/>
                          <a:cs typeface="Times New Roman" panose="02020603050405020304" pitchFamily="18" charset="0"/>
                        </a:rPr>
                        <a:t>Semantics-oriented GNN with </a:t>
                      </a:r>
                      <a:r>
                        <a:rPr lang="en-US" sz="1800" dirty="0" err="1">
                          <a:latin typeface="Times New Roman" panose="02020603050405020304" pitchFamily="18" charset="0"/>
                          <a:cs typeface="Times New Roman" panose="02020603050405020304" pitchFamily="18" charset="0"/>
                        </a:rPr>
                        <a:t>multihead</a:t>
                      </a:r>
                      <a:r>
                        <a:rPr lang="en-US" sz="1800" dirty="0">
                          <a:latin typeface="Times New Roman" panose="02020603050405020304" pitchFamily="18" charset="0"/>
                          <a:cs typeface="Times New Roman" panose="02020603050405020304" pitchFamily="18" charset="0"/>
                        </a:rPr>
                        <a:t> aggregation (</a:t>
                      </a:r>
                      <a:r>
                        <a:rPr lang="en-US" sz="1800" dirty="0" err="1">
                          <a:latin typeface="Times New Roman" panose="02020603050405020304" pitchFamily="18" charset="0"/>
                          <a:cs typeface="Times New Roman" panose="02020603050405020304" pitchFamily="18" charset="0"/>
                        </a:rPr>
                        <a:t>HermesSim</a:t>
                      </a:r>
                      <a:r>
                        <a:rPr lang="en-US" sz="1800" dirty="0">
                          <a:latin typeface="Times New Roman" panose="02020603050405020304" pitchFamily="18" charset="0"/>
                          <a:cs typeface="Times New Roman" panose="02020603050405020304" pitchFamily="18" charset="0"/>
                        </a:rPr>
                        <a:t>)</a:t>
                      </a:r>
                      <a:endParaRPr lang="en-IN" sz="1800" dirty="0">
                        <a:latin typeface="Times New Roman" panose="02020603050405020304" pitchFamily="18" charset="0"/>
                        <a:cs typeface="Times New Roman" panose="02020603050405020304" pitchFamily="18" charset="0"/>
                      </a:endParaRPr>
                    </a:p>
                  </a:txBody>
                  <a:tcPr marL="91447" marR="91447" marT="45716" marB="45716"/>
                </a:tc>
                <a:tc>
                  <a:txBody>
                    <a:bodyPr/>
                    <a:lstStyle/>
                    <a:p>
                      <a:r>
                        <a:rPr lang="en-US" sz="1800" dirty="0">
                          <a:latin typeface="Times New Roman" panose="02020603050405020304" pitchFamily="18" charset="0"/>
                          <a:cs typeface="Times New Roman" panose="02020603050405020304" pitchFamily="18" charset="0"/>
                        </a:rPr>
                        <a:t>Graph construction overhead; cross-arch variability</a:t>
                      </a:r>
                      <a:endParaRPr lang="en-IN" sz="1800" dirty="0">
                        <a:latin typeface="Times New Roman" panose="02020603050405020304" pitchFamily="18" charset="0"/>
                        <a:cs typeface="Times New Roman" panose="02020603050405020304" pitchFamily="18" charset="0"/>
                      </a:endParaRPr>
                    </a:p>
                  </a:txBody>
                  <a:tcPr marL="91447" marR="91447" marT="45716" marB="45716"/>
                </a:tc>
                <a:extLst>
                  <a:ext uri="{0D108BD9-81ED-4DB2-BD59-A6C34878D82A}">
                    <a16:rowId xmlns:a16="http://schemas.microsoft.com/office/drawing/2014/main" val="10002"/>
                  </a:ext>
                </a:extLst>
              </a:tr>
              <a:tr h="694373">
                <a:tc>
                  <a:txBody>
                    <a:bodyPr/>
                    <a:lstStyle/>
                    <a:p>
                      <a:r>
                        <a:rPr lang="en-US" sz="1800" dirty="0">
                          <a:latin typeface="Times New Roman" panose="02020603050405020304" pitchFamily="18" charset="0"/>
                          <a:cs typeface="Times New Roman" panose="02020603050405020304" pitchFamily="18" charset="0"/>
                        </a:rPr>
                        <a:t>7.</a:t>
                      </a:r>
                      <a:endParaRPr lang="en-IN" sz="1800" dirty="0">
                        <a:latin typeface="Times New Roman" panose="02020603050405020304" pitchFamily="18" charset="0"/>
                        <a:cs typeface="Times New Roman" panose="02020603050405020304" pitchFamily="18" charset="0"/>
                      </a:endParaRPr>
                    </a:p>
                  </a:txBody>
                  <a:tcPr marL="91447" marR="91447" marT="45716" marB="45716"/>
                </a:tc>
                <a:tc>
                  <a:txBody>
                    <a:bodyPr/>
                    <a:lstStyle/>
                    <a:p>
                      <a:r>
                        <a:rPr lang="en-IN" sz="1800" dirty="0">
                          <a:latin typeface="Times New Roman" panose="02020603050405020304" pitchFamily="18" charset="0"/>
                          <a:cs typeface="Times New Roman" panose="02020603050405020304" pitchFamily="18" charset="0"/>
                        </a:rPr>
                        <a:t>Luo et al. (2023)</a:t>
                      </a:r>
                    </a:p>
                  </a:txBody>
                  <a:tcPr marL="91447" marR="91447" marT="45716" marB="45716"/>
                </a:tc>
                <a:tc>
                  <a:txBody>
                    <a:bodyPr/>
                    <a:lstStyle/>
                    <a:p>
                      <a:r>
                        <a:rPr lang="en-US" sz="1800" dirty="0">
                          <a:latin typeface="Times New Roman" panose="02020603050405020304" pitchFamily="18" charset="0"/>
                          <a:cs typeface="Times New Roman" panose="02020603050405020304" pitchFamily="18" charset="0"/>
                        </a:rPr>
                        <a:t>Microcode IR , pretrained LM for cross-arch detection (</a:t>
                      </a:r>
                      <a:r>
                        <a:rPr lang="en-US" sz="1800" dirty="0" err="1">
                          <a:latin typeface="Times New Roman" panose="02020603050405020304" pitchFamily="18" charset="0"/>
                          <a:cs typeface="Times New Roman" panose="02020603050405020304" pitchFamily="18" charset="0"/>
                        </a:rPr>
                        <a:t>VulHawk</a:t>
                      </a:r>
                      <a:r>
                        <a:rPr lang="en-US" sz="1800" dirty="0">
                          <a:latin typeface="Times New Roman" panose="02020603050405020304" pitchFamily="18" charset="0"/>
                          <a:cs typeface="Times New Roman" panose="02020603050405020304" pitchFamily="18" charset="0"/>
                        </a:rPr>
                        <a:t>)</a:t>
                      </a:r>
                      <a:endParaRPr lang="en-IN" sz="1800" dirty="0">
                        <a:latin typeface="Times New Roman" panose="02020603050405020304" pitchFamily="18" charset="0"/>
                        <a:cs typeface="Times New Roman" panose="02020603050405020304" pitchFamily="18" charset="0"/>
                      </a:endParaRPr>
                    </a:p>
                  </a:txBody>
                  <a:tcPr marL="91447" marR="91447" marT="45716" marB="45716"/>
                </a:tc>
                <a:tc>
                  <a:txBody>
                    <a:bodyPr/>
                    <a:lstStyle/>
                    <a:p>
                      <a:r>
                        <a:rPr lang="en-IN" sz="1800" dirty="0">
                          <a:latin typeface="Times New Roman" panose="02020603050405020304" pitchFamily="18" charset="0"/>
                          <a:cs typeface="Times New Roman" panose="02020603050405020304" pitchFamily="18" charset="0"/>
                        </a:rPr>
                        <a:t>Microcode loses some semantics; no binary-source comparison</a:t>
                      </a:r>
                    </a:p>
                  </a:txBody>
                  <a:tcPr marL="91447" marR="91447" marT="45716" marB="45716"/>
                </a:tc>
                <a:extLst>
                  <a:ext uri="{0D108BD9-81ED-4DB2-BD59-A6C34878D82A}">
                    <a16:rowId xmlns:a16="http://schemas.microsoft.com/office/drawing/2014/main" val="10003"/>
                  </a:ext>
                </a:extLst>
              </a:tr>
              <a:tr h="694373">
                <a:tc>
                  <a:txBody>
                    <a:bodyPr/>
                    <a:lstStyle/>
                    <a:p>
                      <a:r>
                        <a:rPr lang="en-US" sz="1800" dirty="0">
                          <a:latin typeface="Times New Roman" panose="02020603050405020304" pitchFamily="18" charset="0"/>
                          <a:cs typeface="Times New Roman" panose="02020603050405020304" pitchFamily="18" charset="0"/>
                        </a:rPr>
                        <a:t>8.</a:t>
                      </a:r>
                      <a:endParaRPr lang="en-IN" sz="1800" dirty="0">
                        <a:latin typeface="Times New Roman" panose="02020603050405020304" pitchFamily="18" charset="0"/>
                        <a:cs typeface="Times New Roman" panose="02020603050405020304" pitchFamily="18" charset="0"/>
                      </a:endParaRPr>
                    </a:p>
                  </a:txBody>
                  <a:tcPr marL="91447" marR="91447" marT="45716" marB="45716"/>
                </a:tc>
                <a:tc>
                  <a:txBody>
                    <a:bodyPr/>
                    <a:lstStyle/>
                    <a:p>
                      <a:r>
                        <a:rPr lang="en-IN" sz="1800" dirty="0">
                          <a:latin typeface="Times New Roman" panose="02020603050405020304" pitchFamily="18" charset="0"/>
                          <a:cs typeface="Times New Roman" panose="02020603050405020304" pitchFamily="18" charset="0"/>
                        </a:rPr>
                        <a:t>Zhang et al. (2022)</a:t>
                      </a:r>
                    </a:p>
                  </a:txBody>
                  <a:tcPr marL="91447" marR="91447" marT="45716" marB="45716"/>
                </a:tc>
                <a:tc>
                  <a:txBody>
                    <a:bodyPr/>
                    <a:lstStyle/>
                    <a:p>
                      <a:r>
                        <a:rPr lang="en-IN" sz="1800" dirty="0">
                          <a:latin typeface="Times New Roman" panose="02020603050405020304" pitchFamily="18" charset="0"/>
                          <a:cs typeface="Times New Roman" panose="02020603050405020304" pitchFamily="18" charset="0"/>
                        </a:rPr>
                        <a:t>DPCNN on pseudocode and string literals (UPPC)</a:t>
                      </a:r>
                    </a:p>
                  </a:txBody>
                  <a:tcPr marL="91447" marR="91447" marT="45716" marB="45716"/>
                </a:tc>
                <a:tc>
                  <a:txBody>
                    <a:bodyPr/>
                    <a:lstStyle/>
                    <a:p>
                      <a:r>
                        <a:rPr lang="en-US" sz="1800" dirty="0">
                          <a:latin typeface="Times New Roman" panose="02020603050405020304" pitchFamily="18" charset="0"/>
                          <a:cs typeface="Times New Roman" panose="02020603050405020304" pitchFamily="18" charset="0"/>
                        </a:rPr>
                        <a:t>Imprecise decompiled pseudocode; no structural graph use</a:t>
                      </a:r>
                      <a:endParaRPr lang="en-IN" sz="1800" dirty="0">
                        <a:latin typeface="Times New Roman" panose="02020603050405020304" pitchFamily="18" charset="0"/>
                        <a:cs typeface="Times New Roman" panose="02020603050405020304" pitchFamily="18" charset="0"/>
                      </a:endParaRPr>
                    </a:p>
                  </a:txBody>
                  <a:tcPr marL="91447" marR="91447" marT="45716" marB="45716"/>
                </a:tc>
                <a:extLst>
                  <a:ext uri="{0D108BD9-81ED-4DB2-BD59-A6C34878D82A}">
                    <a16:rowId xmlns:a16="http://schemas.microsoft.com/office/drawing/2014/main" val="10004"/>
                  </a:ext>
                </a:extLst>
              </a:tr>
            </a:tbl>
          </a:graphicData>
        </a:graphic>
      </p:graphicFrame>
      <p:sp>
        <p:nvSpPr>
          <p:cNvPr id="3" name="Content Placeholder 4">
            <a:extLst>
              <a:ext uri="{FF2B5EF4-FFF2-40B4-BE49-F238E27FC236}">
                <a16:creationId xmlns:a16="http://schemas.microsoft.com/office/drawing/2014/main" id="{F59C0E7D-B611-140A-EF89-2179D55C4648}"/>
              </a:ext>
            </a:extLst>
          </p:cNvPr>
          <p:cNvSpPr txBox="1">
            <a:spLocks noChangeArrowheads="1"/>
          </p:cNvSpPr>
          <p:nvPr/>
        </p:nvSpPr>
        <p:spPr>
          <a:xfrm>
            <a:off x="195943" y="1476193"/>
            <a:ext cx="8733745" cy="4761094"/>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spcBef>
                <a:spcPct val="0"/>
              </a:spcBef>
              <a:buFontTx/>
              <a:buNone/>
              <a:tabLst>
                <a:tab pos="520700" algn="l"/>
              </a:tabLst>
            </a:pPr>
            <a:r>
              <a:rPr lang="en-IN" altLang="en-US" sz="2400" b="1" dirty="0">
                <a:latin typeface="Times New Roman" panose="02020603050405020304" pitchFamily="18" charset="0"/>
                <a:cs typeface="Times New Roman" panose="02020603050405020304" pitchFamily="18" charset="0"/>
              </a:rPr>
              <a:t>Consolidation of the literatures:</a:t>
            </a:r>
          </a:p>
          <a:p>
            <a:pPr algn="just">
              <a:spcBef>
                <a:spcPct val="0"/>
              </a:spcBef>
              <a:buFontTx/>
              <a:buNone/>
              <a:tabLst>
                <a:tab pos="520700" algn="l"/>
              </a:tabLst>
            </a:pPr>
            <a:endParaRPr lang="en-IN"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910704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33">
          <a:extLst>
            <a:ext uri="{FF2B5EF4-FFF2-40B4-BE49-F238E27FC236}">
              <a16:creationId xmlns:a16="http://schemas.microsoft.com/office/drawing/2014/main" id="{F371D1B3-D537-7424-9348-6DB9184403EF}"/>
            </a:ext>
          </a:extLst>
        </p:cNvPr>
        <p:cNvGrpSpPr/>
        <p:nvPr/>
      </p:nvGrpSpPr>
      <p:grpSpPr>
        <a:xfrm>
          <a:off x="0" y="0"/>
          <a:ext cx="0" cy="0"/>
          <a:chOff x="0" y="0"/>
          <a:chExt cx="0" cy="0"/>
        </a:xfrm>
      </p:grpSpPr>
      <p:pic>
        <p:nvPicPr>
          <p:cNvPr id="134" name="Google Shape;134;p2">
            <a:extLst>
              <a:ext uri="{FF2B5EF4-FFF2-40B4-BE49-F238E27FC236}">
                <a16:creationId xmlns:a16="http://schemas.microsoft.com/office/drawing/2014/main" id="{F6192EE1-E4F5-655D-A49A-45FED5BEAD5B}"/>
              </a:ext>
            </a:extLst>
          </p:cNvPr>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35" name="Google Shape;135;p2">
            <a:extLst>
              <a:ext uri="{FF2B5EF4-FFF2-40B4-BE49-F238E27FC236}">
                <a16:creationId xmlns:a16="http://schemas.microsoft.com/office/drawing/2014/main" id="{10EEE158-C363-15D3-3ECA-3D3BEF8BCF05}"/>
              </a:ext>
            </a:extLst>
          </p:cNvPr>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a:extLst>
              <a:ext uri="{FF2B5EF4-FFF2-40B4-BE49-F238E27FC236}">
                <a16:creationId xmlns:a16="http://schemas.microsoft.com/office/drawing/2014/main" id="{EC752EDE-566C-29D5-C33D-7BDBFFB653A9}"/>
              </a:ext>
            </a:extLst>
          </p:cNvPr>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a:extLst>
              <a:ext uri="{FF2B5EF4-FFF2-40B4-BE49-F238E27FC236}">
                <a16:creationId xmlns:a16="http://schemas.microsoft.com/office/drawing/2014/main" id="{F95888E3-19CD-717F-E821-0975DA945569}"/>
              </a:ext>
            </a:extLst>
          </p:cNvPr>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28</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a:extLst>
              <a:ext uri="{FF2B5EF4-FFF2-40B4-BE49-F238E27FC236}">
                <a16:creationId xmlns:a16="http://schemas.microsoft.com/office/drawing/2014/main" id="{249C650C-FF6C-9576-1B40-9D76E7F20694}"/>
              </a:ext>
            </a:extLst>
          </p:cNvPr>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2 March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a:extLst>
              <a:ext uri="{FF2B5EF4-FFF2-40B4-BE49-F238E27FC236}">
                <a16:creationId xmlns:a16="http://schemas.microsoft.com/office/drawing/2014/main" id="{4E05ABD7-D4A4-3C58-708F-716088C9F09E}"/>
              </a:ext>
            </a:extLst>
          </p:cNvPr>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a:extLst>
              <a:ext uri="{FF2B5EF4-FFF2-40B4-BE49-F238E27FC236}">
                <a16:creationId xmlns:a16="http://schemas.microsoft.com/office/drawing/2014/main" id="{09D626E7-6BA8-4774-A564-6DB49B5BBAE5}"/>
              </a:ext>
            </a:extLst>
          </p:cNvPr>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10;&#10;Description automatically generated">
            <a:extLst>
              <a:ext uri="{FF2B5EF4-FFF2-40B4-BE49-F238E27FC236}">
                <a16:creationId xmlns:a16="http://schemas.microsoft.com/office/drawing/2014/main" id="{FBFEF619-BE62-19F7-4DFA-D8254EC43D1D}"/>
              </a:ext>
            </a:extLst>
          </p:cNvPr>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42" name="Google Shape;142;p2">
            <a:extLst>
              <a:ext uri="{FF2B5EF4-FFF2-40B4-BE49-F238E27FC236}">
                <a16:creationId xmlns:a16="http://schemas.microsoft.com/office/drawing/2014/main" id="{CD14590A-0E45-7D94-9616-0987C67E80E7}"/>
              </a:ext>
            </a:extLst>
          </p:cNvPr>
          <p:cNvSpPr txBox="1"/>
          <p:nvPr/>
        </p:nvSpPr>
        <p:spPr>
          <a:xfrm>
            <a:off x="2456543" y="891458"/>
            <a:ext cx="5555343"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3200"/>
              <a:buFont typeface="Times New Roman"/>
              <a:buNone/>
            </a:pPr>
            <a:r>
              <a:rPr lang="en-US" sz="2800" b="1" i="0" u="none" strike="noStrike" cap="none" dirty="0">
                <a:solidFill>
                  <a:schemeClr val="dk1"/>
                </a:solidFill>
                <a:latin typeface="Times New Roman"/>
                <a:ea typeface="Times New Roman"/>
                <a:cs typeface="Times New Roman"/>
                <a:sym typeface="Times New Roman"/>
              </a:rPr>
              <a:t>Literature Survey </a:t>
            </a:r>
          </a:p>
        </p:txBody>
      </p:sp>
      <p:graphicFrame>
        <p:nvGraphicFramePr>
          <p:cNvPr id="2" name="Table 1">
            <a:extLst>
              <a:ext uri="{FF2B5EF4-FFF2-40B4-BE49-F238E27FC236}">
                <a16:creationId xmlns:a16="http://schemas.microsoft.com/office/drawing/2014/main" id="{C9D22A79-E166-782D-8CEF-CCD5AFE8B85D}"/>
              </a:ext>
            </a:extLst>
          </p:cNvPr>
          <p:cNvGraphicFramePr>
            <a:graphicFrameLocks noGrp="1"/>
          </p:cNvGraphicFramePr>
          <p:nvPr>
            <p:extLst>
              <p:ext uri="{D42A27DB-BD31-4B8C-83A1-F6EECF244321}">
                <p14:modId xmlns:p14="http://schemas.microsoft.com/office/powerpoint/2010/main" val="1883611985"/>
              </p:ext>
            </p:extLst>
          </p:nvPr>
        </p:nvGraphicFramePr>
        <p:xfrm>
          <a:off x="214312" y="1992001"/>
          <a:ext cx="8396897" cy="2523157"/>
        </p:xfrm>
        <a:graphic>
          <a:graphicData uri="http://schemas.openxmlformats.org/drawingml/2006/table">
            <a:tbl>
              <a:tblPr firstRow="1" bandRow="1">
                <a:tableStyleId>{ED083AE6-46FA-4A59-8FB0-9F97EB10719F}</a:tableStyleId>
              </a:tblPr>
              <a:tblGrid>
                <a:gridCol w="530242">
                  <a:extLst>
                    <a:ext uri="{9D8B030D-6E8A-4147-A177-3AD203B41FA5}">
                      <a16:colId xmlns:a16="http://schemas.microsoft.com/office/drawing/2014/main" val="20000"/>
                    </a:ext>
                  </a:extLst>
                </a:gridCol>
                <a:gridCol w="1623508">
                  <a:extLst>
                    <a:ext uri="{9D8B030D-6E8A-4147-A177-3AD203B41FA5}">
                      <a16:colId xmlns:a16="http://schemas.microsoft.com/office/drawing/2014/main" val="20001"/>
                    </a:ext>
                  </a:extLst>
                </a:gridCol>
                <a:gridCol w="3188676">
                  <a:extLst>
                    <a:ext uri="{9D8B030D-6E8A-4147-A177-3AD203B41FA5}">
                      <a16:colId xmlns:a16="http://schemas.microsoft.com/office/drawing/2014/main" val="20002"/>
                    </a:ext>
                  </a:extLst>
                </a:gridCol>
                <a:gridCol w="3054471">
                  <a:extLst>
                    <a:ext uri="{9D8B030D-6E8A-4147-A177-3AD203B41FA5}">
                      <a16:colId xmlns:a16="http://schemas.microsoft.com/office/drawing/2014/main" val="20003"/>
                    </a:ext>
                  </a:extLst>
                </a:gridCol>
              </a:tblGrid>
              <a:tr h="694373">
                <a:tc>
                  <a:txBody>
                    <a:bodyPr/>
                    <a:lstStyle/>
                    <a:p>
                      <a:pPr algn="ctr"/>
                      <a:r>
                        <a:rPr lang="en-IN" sz="1800" dirty="0" err="1">
                          <a:latin typeface="Times New Roman" panose="02020603050405020304" pitchFamily="18" charset="0"/>
                          <a:cs typeface="Times New Roman" panose="02020603050405020304" pitchFamily="18" charset="0"/>
                        </a:rPr>
                        <a:t>S.No</a:t>
                      </a:r>
                      <a:r>
                        <a:rPr lang="en-IN" sz="1800" dirty="0">
                          <a:latin typeface="Times New Roman" panose="02020603050405020304" pitchFamily="18" charset="0"/>
                          <a:cs typeface="Times New Roman" panose="02020603050405020304" pitchFamily="18" charset="0"/>
                        </a:rPr>
                        <a:t>.</a:t>
                      </a:r>
                    </a:p>
                  </a:txBody>
                  <a:tcPr marL="91447" marR="91447" marT="45716" marB="45716"/>
                </a:tc>
                <a:tc>
                  <a:txBody>
                    <a:bodyPr/>
                    <a:lstStyle/>
                    <a:p>
                      <a:pPr algn="ctr"/>
                      <a:r>
                        <a:rPr lang="en-IN" sz="1800" dirty="0">
                          <a:latin typeface="Times New Roman" panose="02020603050405020304" pitchFamily="18" charset="0"/>
                          <a:cs typeface="Times New Roman" panose="02020603050405020304" pitchFamily="18" charset="0"/>
                        </a:rPr>
                        <a:t>Author(s) &amp; Year</a:t>
                      </a:r>
                    </a:p>
                  </a:txBody>
                  <a:tcPr marL="91447" marR="91447" marT="45716" marB="45716"/>
                </a:tc>
                <a:tc>
                  <a:txBody>
                    <a:bodyPr/>
                    <a:lstStyle/>
                    <a:p>
                      <a:pPr algn="ctr"/>
                      <a:r>
                        <a:rPr lang="en-IN" sz="1800" dirty="0">
                          <a:latin typeface="Times New Roman" panose="02020603050405020304" pitchFamily="18" charset="0"/>
                          <a:cs typeface="Times New Roman" panose="02020603050405020304" pitchFamily="18" charset="0"/>
                        </a:rPr>
                        <a:t>Methodology</a:t>
                      </a:r>
                      <a:r>
                        <a:rPr lang="en-IN" sz="1800" baseline="0" dirty="0">
                          <a:latin typeface="Times New Roman" panose="02020603050405020304" pitchFamily="18" charset="0"/>
                          <a:cs typeface="Times New Roman" panose="02020603050405020304" pitchFamily="18" charset="0"/>
                        </a:rPr>
                        <a:t> used</a:t>
                      </a:r>
                      <a:endParaRPr lang="en-IN" sz="1800" dirty="0">
                        <a:latin typeface="Times New Roman" panose="02020603050405020304" pitchFamily="18" charset="0"/>
                        <a:cs typeface="Times New Roman" panose="02020603050405020304" pitchFamily="18" charset="0"/>
                      </a:endParaRPr>
                    </a:p>
                  </a:txBody>
                  <a:tcPr marL="91447" marR="91447" marT="45716" marB="45716"/>
                </a:tc>
                <a:tc>
                  <a:txBody>
                    <a:bodyPr/>
                    <a:lstStyle/>
                    <a:p>
                      <a:pPr algn="ctr"/>
                      <a:r>
                        <a:rPr lang="en-IN" sz="1800" dirty="0">
                          <a:latin typeface="Times New Roman" panose="02020603050405020304" pitchFamily="18" charset="0"/>
                          <a:cs typeface="Times New Roman" panose="02020603050405020304" pitchFamily="18" charset="0"/>
                        </a:rPr>
                        <a:t>Limitations</a:t>
                      </a:r>
                    </a:p>
                  </a:txBody>
                  <a:tcPr marL="91447" marR="91447" marT="45716" marB="45716"/>
                </a:tc>
                <a:extLst>
                  <a:ext uri="{0D108BD9-81ED-4DB2-BD59-A6C34878D82A}">
                    <a16:rowId xmlns:a16="http://schemas.microsoft.com/office/drawing/2014/main" val="10000"/>
                  </a:ext>
                </a:extLst>
              </a:tr>
              <a:tr h="694373">
                <a:tc>
                  <a:txBody>
                    <a:bodyPr/>
                    <a:lstStyle/>
                    <a:p>
                      <a:r>
                        <a:rPr lang="en-IN" sz="1800" dirty="0">
                          <a:latin typeface="Times New Roman" panose="02020603050405020304" pitchFamily="18" charset="0"/>
                          <a:cs typeface="Times New Roman" panose="02020603050405020304" pitchFamily="18" charset="0"/>
                        </a:rPr>
                        <a:t>9.</a:t>
                      </a:r>
                    </a:p>
                  </a:txBody>
                  <a:tcPr marL="91447" marR="91447" marT="45716" marB="45716"/>
                </a:tc>
                <a:tc>
                  <a:txBody>
                    <a:bodyPr/>
                    <a:lstStyle/>
                    <a:p>
                      <a:r>
                        <a:rPr lang="en-IN" sz="1800" dirty="0">
                          <a:latin typeface="Times New Roman" panose="02020603050405020304" pitchFamily="18" charset="0"/>
                          <a:cs typeface="Times New Roman" panose="02020603050405020304" pitchFamily="18" charset="0"/>
                        </a:rPr>
                        <a:t>Yang et al. (2023)</a:t>
                      </a:r>
                    </a:p>
                  </a:txBody>
                  <a:tcPr marL="91447" marR="91447" marT="45716" marB="45716"/>
                </a:tc>
                <a:tc>
                  <a:txBody>
                    <a:bodyPr/>
                    <a:lstStyle/>
                    <a:p>
                      <a:r>
                        <a:rPr lang="en-US" sz="1800" dirty="0">
                          <a:latin typeface="Times New Roman" panose="02020603050405020304" pitchFamily="18" charset="0"/>
                          <a:cs typeface="Times New Roman" panose="02020603050405020304" pitchFamily="18" charset="0"/>
                        </a:rPr>
                        <a:t>Domain knowledge , prefiltering ,call graph reranking (Asteria-Pro)</a:t>
                      </a:r>
                      <a:endParaRPr lang="en-IN" sz="1800" dirty="0">
                        <a:latin typeface="Times New Roman" panose="02020603050405020304" pitchFamily="18" charset="0"/>
                        <a:cs typeface="Times New Roman" panose="02020603050405020304" pitchFamily="18" charset="0"/>
                      </a:endParaRPr>
                    </a:p>
                  </a:txBody>
                  <a:tcPr marL="91447" marR="91447" marT="45716" marB="45716"/>
                </a:tc>
                <a:tc>
                  <a:txBody>
                    <a:bodyPr/>
                    <a:lstStyle/>
                    <a:p>
                      <a:r>
                        <a:rPr lang="en-US" sz="1800" dirty="0">
                          <a:latin typeface="Times New Roman" panose="02020603050405020304" pitchFamily="18" charset="0"/>
                          <a:cs typeface="Times New Roman" panose="02020603050405020304" pitchFamily="18" charset="0"/>
                        </a:rPr>
                        <a:t>Incomplete call graphs; no binary-source comparison</a:t>
                      </a:r>
                      <a:endParaRPr lang="en-IN" sz="1800" dirty="0">
                        <a:latin typeface="Times New Roman" panose="02020603050405020304" pitchFamily="18" charset="0"/>
                        <a:cs typeface="Times New Roman" panose="02020603050405020304" pitchFamily="18" charset="0"/>
                      </a:endParaRPr>
                    </a:p>
                  </a:txBody>
                  <a:tcPr marL="91447" marR="91447" marT="45716" marB="45716"/>
                </a:tc>
                <a:extLst>
                  <a:ext uri="{0D108BD9-81ED-4DB2-BD59-A6C34878D82A}">
                    <a16:rowId xmlns:a16="http://schemas.microsoft.com/office/drawing/2014/main" val="10001"/>
                  </a:ext>
                </a:extLst>
              </a:tr>
              <a:tr h="694373">
                <a:tc>
                  <a:txBody>
                    <a:bodyPr/>
                    <a:lstStyle/>
                    <a:p>
                      <a:r>
                        <a:rPr lang="en-IN" sz="1800" dirty="0">
                          <a:latin typeface="Times New Roman" panose="02020603050405020304" pitchFamily="18" charset="0"/>
                          <a:cs typeface="Times New Roman" panose="02020603050405020304" pitchFamily="18" charset="0"/>
                        </a:rPr>
                        <a:t>10.</a:t>
                      </a:r>
                    </a:p>
                  </a:txBody>
                  <a:tcPr marL="91447" marR="91447" marT="45716" marB="45716"/>
                </a:tc>
                <a:tc>
                  <a:txBody>
                    <a:bodyPr/>
                    <a:lstStyle/>
                    <a:p>
                      <a:r>
                        <a:rPr lang="en-IN" sz="1800" dirty="0">
                          <a:latin typeface="Times New Roman" panose="02020603050405020304" pitchFamily="18" charset="0"/>
                          <a:cs typeface="Times New Roman" panose="02020603050405020304" pitchFamily="18" charset="0"/>
                        </a:rPr>
                        <a:t>Gu et al. (2025)</a:t>
                      </a:r>
                    </a:p>
                  </a:txBody>
                  <a:tcPr marL="91447" marR="91447" marT="45716" marB="45716"/>
                </a:tc>
                <a:tc>
                  <a:txBody>
                    <a:bodyPr/>
                    <a:lstStyle/>
                    <a:p>
                      <a:r>
                        <a:rPr lang="en-US" sz="1800" dirty="0">
                          <a:latin typeface="Times New Roman" panose="02020603050405020304" pitchFamily="18" charset="0"/>
                          <a:cs typeface="Times New Roman" panose="02020603050405020304" pitchFamily="18" charset="0"/>
                        </a:rPr>
                        <a:t>Unified Transformer with token/positional/segment embeddings (</a:t>
                      </a:r>
                      <a:r>
                        <a:rPr lang="en-US" sz="1800" dirty="0" err="1">
                          <a:latin typeface="Times New Roman" panose="02020603050405020304" pitchFamily="18" charset="0"/>
                          <a:cs typeface="Times New Roman" panose="02020603050405020304" pitchFamily="18" charset="0"/>
                        </a:rPr>
                        <a:t>UniASM</a:t>
                      </a:r>
                      <a:r>
                        <a:rPr lang="en-US" sz="1800" dirty="0">
                          <a:latin typeface="Times New Roman" panose="02020603050405020304" pitchFamily="18" charset="0"/>
                          <a:cs typeface="Times New Roman" panose="02020603050405020304" pitchFamily="18" charset="0"/>
                        </a:rPr>
                        <a:t>)</a:t>
                      </a:r>
                      <a:endParaRPr lang="en-IN" sz="1800" dirty="0">
                        <a:latin typeface="Times New Roman" panose="02020603050405020304" pitchFamily="18" charset="0"/>
                        <a:cs typeface="Times New Roman" panose="02020603050405020304" pitchFamily="18" charset="0"/>
                      </a:endParaRPr>
                    </a:p>
                  </a:txBody>
                  <a:tcPr marL="91447" marR="91447" marT="45716" marB="45716"/>
                </a:tc>
                <a:tc>
                  <a:txBody>
                    <a:bodyPr/>
                    <a:lstStyle/>
                    <a:p>
                      <a:r>
                        <a:rPr lang="en-US" sz="1800" dirty="0">
                          <a:latin typeface="Times New Roman" panose="02020603050405020304" pitchFamily="18" charset="0"/>
                          <a:cs typeface="Times New Roman" panose="02020603050405020304" pitchFamily="18" charset="0"/>
                        </a:rPr>
                        <a:t>Resource-heavy pretraining; cross-arch generalization limits</a:t>
                      </a:r>
                      <a:endParaRPr lang="en-IN" sz="1800" dirty="0">
                        <a:latin typeface="Times New Roman" panose="02020603050405020304" pitchFamily="18" charset="0"/>
                        <a:cs typeface="Times New Roman" panose="02020603050405020304" pitchFamily="18" charset="0"/>
                      </a:endParaRPr>
                    </a:p>
                  </a:txBody>
                  <a:tcPr marL="91447" marR="91447" marT="45716" marB="45716"/>
                </a:tc>
                <a:extLst>
                  <a:ext uri="{0D108BD9-81ED-4DB2-BD59-A6C34878D82A}">
                    <a16:rowId xmlns:a16="http://schemas.microsoft.com/office/drawing/2014/main" val="10002"/>
                  </a:ext>
                </a:extLst>
              </a:tr>
            </a:tbl>
          </a:graphicData>
        </a:graphic>
      </p:graphicFrame>
      <p:sp>
        <p:nvSpPr>
          <p:cNvPr id="3" name="Content Placeholder 4">
            <a:extLst>
              <a:ext uri="{FF2B5EF4-FFF2-40B4-BE49-F238E27FC236}">
                <a16:creationId xmlns:a16="http://schemas.microsoft.com/office/drawing/2014/main" id="{ACA7842E-40D4-1015-9A88-5520EA79E594}"/>
              </a:ext>
            </a:extLst>
          </p:cNvPr>
          <p:cNvSpPr txBox="1">
            <a:spLocks noChangeArrowheads="1"/>
          </p:cNvSpPr>
          <p:nvPr/>
        </p:nvSpPr>
        <p:spPr>
          <a:xfrm>
            <a:off x="195943" y="1476193"/>
            <a:ext cx="8733745" cy="4761094"/>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spcBef>
                <a:spcPct val="0"/>
              </a:spcBef>
              <a:buFontTx/>
              <a:buNone/>
              <a:tabLst>
                <a:tab pos="520700" algn="l"/>
              </a:tabLst>
            </a:pPr>
            <a:r>
              <a:rPr lang="en-IN" altLang="en-US" sz="2400" b="1" dirty="0">
                <a:latin typeface="Times New Roman" panose="02020603050405020304" pitchFamily="18" charset="0"/>
                <a:cs typeface="Times New Roman" panose="02020603050405020304" pitchFamily="18" charset="0"/>
              </a:rPr>
              <a:t>Consolidation of the literatures:</a:t>
            </a:r>
          </a:p>
          <a:p>
            <a:pPr algn="just">
              <a:spcBef>
                <a:spcPct val="0"/>
              </a:spcBef>
              <a:buFontTx/>
              <a:buNone/>
              <a:tabLst>
                <a:tab pos="520700" algn="l"/>
              </a:tabLst>
            </a:pPr>
            <a:endParaRPr lang="en-IN"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954889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pic>
        <p:nvPicPr>
          <p:cNvPr id="134" name="Google Shape;134;p2"/>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35" name="Google Shape;135;p2"/>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29</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2 March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10;&#10;Description automatically generated"/>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42" name="Google Shape;142;p2"/>
          <p:cNvSpPr txBox="1"/>
          <p:nvPr/>
        </p:nvSpPr>
        <p:spPr>
          <a:xfrm>
            <a:off x="1672772" y="733501"/>
            <a:ext cx="5555343" cy="52318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3200"/>
              <a:buFont typeface="Times New Roman"/>
              <a:buNone/>
            </a:pPr>
            <a:r>
              <a:rPr lang="en-US" sz="2800" b="1" i="0" u="none" strike="noStrike" cap="none" dirty="0">
                <a:solidFill>
                  <a:schemeClr val="dk1"/>
                </a:solidFill>
                <a:latin typeface="Times New Roman"/>
                <a:ea typeface="Times New Roman"/>
                <a:cs typeface="Times New Roman"/>
                <a:sym typeface="Times New Roman"/>
              </a:rPr>
              <a:t>Dataset Details</a:t>
            </a:r>
          </a:p>
        </p:txBody>
      </p:sp>
      <p:sp>
        <p:nvSpPr>
          <p:cNvPr id="3" name="Content Placeholder 4">
            <a:extLst>
              <a:ext uri="{FF2B5EF4-FFF2-40B4-BE49-F238E27FC236}">
                <a16:creationId xmlns:a16="http://schemas.microsoft.com/office/drawing/2014/main" id="{2AC777EA-34C6-0CB4-8D35-D2A5DDA7144A}"/>
              </a:ext>
            </a:extLst>
          </p:cNvPr>
          <p:cNvSpPr txBox="1">
            <a:spLocks noChangeArrowheads="1"/>
          </p:cNvSpPr>
          <p:nvPr/>
        </p:nvSpPr>
        <p:spPr>
          <a:xfrm>
            <a:off x="195943" y="1476193"/>
            <a:ext cx="8733745" cy="4761094"/>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sz="2200" dirty="0">
                <a:latin typeface="Times New Roman" panose="02020603050405020304" pitchFamily="18" charset="0"/>
                <a:cs typeface="Times New Roman" panose="02020603050405020304" pitchFamily="18" charset="0"/>
              </a:rPr>
              <a:t>The paper uses benchmark datasets commonly used for BCSD evaluation</a:t>
            </a:r>
          </a:p>
          <a:p>
            <a:endParaRPr lang="en-IN" sz="2200" b="1" dirty="0">
              <a:latin typeface="Times New Roman" panose="02020603050405020304" pitchFamily="18" charset="0"/>
              <a:cs typeface="Times New Roman" panose="02020603050405020304" pitchFamily="18" charset="0"/>
            </a:endParaRPr>
          </a:p>
          <a:p>
            <a:r>
              <a:rPr lang="en-IN" sz="2200" b="1" dirty="0">
                <a:latin typeface="Times New Roman" panose="02020603050405020304" pitchFamily="18" charset="0"/>
                <a:cs typeface="Times New Roman" panose="02020603050405020304" pitchFamily="18" charset="0"/>
              </a:rPr>
              <a:t>Dataset Characteristics</a:t>
            </a:r>
          </a:p>
          <a:p>
            <a:r>
              <a:rPr lang="en-IN" sz="2200" dirty="0">
                <a:latin typeface="Times New Roman" panose="02020603050405020304" pitchFamily="18" charset="0"/>
                <a:cs typeface="Times New Roman" panose="02020603050405020304" pitchFamily="18" charset="0"/>
              </a:rPr>
              <a:t>Functions compiled with:</a:t>
            </a:r>
          </a:p>
          <a:p>
            <a:pPr marL="342900" lvl="1" indent="-34290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Different compilers (GCC, Clang)</a:t>
            </a:r>
          </a:p>
          <a:p>
            <a:pPr marL="342900" lvl="1" indent="-34290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Multiple optimization levels (O0, O1, O2, O3)</a:t>
            </a:r>
          </a:p>
          <a:p>
            <a:pPr marL="342900" indent="-34290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Cross-architecture binaries (e.g., x86, ARM)</a:t>
            </a:r>
          </a:p>
          <a:p>
            <a:pPr marL="342900" indent="-34290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Large number of function pairs (similar &amp; dissimilar)</a:t>
            </a:r>
          </a:p>
          <a:p>
            <a:endParaRPr lang="en-IN" sz="2200" b="1" dirty="0">
              <a:latin typeface="Times New Roman" panose="02020603050405020304" pitchFamily="18" charset="0"/>
              <a:cs typeface="Times New Roman" panose="02020603050405020304" pitchFamily="18" charset="0"/>
            </a:endParaRPr>
          </a:p>
          <a:p>
            <a:r>
              <a:rPr lang="en-IN" sz="2200" b="1" dirty="0">
                <a:latin typeface="Times New Roman" panose="02020603050405020304" pitchFamily="18" charset="0"/>
                <a:cs typeface="Times New Roman" panose="02020603050405020304" pitchFamily="18" charset="0"/>
              </a:rPr>
              <a:t>Dataset Features</a:t>
            </a:r>
          </a:p>
          <a:p>
            <a:pPr marL="342900" indent="-342900">
              <a:buFont typeface="Arial" panose="020B0604020202020204" pitchFamily="34" charset="0"/>
              <a:buChar char="•"/>
            </a:pPr>
            <a:r>
              <a:rPr lang="en-IN" sz="2200" dirty="0" err="1">
                <a:latin typeface="Times New Roman" panose="02020603050405020304" pitchFamily="18" charset="0"/>
                <a:cs typeface="Times New Roman" panose="02020603050405020304" pitchFamily="18" charset="0"/>
              </a:rPr>
              <a:t>Labeled</a:t>
            </a:r>
            <a:r>
              <a:rPr lang="en-IN" sz="2200" dirty="0">
                <a:latin typeface="Times New Roman" panose="02020603050405020304" pitchFamily="18" charset="0"/>
                <a:cs typeface="Times New Roman" panose="02020603050405020304" pitchFamily="18" charset="0"/>
              </a:rPr>
              <a:t> function pairs (similar / non-similar)</a:t>
            </a:r>
          </a:p>
          <a:p>
            <a:pPr marL="342900" indent="-34290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Multiple compilation configurations</a:t>
            </a:r>
          </a:p>
          <a:p>
            <a:pPr marL="342900" indent="-34290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Real-world open-source programs</a:t>
            </a:r>
          </a:p>
          <a:p>
            <a:pPr marL="342900" indent="-34290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Standard BCSD benchmarking datasets</a:t>
            </a:r>
          </a:p>
          <a:p>
            <a:pPr marL="342900" indent="-342900" algn="just">
              <a:spcBef>
                <a:spcPct val="0"/>
              </a:spcBef>
              <a:buFont typeface="Arial" panose="020B0604020202020204" pitchFamily="34" charset="0"/>
              <a:buChar char="•"/>
              <a:tabLst>
                <a:tab pos="520700" algn="l"/>
              </a:tabLst>
            </a:pPr>
            <a:endParaRPr lang="en-US" altLang="en-US" sz="2200" dirty="0">
              <a:latin typeface="Times New Roman" panose="02020603050405020304" pitchFamily="18" charset="0"/>
              <a:cs typeface="Times New Roman" panose="02020603050405020304" pitchFamily="18" charset="0"/>
            </a:endParaRPr>
          </a:p>
          <a:p>
            <a:pPr algn="just">
              <a:spcBef>
                <a:spcPct val="0"/>
              </a:spcBef>
              <a:buFontTx/>
              <a:buNone/>
              <a:tabLst>
                <a:tab pos="520700" algn="l"/>
              </a:tabLst>
            </a:pPr>
            <a:endParaRPr lang="en-IN"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594358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33">
          <a:extLst>
            <a:ext uri="{FF2B5EF4-FFF2-40B4-BE49-F238E27FC236}">
              <a16:creationId xmlns:a16="http://schemas.microsoft.com/office/drawing/2014/main" id="{927EBED7-F1C7-A7D4-5AD7-F209EFD28CC4}"/>
            </a:ext>
          </a:extLst>
        </p:cNvPr>
        <p:cNvGrpSpPr/>
        <p:nvPr/>
      </p:nvGrpSpPr>
      <p:grpSpPr>
        <a:xfrm>
          <a:off x="0" y="0"/>
          <a:ext cx="0" cy="0"/>
          <a:chOff x="0" y="0"/>
          <a:chExt cx="0" cy="0"/>
        </a:xfrm>
      </p:grpSpPr>
      <p:pic>
        <p:nvPicPr>
          <p:cNvPr id="134" name="Google Shape;134;p2">
            <a:extLst>
              <a:ext uri="{FF2B5EF4-FFF2-40B4-BE49-F238E27FC236}">
                <a16:creationId xmlns:a16="http://schemas.microsoft.com/office/drawing/2014/main" id="{58696A38-9787-5190-5F9A-87705581C94C}"/>
              </a:ext>
            </a:extLst>
          </p:cNvPr>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35" name="Google Shape;135;p2">
            <a:extLst>
              <a:ext uri="{FF2B5EF4-FFF2-40B4-BE49-F238E27FC236}">
                <a16:creationId xmlns:a16="http://schemas.microsoft.com/office/drawing/2014/main" id="{8C72AD4D-346E-5304-72A2-D9076D32E817}"/>
              </a:ext>
            </a:extLst>
          </p:cNvPr>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a:extLst>
              <a:ext uri="{FF2B5EF4-FFF2-40B4-BE49-F238E27FC236}">
                <a16:creationId xmlns:a16="http://schemas.microsoft.com/office/drawing/2014/main" id="{019A59C3-4D5E-76E0-236B-A231DE4D8C8B}"/>
              </a:ext>
            </a:extLst>
          </p:cNvPr>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a:extLst>
              <a:ext uri="{FF2B5EF4-FFF2-40B4-BE49-F238E27FC236}">
                <a16:creationId xmlns:a16="http://schemas.microsoft.com/office/drawing/2014/main" id="{C3B8FE1F-C9F1-42C1-FDA9-E7F270478D23}"/>
              </a:ext>
            </a:extLst>
          </p:cNvPr>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30</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a:extLst>
              <a:ext uri="{FF2B5EF4-FFF2-40B4-BE49-F238E27FC236}">
                <a16:creationId xmlns:a16="http://schemas.microsoft.com/office/drawing/2014/main" id="{2E3D9C05-D9D1-BC09-226E-B36CCCCB823D}"/>
              </a:ext>
            </a:extLst>
          </p:cNvPr>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2 March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a:extLst>
              <a:ext uri="{FF2B5EF4-FFF2-40B4-BE49-F238E27FC236}">
                <a16:creationId xmlns:a16="http://schemas.microsoft.com/office/drawing/2014/main" id="{284C6AB5-07AE-BBBE-EB7A-AC1EC1EE2C62}"/>
              </a:ext>
            </a:extLst>
          </p:cNvPr>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a:extLst>
              <a:ext uri="{FF2B5EF4-FFF2-40B4-BE49-F238E27FC236}">
                <a16:creationId xmlns:a16="http://schemas.microsoft.com/office/drawing/2014/main" id="{BFFF9F1E-378E-7949-2716-4F5C52FA560F}"/>
              </a:ext>
            </a:extLst>
          </p:cNvPr>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10;&#10;Description automatically generated">
            <a:extLst>
              <a:ext uri="{FF2B5EF4-FFF2-40B4-BE49-F238E27FC236}">
                <a16:creationId xmlns:a16="http://schemas.microsoft.com/office/drawing/2014/main" id="{FD83A3FB-E303-C464-5BF1-4B026C18D552}"/>
              </a:ext>
            </a:extLst>
          </p:cNvPr>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42" name="Google Shape;142;p2">
            <a:extLst>
              <a:ext uri="{FF2B5EF4-FFF2-40B4-BE49-F238E27FC236}">
                <a16:creationId xmlns:a16="http://schemas.microsoft.com/office/drawing/2014/main" id="{54B25168-0BE7-932C-C09E-F2E0DF5ADB71}"/>
              </a:ext>
            </a:extLst>
          </p:cNvPr>
          <p:cNvSpPr txBox="1"/>
          <p:nvPr/>
        </p:nvSpPr>
        <p:spPr>
          <a:xfrm>
            <a:off x="1672772" y="733501"/>
            <a:ext cx="5555343" cy="138495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3200"/>
              <a:buFont typeface="Times New Roman"/>
              <a:buNone/>
            </a:pPr>
            <a:r>
              <a:rPr lang="en-US" sz="2800" b="1" i="0" u="none" strike="noStrike" cap="none" dirty="0">
                <a:solidFill>
                  <a:schemeClr val="dk1"/>
                </a:solidFill>
                <a:latin typeface="Times New Roman"/>
                <a:ea typeface="Times New Roman"/>
                <a:cs typeface="Times New Roman"/>
                <a:sym typeface="Times New Roman"/>
              </a:rPr>
              <a:t>System Design</a:t>
            </a:r>
            <a:endParaRPr lang="en-US" sz="2800" b="1" dirty="0">
              <a:solidFill>
                <a:schemeClr val="dk1"/>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chemeClr val="dk1"/>
              </a:buClr>
              <a:buSzPts val="3200"/>
              <a:buFont typeface="Times New Roman"/>
              <a:buNone/>
            </a:pPr>
            <a:r>
              <a:rPr lang="en-US" sz="2800" b="1" dirty="0">
                <a:solidFill>
                  <a:schemeClr val="dk1"/>
                </a:solidFill>
                <a:latin typeface="Times New Roman"/>
                <a:ea typeface="Times New Roman"/>
                <a:cs typeface="Times New Roman"/>
                <a:sym typeface="Times New Roman"/>
              </a:rPr>
              <a:t>Binary code analysis</a:t>
            </a:r>
            <a:endParaRPr lang="en-US" sz="2800" b="1" i="0" u="none" strike="noStrike" cap="none" dirty="0">
              <a:solidFill>
                <a:schemeClr val="dk1"/>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chemeClr val="dk1"/>
              </a:buClr>
              <a:buSzPts val="3200"/>
              <a:buFont typeface="Times New Roman"/>
              <a:buNone/>
            </a:pPr>
            <a:endParaRPr lang="en-US" sz="2800" b="1" i="0" u="none" strike="noStrike" cap="none" dirty="0">
              <a:solidFill>
                <a:schemeClr val="dk1"/>
              </a:solidFill>
              <a:latin typeface="Times New Roman"/>
              <a:ea typeface="Times New Roman"/>
              <a:cs typeface="Times New Roman"/>
              <a:sym typeface="Times New Roman"/>
            </a:endParaRPr>
          </a:p>
        </p:txBody>
      </p:sp>
      <p:sp>
        <p:nvSpPr>
          <p:cNvPr id="3" name="Content Placeholder 4">
            <a:extLst>
              <a:ext uri="{FF2B5EF4-FFF2-40B4-BE49-F238E27FC236}">
                <a16:creationId xmlns:a16="http://schemas.microsoft.com/office/drawing/2014/main" id="{50A19400-DEE2-0A2C-D1D6-9EFC29C3D712}"/>
              </a:ext>
            </a:extLst>
          </p:cNvPr>
          <p:cNvSpPr txBox="1">
            <a:spLocks noChangeArrowheads="1"/>
          </p:cNvSpPr>
          <p:nvPr/>
        </p:nvSpPr>
        <p:spPr>
          <a:xfrm>
            <a:off x="195943" y="1476193"/>
            <a:ext cx="8733745" cy="4761094"/>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spcBef>
                <a:spcPct val="0"/>
              </a:spcBef>
              <a:buFontTx/>
              <a:buNone/>
              <a:tabLst>
                <a:tab pos="520700" algn="l"/>
              </a:tabLst>
            </a:pPr>
            <a:endParaRPr lang="en-US" altLang="en-US" sz="2400" dirty="0">
              <a:latin typeface="Times New Roman" panose="02020603050405020304" pitchFamily="18" charset="0"/>
              <a:cs typeface="Times New Roman" panose="02020603050405020304" pitchFamily="18" charset="0"/>
            </a:endParaRPr>
          </a:p>
          <a:p>
            <a:pPr algn="just">
              <a:spcBef>
                <a:spcPct val="0"/>
              </a:spcBef>
              <a:buFontTx/>
              <a:buNone/>
              <a:tabLst>
                <a:tab pos="520700" algn="l"/>
              </a:tabLst>
            </a:pPr>
            <a:endParaRPr lang="en-IN" altLang="en-US" sz="2400" dirty="0">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682297" y="1718679"/>
            <a:ext cx="6328003" cy="4276121"/>
          </a:xfrm>
          <a:prstGeom prst="rect">
            <a:avLst/>
          </a:prstGeom>
        </p:spPr>
      </p:pic>
    </p:spTree>
    <p:extLst>
      <p:ext uri="{BB962C8B-B14F-4D97-AF65-F5344CB8AC3E}">
        <p14:creationId xmlns:p14="http://schemas.microsoft.com/office/powerpoint/2010/main" val="39424927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pic>
        <p:nvPicPr>
          <p:cNvPr id="134" name="Google Shape;134;p2"/>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35" name="Google Shape;135;p2"/>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31</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2 March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10;&#10;Description automatically generated"/>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42" name="Google Shape;142;p2"/>
          <p:cNvSpPr txBox="1"/>
          <p:nvPr/>
        </p:nvSpPr>
        <p:spPr>
          <a:xfrm>
            <a:off x="1672772" y="733501"/>
            <a:ext cx="5555343" cy="52318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3200"/>
              <a:buFont typeface="Times New Roman"/>
              <a:buNone/>
            </a:pPr>
            <a:r>
              <a:rPr lang="en-US" sz="2800" b="1" i="0" u="none" strike="noStrike" cap="none" dirty="0">
                <a:solidFill>
                  <a:schemeClr val="dk1"/>
                </a:solidFill>
                <a:latin typeface="Times New Roman"/>
                <a:ea typeface="Times New Roman"/>
                <a:cs typeface="Times New Roman"/>
                <a:sym typeface="Times New Roman"/>
              </a:rPr>
              <a:t>Working Environment</a:t>
            </a:r>
          </a:p>
        </p:txBody>
      </p:sp>
      <p:sp>
        <p:nvSpPr>
          <p:cNvPr id="3" name="Content Placeholder 4">
            <a:extLst>
              <a:ext uri="{FF2B5EF4-FFF2-40B4-BE49-F238E27FC236}">
                <a16:creationId xmlns:a16="http://schemas.microsoft.com/office/drawing/2014/main" id="{2AC777EA-34C6-0CB4-8D35-D2A5DDA7144A}"/>
              </a:ext>
            </a:extLst>
          </p:cNvPr>
          <p:cNvSpPr txBox="1">
            <a:spLocks noChangeArrowheads="1"/>
          </p:cNvSpPr>
          <p:nvPr/>
        </p:nvSpPr>
        <p:spPr>
          <a:xfrm>
            <a:off x="205274" y="1476193"/>
            <a:ext cx="8733745" cy="4761094"/>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spcBef>
                <a:spcPct val="0"/>
              </a:spcBef>
              <a:buFontTx/>
              <a:buNone/>
              <a:tabLst>
                <a:tab pos="520700" algn="l"/>
              </a:tabLst>
            </a:pPr>
            <a:endParaRPr lang="en-IN" altLang="en-US" sz="24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E417FAAE-3B9D-5BCE-96E6-DECC464B5CCE}"/>
              </a:ext>
            </a:extLst>
          </p:cNvPr>
          <p:cNvSpPr txBox="1"/>
          <p:nvPr/>
        </p:nvSpPr>
        <p:spPr>
          <a:xfrm>
            <a:off x="756444" y="1366303"/>
            <a:ext cx="7631112" cy="4708981"/>
          </a:xfrm>
          <a:prstGeom prst="rect">
            <a:avLst/>
          </a:prstGeom>
          <a:noFill/>
        </p:spPr>
        <p:txBody>
          <a:bodyPr wrap="square" rtlCol="0">
            <a:spAutoFit/>
          </a:bodyPr>
          <a:lstStyle/>
          <a:p>
            <a:endParaRPr lang="en-IN" sz="2200" b="1" dirty="0">
              <a:latin typeface="Times New Roman" panose="02020603050405020304" pitchFamily="18" charset="0"/>
              <a:cs typeface="Times New Roman" panose="02020603050405020304" pitchFamily="18" charset="0"/>
            </a:endParaRPr>
          </a:p>
          <a:p>
            <a:r>
              <a:rPr lang="en-IN" sz="2200" b="1" dirty="0">
                <a:latin typeface="Times New Roman" panose="02020603050405020304" pitchFamily="18" charset="0"/>
                <a:cs typeface="Times New Roman" panose="02020603050405020304" pitchFamily="18" charset="0"/>
              </a:rPr>
              <a:t>Hardware Requirements</a:t>
            </a:r>
          </a:p>
          <a:p>
            <a:pPr marL="342900" indent="-34290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System with minimum 8GB RAM (16GB recommended)</a:t>
            </a:r>
          </a:p>
          <a:p>
            <a:pPr marL="342900" indent="-34290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GPU (optional but recommended for LLM processing)</a:t>
            </a:r>
          </a:p>
          <a:p>
            <a:endParaRPr lang="en-IN" sz="2200" b="1" dirty="0">
              <a:latin typeface="Times New Roman" panose="02020603050405020304" pitchFamily="18" charset="0"/>
              <a:cs typeface="Times New Roman" panose="02020603050405020304" pitchFamily="18" charset="0"/>
            </a:endParaRPr>
          </a:p>
          <a:p>
            <a:r>
              <a:rPr lang="en-IN" sz="2200" b="1" dirty="0">
                <a:latin typeface="Times New Roman" panose="02020603050405020304" pitchFamily="18" charset="0"/>
                <a:cs typeface="Times New Roman" panose="02020603050405020304" pitchFamily="18" charset="0"/>
              </a:rPr>
              <a:t>Software Requirements</a:t>
            </a:r>
          </a:p>
          <a:p>
            <a:pPr marL="342900" indent="-34290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Operating System: Windows / Linux </a:t>
            </a:r>
          </a:p>
          <a:p>
            <a:pPr marL="342900" indent="-34290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Programming Language: Python</a:t>
            </a:r>
          </a:p>
          <a:p>
            <a:pPr marL="342900" indent="-34290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Deep Learning Framework: </a:t>
            </a:r>
            <a:r>
              <a:rPr lang="en-IN" sz="2200" dirty="0" err="1">
                <a:latin typeface="Times New Roman" panose="02020603050405020304" pitchFamily="18" charset="0"/>
                <a:cs typeface="Times New Roman" panose="02020603050405020304" pitchFamily="18" charset="0"/>
              </a:rPr>
              <a:t>PyTorch</a:t>
            </a:r>
            <a:r>
              <a:rPr lang="en-IN" sz="2200" dirty="0">
                <a:latin typeface="Times New Roman" panose="02020603050405020304" pitchFamily="18" charset="0"/>
                <a:cs typeface="Times New Roman" panose="02020603050405020304" pitchFamily="18" charset="0"/>
              </a:rPr>
              <a:t> or TensorFlow</a:t>
            </a:r>
          </a:p>
          <a:p>
            <a:pPr marL="342900" indent="-34290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LLM Models </a:t>
            </a:r>
          </a:p>
          <a:p>
            <a:pPr marL="342900" indent="-34290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Binary Analysis Tools: Disassembler (e.g., IDA Pro / </a:t>
            </a:r>
            <a:r>
              <a:rPr lang="en-IN" sz="2200" dirty="0" err="1">
                <a:latin typeface="Times New Roman" panose="02020603050405020304" pitchFamily="18" charset="0"/>
                <a:cs typeface="Times New Roman" panose="02020603050405020304" pitchFamily="18" charset="0"/>
              </a:rPr>
              <a:t>Ghidra</a:t>
            </a:r>
            <a:r>
              <a:rPr lang="en-IN" sz="2200" dirty="0">
                <a:latin typeface="Times New Roman" panose="02020603050405020304" pitchFamily="18" charset="0"/>
                <a:cs typeface="Times New Roman" panose="02020603050405020304" pitchFamily="18" charset="0"/>
              </a:rPr>
              <a:t> )</a:t>
            </a:r>
          </a:p>
          <a:p>
            <a:pPr marL="342900" indent="-34290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Embedding similarity tools: Cosine similarity , </a:t>
            </a:r>
            <a:r>
              <a:rPr lang="en-IN" sz="2200" dirty="0" err="1">
                <a:latin typeface="Times New Roman" panose="02020603050405020304" pitchFamily="18" charset="0"/>
                <a:cs typeface="Times New Roman" panose="02020603050405020304" pitchFamily="18" charset="0"/>
              </a:rPr>
              <a:t>jaccard</a:t>
            </a:r>
            <a:r>
              <a:rPr lang="en-IN" sz="2200" dirty="0">
                <a:latin typeface="Times New Roman" panose="02020603050405020304" pitchFamily="18" charset="0"/>
                <a:cs typeface="Times New Roman" panose="02020603050405020304" pitchFamily="18" charset="0"/>
              </a:rPr>
              <a:t> similarity</a:t>
            </a:r>
          </a:p>
          <a:p>
            <a:endParaRPr lang="en-IN" dirty="0"/>
          </a:p>
        </p:txBody>
      </p:sp>
    </p:spTree>
    <p:extLst>
      <p:ext uri="{BB962C8B-B14F-4D97-AF65-F5344CB8AC3E}">
        <p14:creationId xmlns:p14="http://schemas.microsoft.com/office/powerpoint/2010/main" val="23717018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pic>
        <p:nvPicPr>
          <p:cNvPr id="134" name="Google Shape;134;p2"/>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35" name="Google Shape;135;p2"/>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32</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2 March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10;&#10;Description automatically generated"/>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42" name="Google Shape;142;p2"/>
          <p:cNvSpPr txBox="1"/>
          <p:nvPr/>
        </p:nvSpPr>
        <p:spPr>
          <a:xfrm>
            <a:off x="1221696" y="679300"/>
            <a:ext cx="7003142" cy="52318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3200"/>
              <a:buFont typeface="Times New Roman"/>
              <a:buNone/>
            </a:pPr>
            <a:r>
              <a:rPr lang="en-US" sz="2800" b="1" i="0" u="none" strike="noStrike" cap="none" dirty="0">
                <a:solidFill>
                  <a:schemeClr val="dk1"/>
                </a:solidFill>
                <a:latin typeface="Times New Roman"/>
                <a:ea typeface="Times New Roman"/>
                <a:cs typeface="Times New Roman"/>
                <a:sym typeface="Times New Roman"/>
              </a:rPr>
              <a:t>REFERENCES</a:t>
            </a:r>
          </a:p>
        </p:txBody>
      </p:sp>
      <p:sp>
        <p:nvSpPr>
          <p:cNvPr id="3" name="Content Placeholder 4">
            <a:extLst>
              <a:ext uri="{FF2B5EF4-FFF2-40B4-BE49-F238E27FC236}">
                <a16:creationId xmlns:a16="http://schemas.microsoft.com/office/drawing/2014/main" id="{2AC777EA-34C6-0CB4-8D35-D2A5DDA7144A}"/>
              </a:ext>
            </a:extLst>
          </p:cNvPr>
          <p:cNvSpPr txBox="1">
            <a:spLocks noChangeArrowheads="1"/>
          </p:cNvSpPr>
          <p:nvPr/>
        </p:nvSpPr>
        <p:spPr>
          <a:xfrm>
            <a:off x="205127" y="2216649"/>
            <a:ext cx="8733745" cy="4761094"/>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r>
              <a:rPr lang="en-US" altLang="en-US" sz="2400" dirty="0">
                <a:solidFill>
                  <a:srgbClr val="3333FF"/>
                </a:solidFill>
                <a:latin typeface="Times New Roman" panose="02020603050405020304" pitchFamily="18" charset="0"/>
                <a:cs typeface="Times New Roman" panose="02020603050405020304" pitchFamily="18" charset="0"/>
              </a:rPr>
              <a:t>https://ieeexplore.ieee.org/document/11032086</a:t>
            </a:r>
          </a:p>
          <a:p>
            <a:pPr lvl="1" algn="just"/>
            <a:endParaRPr lang="en-IN" sz="2400" dirty="0">
              <a:latin typeface="Times New Roman" panose="02020603050405020304" pitchFamily="18" charset="0"/>
              <a:cs typeface="Times New Roman" panose="02020603050405020304" pitchFamily="18" charset="0"/>
            </a:endParaRPr>
          </a:p>
          <a:p>
            <a:pPr lvl="1" algn="just"/>
            <a:r>
              <a:rPr lang="en-IN" sz="2400" dirty="0" err="1">
                <a:latin typeface="Times New Roman" panose="02020603050405020304" pitchFamily="18" charset="0"/>
                <a:cs typeface="Times New Roman" panose="02020603050405020304" pitchFamily="18" charset="0"/>
              </a:rPr>
              <a:t>Bangrui</a:t>
            </a:r>
            <a:r>
              <a:rPr lang="en-IN" sz="2400" dirty="0">
                <a:latin typeface="Times New Roman" panose="02020603050405020304" pitchFamily="18" charset="0"/>
                <a:cs typeface="Times New Roman" panose="02020603050405020304" pitchFamily="18" charset="0"/>
              </a:rPr>
              <a:t> Wan , Shiyu Wang, Zheng Wei, </a:t>
            </a:r>
            <a:r>
              <a:rPr lang="en-IN" sz="2400" dirty="0" err="1">
                <a:latin typeface="Times New Roman" panose="02020603050405020304" pitchFamily="18" charset="0"/>
                <a:cs typeface="Times New Roman" panose="02020603050405020304" pitchFamily="18" charset="0"/>
              </a:rPr>
              <a:t>Jiangping</a:t>
            </a:r>
            <a:r>
              <a:rPr lang="en-IN" sz="2400" dirty="0">
                <a:latin typeface="Times New Roman" panose="02020603050405020304" pitchFamily="18" charset="0"/>
                <a:cs typeface="Times New Roman" panose="02020603050405020304" pitchFamily="18" charset="0"/>
              </a:rPr>
              <a:t> Huang, and </a:t>
            </a:r>
            <a:r>
              <a:rPr lang="en-IN" sz="2400" dirty="0" err="1">
                <a:latin typeface="Times New Roman" panose="02020603050405020304" pitchFamily="18" charset="0"/>
                <a:cs typeface="Times New Roman" panose="02020603050405020304" pitchFamily="18" charset="0"/>
              </a:rPr>
              <a:t>Chunqiang</a:t>
            </a:r>
            <a:r>
              <a:rPr lang="en-IN" sz="2400" dirty="0">
                <a:latin typeface="Times New Roman" panose="02020603050405020304" pitchFamily="18" charset="0"/>
                <a:cs typeface="Times New Roman" panose="02020603050405020304" pitchFamily="18" charset="0"/>
              </a:rPr>
              <a:t> Hu</a:t>
            </a:r>
            <a:r>
              <a:rPr lang="en-IN" sz="2400" dirty="0"/>
              <a:t> </a:t>
            </a:r>
            <a:r>
              <a:rPr lang="en-US" altLang="en-US" sz="240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Binary Code Similarity Detection via LLM-Based Source Code Conversion</a:t>
            </a:r>
            <a:r>
              <a:rPr lang="en-US" altLang="en-US" sz="240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IEEE INTERNET OF THINGS JOURNAL, VOL. 12, NO. 24, 15 DECEMBER 2025 </a:t>
            </a:r>
            <a:endParaRPr lang="en-IN" altLang="en-US" sz="2400" dirty="0">
              <a:latin typeface="Times New Roman" panose="02020603050405020304" pitchFamily="18" charset="0"/>
              <a:cs typeface="Times New Roman" panose="02020603050405020304" pitchFamily="18" charset="0"/>
            </a:endParaRPr>
          </a:p>
          <a:p>
            <a:pPr>
              <a:spcBef>
                <a:spcPct val="0"/>
              </a:spcBef>
              <a:tabLst>
                <a:tab pos="520700" algn="l"/>
              </a:tabLst>
            </a:pPr>
            <a:br>
              <a:rPr lang="en-US" altLang="en-US" sz="2400" dirty="0">
                <a:latin typeface="Times New Roman" panose="02020603050405020304" pitchFamily="18" charset="0"/>
                <a:cs typeface="Times New Roman" panose="02020603050405020304" pitchFamily="18" charset="0"/>
              </a:rPr>
            </a:br>
            <a:endParaRPr lang="en-US" altLang="en-US" sz="2400" dirty="0">
              <a:latin typeface="Times New Roman" panose="02020603050405020304" pitchFamily="18" charset="0"/>
              <a:cs typeface="Times New Roman" panose="02020603050405020304" pitchFamily="18" charset="0"/>
            </a:endParaRPr>
          </a:p>
          <a:p>
            <a:pPr algn="just">
              <a:spcBef>
                <a:spcPct val="0"/>
              </a:spcBef>
              <a:buFontTx/>
              <a:buNone/>
              <a:tabLst>
                <a:tab pos="520700" algn="l"/>
              </a:tabLst>
            </a:pPr>
            <a:endParaRPr lang="en-IN"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692071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pic>
        <p:nvPicPr>
          <p:cNvPr id="134" name="Google Shape;134;p2"/>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35" name="Google Shape;135;p2"/>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33</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2 March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10;&#10;Description automatically generated"/>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42" name="Google Shape;142;p2"/>
          <p:cNvSpPr txBox="1"/>
          <p:nvPr/>
        </p:nvSpPr>
        <p:spPr>
          <a:xfrm>
            <a:off x="1070429" y="2844265"/>
            <a:ext cx="7003142" cy="58473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3200"/>
              <a:buFont typeface="Times New Roman"/>
              <a:buNone/>
            </a:pPr>
            <a:r>
              <a:rPr lang="en-US" sz="3200" b="1" i="0" u="none" strike="noStrike" cap="none" dirty="0">
                <a:solidFill>
                  <a:schemeClr val="dk1"/>
                </a:solidFill>
                <a:latin typeface="Times New Roman"/>
                <a:ea typeface="Times New Roman"/>
                <a:cs typeface="Times New Roman"/>
                <a:sym typeface="Times New Roman"/>
              </a:rPr>
              <a:t>THANK YOU</a:t>
            </a:r>
          </a:p>
        </p:txBody>
      </p:sp>
    </p:spTree>
    <p:extLst>
      <p:ext uri="{BB962C8B-B14F-4D97-AF65-F5344CB8AC3E}">
        <p14:creationId xmlns:p14="http://schemas.microsoft.com/office/powerpoint/2010/main" val="1566823036"/>
      </p:ext>
    </p:extLst>
  </p:cSld>
  <p:clrMapOvr>
    <a:masterClrMapping/>
  </p:clrMapOvr>
</p:sld>
</file>

<file path=ppt/theme/theme1.xml><?xml version="1.0" encoding="utf-8"?>
<a:theme xmlns:a="http://schemas.openxmlformats.org/drawingml/2006/main" name="Presentation1">
  <a:themeElements>
    <a:clrScheme name="Presentation1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2821</TotalTime>
  <Words>2874</Words>
  <Application>Microsoft Office PowerPoint</Application>
  <PresentationFormat>On-screen Show (4:3)</PresentationFormat>
  <Paragraphs>427</Paragraphs>
  <Slides>33</Slides>
  <Notes>33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33</vt:i4>
      </vt:variant>
    </vt:vector>
  </HeadingPairs>
  <TitlesOfParts>
    <vt:vector size="39" baseType="lpstr">
      <vt:lpstr>Arial</vt:lpstr>
      <vt:lpstr>Arial Rounded</vt:lpstr>
      <vt:lpstr>Calibri</vt:lpstr>
      <vt:lpstr>Comic Sans MS</vt:lpstr>
      <vt:lpstr>Times New Roman</vt:lpstr>
      <vt:lpstr>Presentation1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Harihara sudhan Ravi</dc:creator>
  <cp:lastModifiedBy>Akash kalimuthu</cp:lastModifiedBy>
  <cp:revision>103</cp:revision>
  <dcterms:created xsi:type="dcterms:W3CDTF">2022-07-10T04:10:14Z</dcterms:created>
  <dcterms:modified xsi:type="dcterms:W3CDTF">2026-03-02T12:35:08Z</dcterms:modified>
</cp:coreProperties>
</file>